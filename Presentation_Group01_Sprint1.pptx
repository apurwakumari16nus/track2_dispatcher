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1_0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26B6BAE-CC56-BA74-CC55-DBC75B367B56}" name="#SARANGI ANUBHAV#" initials="#A" userId="S::ANUBHAV004@e.ntu.edu.sg::284510e0-c55e-4eae-8890-bd6f592625a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8227"/>
    <p:restoredTop sz="97010"/>
  </p:normalViewPr>
  <p:slideViewPr>
    <p:cSldViewPr snapToGrid="0" snapToObjects="1">
      <p:cViewPr varScale="1">
        <p:scale>
          <a:sx n="159" d="100"/>
          <a:sy n="159" d="100"/>
        </p:scale>
        <p:origin x="1576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39B4419-36EF-2342-965A-51D52F4A5381}" authorId="{F26B6BAE-CC56-BA74-CC55-DBC75B367B56}" created="2026-10-15T13:56:22.84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20" creationId="{00000000-0000-0000-0000-000000000000}"/>
    </ac:deMkLst>
    <p188:txBody>
      <a:bodyPr/>
      <a:lstStyle/>
      <a:p>
        <a:r>
          <a:rPr lang="en-US"/>
          <a:t>Find better phrase</a:t>
        </a:r>
      </a:p>
    </p188:txBody>
  </p188:cm>
  <p188:cm id="{250D3303-6CB1-CA4B-BDB3-26D9B789009E}" authorId="{F26B6BAE-CC56-BA74-CC55-DBC75B367B56}" created="2026-10-15T14:00:47.36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34" creationId="{00000000-0000-0000-0000-000000000000}"/>
    </ac:deMkLst>
    <p188:txBody>
      <a:bodyPr/>
      <a:lstStyle/>
      <a:p>
        <a:r>
          <a:rPr lang="en-US"/>
          <a:t>Update this</a:t>
        </a:r>
      </a:p>
    </p188:txBody>
  </p188:cm>
  <p188:cm id="{BBFDF3BC-0CA6-C04F-BA16-24A2F58F3FEE}" authorId="{F26B6BAE-CC56-BA74-CC55-DBC75B367B56}" created="2026-10-15T14:01:04.80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35" creationId="{00000000-0000-0000-0000-000000000000}"/>
    </ac:deMkLst>
    <p188:txBody>
      <a:bodyPr/>
      <a:lstStyle/>
      <a:p>
        <a:r>
          <a:rPr lang="en-US"/>
          <a:t>Update this as well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1503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836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566400" cy="36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12479"/>
            <a:ext cx="10566400" cy="4232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566400" cy="36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12479"/>
            <a:ext cx="10566400" cy="4232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566400" cy="36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12479"/>
            <a:ext cx="10566400" cy="4232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566400" cy="36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12479"/>
            <a:ext cx="10566400" cy="4232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566400" cy="36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12479"/>
            <a:ext cx="10566400" cy="4232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566400" cy="36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12479"/>
            <a:ext cx="10566400" cy="4232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566400" cy="36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12479"/>
            <a:ext cx="10566400" cy="4232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DCE4E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566400" cy="36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12479"/>
            <a:ext cx="10566400" cy="4232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566400" cy="36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12479"/>
            <a:ext cx="10566400" cy="4232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566400" cy="36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12479"/>
            <a:ext cx="10566400" cy="4232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10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566400" cy="36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12479"/>
            <a:ext cx="10566400" cy="4232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1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566400" cy="36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12479"/>
            <a:ext cx="10566400" cy="4232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1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566400" cy="36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12479"/>
            <a:ext cx="10566400" cy="4232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6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566400" cy="36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12479"/>
            <a:ext cx="10566400" cy="4232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microsoft.com/office/2018/10/relationships/comments" Target="../comments/modernComment_101_0.xml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github.com/apurwakumari16nus/Track2_Dispatcher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962968" cy="264120"/>
          </a:xfrm>
          <a:custGeom>
            <a:avLst/>
            <a:gdLst/>
            <a:ahLst/>
            <a:cxnLst/>
            <a:rect l="l" t="t" r="r" b="b"/>
            <a:pathLst>
              <a:path w="962968" h="264120">
                <a:moveTo>
                  <a:pt x="132060" y="0"/>
                </a:moveTo>
                <a:lnTo>
                  <a:pt x="830907" y="0"/>
                </a:lnTo>
                <a:arcTo wR="132060" hR="132060" stAng="16200000" swAng="5400000"/>
                <a:lnTo>
                  <a:pt x="962968" y="132060"/>
                </a:lnTo>
                <a:arcTo wR="132060" hR="132060" stAng="0" swAng="5400000"/>
                <a:lnTo>
                  <a:pt x="132060" y="264120"/>
                </a:lnTo>
                <a:arcTo wR="132060" hR="132060" stAng="5400000" swAng="5400000"/>
                <a:lnTo>
                  <a:pt x="0" y="132060"/>
                </a:lnTo>
                <a:arcTo wR="132060" hR="132060" stAng="10800000" swAng="5400000"/>
                <a:close/>
              </a:path>
            </a:pathLst>
          </a:custGeom>
          <a:solidFill>
            <a:srgbClr val="4ED9E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A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877368" y="829270"/>
            <a:ext cx="268045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820"/>
              </a:lnSpc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DSS5105 Capstone · Group 1 · Track 2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692325"/>
            <a:ext cx="4055110" cy="1545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90"/>
              </a:lnSpc>
              <a:buNone/>
            </a:pPr>
            <a:r>
              <a:rPr lang="en-US" sz="3800" b="1" i="0" kern="0" spc="-1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Quick-Response Subcontracting Desk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12800" y="3390255"/>
            <a:ext cx="4055110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b="1" dirty="0">
                <a:gradFill rotWithShape="1">
                  <a:gsLst>
                    <a:gs pos="0">
                      <a:srgbClr val="6488FF"/>
                    </a:gs>
                    <a:gs pos="50000">
                      <a:srgbClr val="4ED9E6"/>
                    </a:gs>
                    <a:gs pos="100000">
                      <a:srgbClr val="23C9A7"/>
                    </a:gs>
                  </a:gsLst>
                  <a:lin ang="0" scaled="0"/>
                </a:gradFill>
                <a:latin typeface="Inter" pitchFamily="34" charset="0"/>
                <a:ea typeface="Inter" pitchFamily="34" charset="-122"/>
                <a:cs typeface="Inter" pitchFamily="34" charset="-120"/>
              </a:rPr>
              <a:t>From chat message to confirmed decision, in minutes.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554240"/>
            <a:ext cx="40551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4823469"/>
            <a:ext cx="4845496" cy="1221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5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Aditya Vijindra Pandhari</a:t>
            </a:r>
            <a:r>
              <a:rPr lang="en-US" sz="15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</a:rPr>
              <a:t> (</a:t>
            </a:r>
            <a:r>
              <a:rPr lang="en-SG" sz="15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</a:rPr>
              <a:t>A0328872R) – Present (in person)</a:t>
            </a:r>
            <a:endParaRPr lang="en-US" sz="1500" dirty="0">
              <a:solidFill>
                <a:srgbClr val="F4F7FB"/>
              </a:solidFill>
              <a:latin typeface="Inter" pitchFamily="34" charset="0"/>
              <a:ea typeface="Inter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Apurwa </a:t>
            </a:r>
            <a:r>
              <a:rPr lang="en-US" sz="15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</a:rPr>
              <a:t>Kumari (</a:t>
            </a:r>
            <a:r>
              <a:rPr lang="en-SG" sz="15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</a:rPr>
              <a:t>A0333260R) – Present (in person)</a:t>
            </a:r>
            <a:endParaRPr lang="en-US" sz="1500" dirty="0">
              <a:solidFill>
                <a:srgbClr val="F4F7FB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Vanshika </a:t>
            </a:r>
            <a:r>
              <a:rPr lang="en-US" sz="15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</a:rPr>
              <a:t>Dhamija (</a:t>
            </a:r>
            <a:r>
              <a:rPr lang="en-SG" sz="15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</a:rPr>
              <a:t>A0333989H) – Present (in person)</a:t>
            </a:r>
            <a:endParaRPr lang="en-US" sz="1500" dirty="0">
              <a:solidFill>
                <a:srgbClr val="F4F7FB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Yin Ning </a:t>
            </a:r>
            <a:r>
              <a:rPr lang="en-US" sz="15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</a:rPr>
              <a:t>(A0274857L</a:t>
            </a:r>
            <a:r>
              <a:rPr lang="en-SG" sz="15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</a:rPr>
              <a:t>) – Present (in person)</a:t>
            </a:r>
            <a:endParaRPr lang="en-US" sz="1500" dirty="0">
              <a:solidFill>
                <a:srgbClr val="F4F7FB"/>
              </a:solidFill>
              <a:latin typeface="Inter" pitchFamily="34" charset="0"/>
              <a:ea typeface="Inter" pitchFamily="34" charset="-122"/>
            </a:endParaRPr>
          </a:p>
          <a:p>
            <a:pPr marL="0" indent="0" algn="l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64175" y="955675"/>
            <a:ext cx="3930650" cy="1784300"/>
          </a:xfrm>
          <a:prstGeom prst="roundRect">
            <a:avLst>
              <a:gd name="adj" fmla="val 6940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7F9CFF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0" descr="Cha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70550" y="1154410"/>
            <a:ext cx="177800" cy="177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24550" y="1136650"/>
            <a:ext cx="24898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THE GROUP CHAT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70550" y="1438870"/>
            <a:ext cx="362343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F9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Boss · R09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670550" y="1758900"/>
            <a:ext cx="362343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ORD-045: 150 vests for Cotton Club, due Apr 09. Just the fastest turnaround.</a:t>
            </a:r>
            <a:endParaRPr lang="en-US" sz="1500" dirty="0"/>
          </a:p>
        </p:txBody>
      </p:sp>
      <p:pic>
        <p:nvPicPr>
          <p:cNvPr id="15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19800" y="2755900"/>
            <a:ext cx="596900" cy="11938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99200" y="2984500"/>
            <a:ext cx="990600" cy="264120"/>
          </a:xfrm>
          <a:custGeom>
            <a:avLst/>
            <a:gdLst/>
            <a:ahLst/>
            <a:cxnLst/>
            <a:rect l="l" t="t" r="r" b="b"/>
            <a:pathLst>
              <a:path w="990600" h="264120">
                <a:moveTo>
                  <a:pt x="132060" y="0"/>
                </a:moveTo>
                <a:lnTo>
                  <a:pt x="858540" y="0"/>
                </a:lnTo>
                <a:arcTo wR="132060" hR="132060" stAng="16200000" swAng="5400000"/>
                <a:lnTo>
                  <a:pt x="990600" y="132060"/>
                </a:lnTo>
                <a:arcTo wR="132060" hR="132060" stAng="0" swAng="5400000"/>
                <a:lnTo>
                  <a:pt x="132060" y="264120"/>
                </a:lnTo>
                <a:arcTo wR="132060" hR="132060" stAng="5400000" swAng="5400000"/>
                <a:lnTo>
                  <a:pt x="0" y="132060"/>
                </a:lnTo>
                <a:arcTo wR="132060" hR="132060" stAng="10800000" swAng="5400000"/>
                <a:close/>
              </a:path>
            </a:pathLst>
          </a:custGeom>
          <a:solidFill>
            <a:srgbClr val="4ED9E6"/>
          </a:solidFill>
          <a:ln/>
        </p:spPr>
        <p:txBody>
          <a:bodyPr wrap="square" lIns="0" tIns="254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A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607175" y="3432175"/>
            <a:ext cx="4768850" cy="2278211"/>
          </a:xfrm>
          <a:prstGeom prst="roundRect">
            <a:avLst>
              <a:gd name="adj" fmla="val 5435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4ED9E6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2" descr="CheckCircl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64350" y="3685530"/>
            <a:ext cx="304800" cy="3048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83450" y="3651250"/>
            <a:ext cx="2504245" cy="39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kern="0" spc="-5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Nimble Needle</a:t>
            </a:r>
            <a:endParaRPr lang="en-US" sz="2800" dirty="0"/>
          </a:p>
        </p:txBody>
      </p:sp>
      <p:sp>
        <p:nvSpPr>
          <p:cNvPr id="20" name="Text 15"/>
          <p:cNvSpPr/>
          <p:nvPr/>
        </p:nvSpPr>
        <p:spPr>
          <a:xfrm>
            <a:off x="6864350" y="4202410"/>
            <a:ext cx="8319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864350" y="4441130"/>
            <a:ext cx="831949" cy="4520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kern="0" spc="-5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Apr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8051899" y="4202410"/>
            <a:ext cx="9832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051899" y="4441130"/>
            <a:ext cx="983258" cy="4520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kern="0" spc="-50" dirty="0">
                <a:solidFill>
                  <a:srgbClr val="4AD8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days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9390757" y="4202410"/>
            <a:ext cx="5569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9390757" y="4441130"/>
            <a:ext cx="556964" cy="4520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kern="0" spc="-5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180</a:t>
            </a:r>
            <a:endParaRPr lang="en-US" sz="2400" dirty="0"/>
          </a:p>
        </p:txBody>
      </p:sp>
      <p:pic>
        <p:nvPicPr>
          <p:cNvPr id="26" name="Image 3" descr="Verified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864350" y="5179566"/>
            <a:ext cx="146050" cy="1778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86600" y="5045621"/>
            <a:ext cx="415321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Numbers checked against tool outputs · saved only on Confirm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6990"/>
            <a:ext cx="1440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2 · Sprint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662563" y="6236990"/>
            <a:ext cx="7166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812800"/>
            <a:ext cx="10883392" cy="266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3"/>
              </a:lnSpc>
              <a:buNone/>
            </a:pPr>
            <a:r>
              <a:rPr lang="en-US" sz="1374" b="1" kern="0" spc="100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374" b="1" kern="0" spc="1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PROBLEM STATEMENT</a:t>
            </a:r>
            <a:endParaRPr lang="en-US" sz="1374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1130399"/>
            <a:ext cx="10883392" cy="742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30"/>
              </a:lnSpc>
              <a:buNone/>
            </a:pPr>
            <a:r>
              <a:rPr lang="en-US" sz="2527" b="1" i="0" kern="0" spc="-5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 are sent to workshops without a system: biased, untraceable and slow</a:t>
            </a:r>
            <a:endParaRPr lang="en-US" sz="2527" dirty="0"/>
          </a:p>
        </p:txBody>
      </p:sp>
      <p:sp>
        <p:nvSpPr>
          <p:cNvPr id="6" name="Shape 4"/>
          <p:cNvSpPr/>
          <p:nvPr/>
        </p:nvSpPr>
        <p:spPr>
          <a:xfrm>
            <a:off x="819150" y="5586387"/>
            <a:ext cx="10560050" cy="546100"/>
          </a:xfrm>
          <a:prstGeom prst="roundRect">
            <a:avLst>
              <a:gd name="adj" fmla="val 20349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FF7068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25525" y="5745137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06525" y="5752777"/>
            <a:ext cx="925413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F70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433538" y="5719092"/>
            <a:ext cx="9001465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SG" sz="1600" b="1" dirty="0">
                <a:solidFill>
                  <a:srgbClr val="F4F7FB"/>
                </a:solidFill>
              </a:rPr>
              <a:t>One wrong pick </a:t>
            </a:r>
            <a:r>
              <a:rPr lang="en-SG" sz="1600" b="1" dirty="0">
                <a:solidFill>
                  <a:srgbClr val="FF7068"/>
                </a:solidFill>
              </a:rPr>
              <a:t>costs a day</a:t>
            </a:r>
            <a:r>
              <a:rPr lang="en-SG" sz="1600" b="1" dirty="0">
                <a:solidFill>
                  <a:srgbClr val="F4F7FB"/>
                </a:solidFill>
              </a:rPr>
              <a:t>, and on a 7-to-14-day order, that day is </a:t>
            </a:r>
            <a:r>
              <a:rPr lang="en-SG" sz="1600" b="1" dirty="0">
                <a:solidFill>
                  <a:srgbClr val="FF7068"/>
                </a:solidFill>
              </a:rPr>
              <a:t>the</a:t>
            </a:r>
            <a:r>
              <a:rPr lang="en-SG" sz="1600" b="1" dirty="0"/>
              <a:t> </a:t>
            </a:r>
            <a:r>
              <a:rPr lang="en-SG" sz="1600" b="1" dirty="0">
                <a:solidFill>
                  <a:srgbClr val="FF7068"/>
                </a:solidFill>
              </a:rPr>
              <a:t>margin</a:t>
            </a:r>
            <a:r>
              <a:rPr lang="en-SG" sz="1600" b="1" dirty="0">
                <a:solidFill>
                  <a:srgbClr val="F4F7FB"/>
                </a:solidFill>
              </a:rPr>
              <a:t>.</a:t>
            </a:r>
            <a:endParaRPr lang="en-US" sz="1600" dirty="0">
              <a:solidFill>
                <a:srgbClr val="F4F7FB"/>
              </a:solidFill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740D33F-CEF9-0BD4-5744-F11AF06F82E5}"/>
              </a:ext>
            </a:extLst>
          </p:cNvPr>
          <p:cNvGrpSpPr/>
          <p:nvPr/>
        </p:nvGrpSpPr>
        <p:grpSpPr>
          <a:xfrm>
            <a:off x="1869231" y="1687633"/>
            <a:ext cx="7648730" cy="3651748"/>
            <a:chOff x="4295775" y="2044700"/>
            <a:chExt cx="7080250" cy="3044825"/>
          </a:xfrm>
        </p:grpSpPr>
        <p:sp>
          <p:nvSpPr>
            <p:cNvPr id="14" name="Text 11"/>
            <p:cNvSpPr/>
            <p:nvPr/>
          </p:nvSpPr>
          <p:spPr>
            <a:xfrm>
              <a:off x="4470400" y="2045990"/>
              <a:ext cx="3126359" cy="2387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200" b="1" kern="0" spc="50" dirty="0">
                  <a:solidFill>
                    <a:srgbClr val="4ED9E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EVERY ALLOCATION MUST ANSWER</a:t>
              </a:r>
              <a:endParaRPr lang="en-US" sz="120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4295775" y="2327275"/>
              <a:ext cx="7080250" cy="638175"/>
            </a:xfrm>
            <a:prstGeom prst="roundRect">
              <a:avLst>
                <a:gd name="adj" fmla="val 17413"/>
              </a:avLst>
            </a:prstGeom>
            <a:gradFill rotWithShape="1">
              <a:gsLst>
                <a:gs pos="0">
                  <a:srgbClr val="173452"/>
                </a:gs>
                <a:gs pos="52000">
                  <a:srgbClr val="102235"/>
                </a:gs>
                <a:gs pos="100000">
                  <a:srgbClr val="0F2A35"/>
                </a:gs>
              </a:gsLst>
              <a:lin ang="3900000" scaled="0"/>
            </a:gradFill>
            <a:ln w="6350">
              <a:solidFill>
                <a:srgbClr val="4ED9E6">
                  <a:alpha val="34000"/>
                </a:srgbClr>
              </a:solidFill>
              <a:prstDash val="solid"/>
            </a:ln>
            <a:effectLst>
              <a:outerShdw blurRad="406400" dist="152400" dir="5400000" algn="bl" rotWithShape="0">
                <a:srgbClr val="030912">
                  <a:alpha val="42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4476750" y="2415232"/>
              <a:ext cx="508000" cy="487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3640"/>
                </a:lnSpc>
                <a:buNone/>
              </a:pPr>
              <a:r>
                <a:rPr lang="en-US" sz="2600" b="1" kern="0" spc="-50" dirty="0">
                  <a:solidFill>
                    <a:srgbClr val="4ED9E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01</a:t>
              </a:r>
              <a:endParaRPr lang="en-US" sz="2600" dirty="0"/>
            </a:p>
          </p:txBody>
        </p:sp>
        <p:pic>
          <p:nvPicPr>
            <p:cNvPr id="17" name="Image 1" descr="Wrench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060950" y="2493963"/>
              <a:ext cx="304800" cy="304800"/>
            </a:xfrm>
            <a:prstGeom prst="rect">
              <a:avLst/>
            </a:prstGeom>
          </p:spPr>
        </p:pic>
        <p:sp>
          <p:nvSpPr>
            <p:cNvPr id="18" name="Text 14"/>
            <p:cNvSpPr/>
            <p:nvPr/>
          </p:nvSpPr>
          <p:spPr>
            <a:xfrm>
              <a:off x="5492750" y="2532063"/>
              <a:ext cx="2027555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500" b="1" dirty="0">
                  <a:solidFill>
                    <a:srgbClr val="F4F7F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Can they make it?</a:t>
              </a:r>
              <a:endParaRPr lang="en-US" sz="1500" dirty="0"/>
            </a:p>
          </p:txBody>
        </p:sp>
        <p:pic>
          <p:nvPicPr>
            <p:cNvPr id="19" name="Image 2" descr="connector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7588250" y="2570163"/>
              <a:ext cx="355600" cy="152400"/>
            </a:xfrm>
            <a:prstGeom prst="rect">
              <a:avLst/>
            </a:prstGeom>
          </p:spPr>
        </p:pic>
        <p:sp>
          <p:nvSpPr>
            <p:cNvPr id="20" name="Text 15"/>
            <p:cNvSpPr/>
            <p:nvPr/>
          </p:nvSpPr>
          <p:spPr>
            <a:xfrm>
              <a:off x="8074025" y="2410172"/>
              <a:ext cx="1354187" cy="260945"/>
            </a:xfrm>
            <a:custGeom>
              <a:avLst/>
              <a:gdLst/>
              <a:ahLst/>
              <a:cxnLst/>
              <a:rect l="l" t="t" r="r" b="b"/>
              <a:pathLst>
                <a:path w="759520" h="245070">
                  <a:moveTo>
                    <a:pt x="122535" y="0"/>
                  </a:moveTo>
                  <a:lnTo>
                    <a:pt x="636984" y="0"/>
                  </a:lnTo>
                  <a:arcTo wR="122535" hR="122535" stAng="16200000" swAng="5400000"/>
                  <a:lnTo>
                    <a:pt x="759520" y="122535"/>
                  </a:lnTo>
                  <a:arcTo wR="122535" hR="122535" stAng="0" swAng="5400000"/>
                  <a:lnTo>
                    <a:pt x="122535" y="245070"/>
                  </a:lnTo>
                  <a:arcTo wR="122535" hR="122535" stAng="5400000" swAng="5400000"/>
                  <a:lnTo>
                    <a:pt x="0" y="122535"/>
                  </a:lnTo>
                  <a:arcTo wR="122535" hR="122535" stAng="10800000" swAng="5400000"/>
                  <a:close/>
                </a:path>
              </a:pathLst>
            </a:custGeom>
            <a:solidFill>
              <a:srgbClr val="FF7068">
                <a:alpha val="14000"/>
              </a:srgbClr>
            </a:solidFill>
            <a:ln w="6350">
              <a:solidFill>
                <a:srgbClr val="FF7068">
                  <a:alpha val="35000"/>
                </a:srgb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 algn="ctr">
                <a:lnSpc>
                  <a:spcPts val="1680"/>
                </a:lnSpc>
                <a:buNone/>
              </a:pPr>
              <a:r>
                <a:rPr lang="en-US" sz="1200" b="1" dirty="0">
                  <a:solidFill>
                    <a:srgbClr val="FF8A82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Unchecked</a:t>
              </a:r>
              <a:endParaRPr lang="en-US" sz="1200" dirty="0"/>
            </a:p>
          </p:txBody>
        </p:sp>
        <p:sp>
          <p:nvSpPr>
            <p:cNvPr id="21" name="Text 16"/>
            <p:cNvSpPr/>
            <p:nvPr/>
          </p:nvSpPr>
          <p:spPr>
            <a:xfrm>
              <a:off x="8070850" y="2671118"/>
              <a:ext cx="3302000" cy="240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690"/>
                </a:lnSpc>
                <a:buNone/>
              </a:pPr>
              <a:r>
                <a:rPr lang="en-US" sz="1300" dirty="0">
                  <a:solidFill>
                    <a:srgbClr val="D3DCE6"/>
                  </a:solidFill>
                  <a:latin typeface="Inter" pitchFamily="34" charset="0"/>
                  <a:ea typeface="Inter" pitchFamily="34" charset="-122"/>
                </a:rPr>
                <a:t>Only as good as what dispatcher knows</a:t>
              </a:r>
              <a:endParaRPr lang="en-US" sz="1300" dirty="0"/>
            </a:p>
          </p:txBody>
        </p:sp>
        <p:sp>
          <p:nvSpPr>
            <p:cNvPr id="22" name="Shape 17"/>
            <p:cNvSpPr/>
            <p:nvPr/>
          </p:nvSpPr>
          <p:spPr>
            <a:xfrm>
              <a:off x="4295775" y="3035300"/>
              <a:ext cx="7080250" cy="638175"/>
            </a:xfrm>
            <a:prstGeom prst="roundRect">
              <a:avLst>
                <a:gd name="adj" fmla="val 17413"/>
              </a:avLst>
            </a:prstGeom>
            <a:gradFill rotWithShape="1">
              <a:gsLst>
                <a:gs pos="0">
                  <a:srgbClr val="173452"/>
                </a:gs>
                <a:gs pos="52000">
                  <a:srgbClr val="102235"/>
                </a:gs>
                <a:gs pos="100000">
                  <a:srgbClr val="0F2A35"/>
                </a:gs>
              </a:gsLst>
              <a:lin ang="3900000" scaled="0"/>
            </a:gradFill>
            <a:ln w="6350">
              <a:solidFill>
                <a:srgbClr val="7F9CFF">
                  <a:alpha val="34000"/>
                </a:srgbClr>
              </a:solidFill>
              <a:prstDash val="solid"/>
            </a:ln>
            <a:effectLst>
              <a:outerShdw blurRad="406400" dist="152400" dir="5400000" algn="bl" rotWithShape="0">
                <a:srgbClr val="030912">
                  <a:alpha val="4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18"/>
            <p:cNvSpPr/>
            <p:nvPr/>
          </p:nvSpPr>
          <p:spPr>
            <a:xfrm>
              <a:off x="4476750" y="3123257"/>
              <a:ext cx="508000" cy="487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3640"/>
                </a:lnSpc>
                <a:buNone/>
              </a:pPr>
              <a:r>
                <a:rPr lang="en-US" sz="2600" b="1" kern="0" spc="-50" dirty="0">
                  <a:solidFill>
                    <a:srgbClr val="7F9CF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02</a:t>
              </a:r>
              <a:endParaRPr lang="en-US" sz="2600" dirty="0"/>
            </a:p>
          </p:txBody>
        </p:sp>
        <p:pic>
          <p:nvPicPr>
            <p:cNvPr id="24" name="Image 3" descr="Lock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060950" y="3201988"/>
              <a:ext cx="304800" cy="304800"/>
            </a:xfrm>
            <a:prstGeom prst="rect">
              <a:avLst/>
            </a:prstGeom>
          </p:spPr>
        </p:pic>
        <p:sp>
          <p:nvSpPr>
            <p:cNvPr id="25" name="Text 19"/>
            <p:cNvSpPr/>
            <p:nvPr/>
          </p:nvSpPr>
          <p:spPr>
            <a:xfrm>
              <a:off x="5463223" y="3268222"/>
              <a:ext cx="202755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500" b="1" dirty="0">
                  <a:solidFill>
                    <a:srgbClr val="F4F7F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Are they allowed to take it?</a:t>
              </a:r>
              <a:endParaRPr lang="en-US" sz="1500" dirty="0"/>
            </a:p>
          </p:txBody>
        </p:sp>
        <p:pic>
          <p:nvPicPr>
            <p:cNvPr id="26" name="Image 4" descr="connector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7588250" y="3278188"/>
              <a:ext cx="355600" cy="152400"/>
            </a:xfrm>
            <a:prstGeom prst="rect">
              <a:avLst/>
            </a:prstGeom>
          </p:spPr>
        </p:pic>
        <p:sp>
          <p:nvSpPr>
            <p:cNvPr id="27" name="Text 20"/>
            <p:cNvSpPr/>
            <p:nvPr/>
          </p:nvSpPr>
          <p:spPr>
            <a:xfrm>
              <a:off x="8074025" y="3118196"/>
              <a:ext cx="1354187" cy="260947"/>
            </a:xfrm>
            <a:custGeom>
              <a:avLst/>
              <a:gdLst/>
              <a:ahLst/>
              <a:cxnLst/>
              <a:rect l="l" t="t" r="r" b="b"/>
              <a:pathLst>
                <a:path w="1123255" h="245070">
                  <a:moveTo>
                    <a:pt x="122535" y="0"/>
                  </a:moveTo>
                  <a:lnTo>
                    <a:pt x="1000720" y="0"/>
                  </a:lnTo>
                  <a:arcTo wR="122535" hR="122535" stAng="16200000" swAng="5400000"/>
                  <a:lnTo>
                    <a:pt x="1123255" y="122535"/>
                  </a:lnTo>
                  <a:arcTo wR="122535" hR="122535" stAng="0" swAng="5400000"/>
                  <a:lnTo>
                    <a:pt x="122535" y="245070"/>
                  </a:lnTo>
                  <a:arcTo wR="122535" hR="122535" stAng="5400000" swAng="5400000"/>
                  <a:lnTo>
                    <a:pt x="0" y="122535"/>
                  </a:lnTo>
                  <a:arcTo wR="122535" hR="122535" stAng="10800000" swAng="5400000"/>
                  <a:close/>
                </a:path>
              </a:pathLst>
            </a:custGeom>
            <a:solidFill>
              <a:srgbClr val="FF7068">
                <a:alpha val="14000"/>
              </a:srgbClr>
            </a:solidFill>
            <a:ln w="6350">
              <a:solidFill>
                <a:srgbClr val="FF7068">
                  <a:alpha val="35000"/>
                </a:srgb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 algn="ctr">
                <a:lnSpc>
                  <a:spcPts val="1680"/>
                </a:lnSpc>
                <a:buNone/>
              </a:pPr>
              <a:r>
                <a:rPr lang="en-US" sz="1200" b="1" dirty="0">
                  <a:solidFill>
                    <a:srgbClr val="FF8A82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Missed rules</a:t>
              </a:r>
              <a:endParaRPr lang="en-US" sz="1200" dirty="0"/>
            </a:p>
          </p:txBody>
        </p:sp>
        <p:sp>
          <p:nvSpPr>
            <p:cNvPr id="28" name="Text 21"/>
            <p:cNvSpPr/>
            <p:nvPr/>
          </p:nvSpPr>
          <p:spPr>
            <a:xfrm>
              <a:off x="8070850" y="3379143"/>
              <a:ext cx="3302000" cy="240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690"/>
                </a:lnSpc>
                <a:buNone/>
              </a:pPr>
              <a:r>
                <a:rPr lang="en-US" sz="1300" dirty="0">
                  <a:solidFill>
                    <a:srgbClr val="D3DCE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Suspensions and caps are easy to miss</a:t>
              </a:r>
              <a:endParaRPr lang="en-US" sz="1300" dirty="0"/>
            </a:p>
          </p:txBody>
        </p:sp>
        <p:sp>
          <p:nvSpPr>
            <p:cNvPr id="29" name="Shape 22"/>
            <p:cNvSpPr/>
            <p:nvPr/>
          </p:nvSpPr>
          <p:spPr>
            <a:xfrm>
              <a:off x="4295775" y="3743325"/>
              <a:ext cx="7080250" cy="638175"/>
            </a:xfrm>
            <a:prstGeom prst="roundRect">
              <a:avLst>
                <a:gd name="adj" fmla="val 17413"/>
              </a:avLst>
            </a:prstGeom>
            <a:gradFill rotWithShape="1">
              <a:gsLst>
                <a:gs pos="0">
                  <a:srgbClr val="173452"/>
                </a:gs>
                <a:gs pos="52000">
                  <a:srgbClr val="102235"/>
                </a:gs>
                <a:gs pos="100000">
                  <a:srgbClr val="0F2A35"/>
                </a:gs>
              </a:gsLst>
              <a:lin ang="3900000" scaled="0"/>
            </a:gradFill>
            <a:ln w="6350">
              <a:solidFill>
                <a:srgbClr val="23C9A7">
                  <a:alpha val="34000"/>
                </a:srgbClr>
              </a:solidFill>
              <a:prstDash val="solid"/>
            </a:ln>
            <a:effectLst>
              <a:outerShdw blurRad="406400" dist="152400" dir="5400000" algn="bl" rotWithShape="0">
                <a:srgbClr val="030912">
                  <a:alpha val="4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3"/>
            <p:cNvSpPr/>
            <p:nvPr/>
          </p:nvSpPr>
          <p:spPr>
            <a:xfrm>
              <a:off x="4476750" y="3831282"/>
              <a:ext cx="508000" cy="487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3640"/>
                </a:lnSpc>
                <a:buNone/>
              </a:pPr>
              <a:r>
                <a:rPr lang="en-US" sz="2600" b="1" kern="0" spc="-50" dirty="0">
                  <a:solidFill>
                    <a:srgbClr val="23C9A7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03</a:t>
              </a:r>
              <a:endParaRPr lang="en-US" sz="2600" dirty="0"/>
            </a:p>
          </p:txBody>
        </p:sp>
        <p:pic>
          <p:nvPicPr>
            <p:cNvPr id="31" name="Image 5" descr="Clock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5060950" y="3910013"/>
              <a:ext cx="304800" cy="304800"/>
            </a:xfrm>
            <a:prstGeom prst="rect">
              <a:avLst/>
            </a:prstGeom>
          </p:spPr>
        </p:pic>
        <p:sp>
          <p:nvSpPr>
            <p:cNvPr id="32" name="Text 24"/>
            <p:cNvSpPr/>
            <p:nvPr/>
          </p:nvSpPr>
          <p:spPr>
            <a:xfrm>
              <a:off x="5463223" y="3956301"/>
              <a:ext cx="2027555" cy="294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500" b="1" dirty="0">
                  <a:solidFill>
                    <a:srgbClr val="F4F7F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When will it really be back?</a:t>
              </a:r>
              <a:endParaRPr lang="en-US" sz="1500" dirty="0"/>
            </a:p>
          </p:txBody>
        </p:sp>
        <p:pic>
          <p:nvPicPr>
            <p:cNvPr id="33" name="Image 6" descr="connector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7588250" y="3986213"/>
              <a:ext cx="355600" cy="152400"/>
            </a:xfrm>
            <a:prstGeom prst="rect">
              <a:avLst/>
            </a:prstGeom>
          </p:spPr>
        </p:pic>
        <p:sp>
          <p:nvSpPr>
            <p:cNvPr id="34" name="Text 25"/>
            <p:cNvSpPr/>
            <p:nvPr/>
          </p:nvSpPr>
          <p:spPr>
            <a:xfrm>
              <a:off x="8074025" y="3826222"/>
              <a:ext cx="1354187" cy="245070"/>
            </a:xfrm>
            <a:custGeom>
              <a:avLst/>
              <a:gdLst/>
              <a:ahLst/>
              <a:cxnLst/>
              <a:rect l="l" t="t" r="r" b="b"/>
              <a:pathLst>
                <a:path w="1354187" h="245070">
                  <a:moveTo>
                    <a:pt x="122535" y="0"/>
                  </a:moveTo>
                  <a:lnTo>
                    <a:pt x="1231652" y="0"/>
                  </a:lnTo>
                  <a:arcTo wR="122535" hR="122535" stAng="16200000" swAng="5400000"/>
                  <a:lnTo>
                    <a:pt x="1354187" y="122535"/>
                  </a:lnTo>
                  <a:arcTo wR="122535" hR="122535" stAng="0" swAng="5400000"/>
                  <a:lnTo>
                    <a:pt x="122535" y="245070"/>
                  </a:lnTo>
                  <a:arcTo wR="122535" hR="122535" stAng="5400000" swAng="5400000"/>
                  <a:lnTo>
                    <a:pt x="0" y="122535"/>
                  </a:lnTo>
                  <a:arcTo wR="122535" hR="122535" stAng="10800000" swAng="5400000"/>
                  <a:close/>
                </a:path>
              </a:pathLst>
            </a:custGeom>
            <a:solidFill>
              <a:srgbClr val="FF7068">
                <a:alpha val="14000"/>
              </a:srgbClr>
            </a:solidFill>
            <a:ln w="6350">
              <a:solidFill>
                <a:srgbClr val="FF7068">
                  <a:alpha val="35000"/>
                </a:srgb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 algn="ctr">
                <a:lnSpc>
                  <a:spcPts val="1680"/>
                </a:lnSpc>
                <a:buNone/>
              </a:pPr>
              <a:r>
                <a:rPr lang="en-US" sz="1200" b="1" dirty="0">
                  <a:solidFill>
                    <a:srgbClr val="FF8A82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No live check</a:t>
              </a:r>
              <a:endParaRPr lang="en-US" sz="1200" dirty="0"/>
            </a:p>
          </p:txBody>
        </p:sp>
        <p:sp>
          <p:nvSpPr>
            <p:cNvPr id="35" name="Text 26"/>
            <p:cNvSpPr/>
            <p:nvPr/>
          </p:nvSpPr>
          <p:spPr>
            <a:xfrm>
              <a:off x="8070850" y="4087168"/>
              <a:ext cx="3302000" cy="240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690"/>
                </a:lnSpc>
                <a:buNone/>
              </a:pPr>
              <a:r>
                <a:rPr lang="en-US" sz="1300" dirty="0">
                  <a:solidFill>
                    <a:srgbClr val="D3DCE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Capacity &amp; queues not checked</a:t>
              </a:r>
              <a:endParaRPr lang="en-US" sz="1300" dirty="0"/>
            </a:p>
          </p:txBody>
        </p:sp>
        <p:sp>
          <p:nvSpPr>
            <p:cNvPr id="36" name="Shape 27"/>
            <p:cNvSpPr/>
            <p:nvPr/>
          </p:nvSpPr>
          <p:spPr>
            <a:xfrm>
              <a:off x="4295775" y="4451350"/>
              <a:ext cx="7080250" cy="638175"/>
            </a:xfrm>
            <a:prstGeom prst="roundRect">
              <a:avLst>
                <a:gd name="adj" fmla="val 17413"/>
              </a:avLst>
            </a:prstGeom>
            <a:gradFill rotWithShape="1">
              <a:gsLst>
                <a:gs pos="0">
                  <a:srgbClr val="173452"/>
                </a:gs>
                <a:gs pos="52000">
                  <a:srgbClr val="102235"/>
                </a:gs>
                <a:gs pos="100000">
                  <a:srgbClr val="0F2A35"/>
                </a:gs>
              </a:gsLst>
              <a:lin ang="3900000" scaled="0"/>
            </a:gradFill>
            <a:ln w="6350">
              <a:solidFill>
                <a:srgbClr val="A391FF">
                  <a:alpha val="34000"/>
                </a:srgbClr>
              </a:solidFill>
              <a:prstDash val="solid"/>
            </a:ln>
            <a:effectLst>
              <a:outerShdw blurRad="406400" dist="152400" dir="5400000" algn="bl" rotWithShape="0">
                <a:srgbClr val="030912">
                  <a:alpha val="4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28"/>
            <p:cNvSpPr/>
            <p:nvPr/>
          </p:nvSpPr>
          <p:spPr>
            <a:xfrm>
              <a:off x="4476750" y="4539307"/>
              <a:ext cx="508000" cy="487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3640"/>
                </a:lnSpc>
                <a:buNone/>
              </a:pPr>
              <a:r>
                <a:rPr lang="en-US" sz="2600" b="1" kern="0" spc="-50" dirty="0">
                  <a:solidFill>
                    <a:srgbClr val="A391F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04</a:t>
              </a:r>
              <a:endParaRPr lang="en-US" sz="2600" dirty="0"/>
            </a:p>
          </p:txBody>
        </p:sp>
        <p:pic>
          <p:nvPicPr>
            <p:cNvPr id="38" name="Image 7" descr="Search"/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060950" y="4618038"/>
              <a:ext cx="304800" cy="304800"/>
            </a:xfrm>
            <a:prstGeom prst="rect">
              <a:avLst/>
            </a:prstGeom>
          </p:spPr>
        </p:pic>
        <p:sp>
          <p:nvSpPr>
            <p:cNvPr id="39" name="Text 29"/>
            <p:cNvSpPr/>
            <p:nvPr/>
          </p:nvSpPr>
          <p:spPr>
            <a:xfrm>
              <a:off x="5492750" y="4656138"/>
              <a:ext cx="2027555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500" b="1" dirty="0">
                  <a:solidFill>
                    <a:srgbClr val="F4F7F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Why this workshop?</a:t>
              </a:r>
              <a:endParaRPr lang="en-US" sz="1500" dirty="0"/>
            </a:p>
          </p:txBody>
        </p:sp>
        <p:pic>
          <p:nvPicPr>
            <p:cNvPr id="40" name="Image 8" descr="connector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7588250" y="4694238"/>
              <a:ext cx="355600" cy="152400"/>
            </a:xfrm>
            <a:prstGeom prst="rect">
              <a:avLst/>
            </a:prstGeom>
          </p:spPr>
        </p:pic>
        <p:sp>
          <p:nvSpPr>
            <p:cNvPr id="41" name="Text 30"/>
            <p:cNvSpPr/>
            <p:nvPr/>
          </p:nvSpPr>
          <p:spPr>
            <a:xfrm>
              <a:off x="8074025" y="4534247"/>
              <a:ext cx="1354187" cy="240010"/>
            </a:xfrm>
            <a:custGeom>
              <a:avLst/>
              <a:gdLst/>
              <a:ahLst/>
              <a:cxnLst/>
              <a:rect l="l" t="t" r="r" b="b"/>
              <a:pathLst>
                <a:path w="1119138" h="245070">
                  <a:moveTo>
                    <a:pt x="122535" y="0"/>
                  </a:moveTo>
                  <a:lnTo>
                    <a:pt x="996603" y="0"/>
                  </a:lnTo>
                  <a:arcTo wR="122535" hR="122535" stAng="16200000" swAng="5400000"/>
                  <a:lnTo>
                    <a:pt x="1119138" y="122535"/>
                  </a:lnTo>
                  <a:arcTo wR="122535" hR="122535" stAng="0" swAng="5400000"/>
                  <a:lnTo>
                    <a:pt x="122535" y="245070"/>
                  </a:lnTo>
                  <a:arcTo wR="122535" hR="122535" stAng="5400000" swAng="5400000"/>
                  <a:lnTo>
                    <a:pt x="0" y="122535"/>
                  </a:lnTo>
                  <a:arcTo wR="122535" hR="122535" stAng="10800000" swAng="5400000"/>
                  <a:close/>
                </a:path>
              </a:pathLst>
            </a:custGeom>
            <a:solidFill>
              <a:srgbClr val="FF7068">
                <a:alpha val="14000"/>
              </a:srgbClr>
            </a:solidFill>
            <a:ln w="6350">
              <a:solidFill>
                <a:srgbClr val="FF7068">
                  <a:alpha val="35000"/>
                </a:srgb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 algn="ctr">
                <a:lnSpc>
                  <a:spcPts val="1680"/>
                </a:lnSpc>
                <a:buNone/>
              </a:pPr>
              <a:r>
                <a:rPr lang="en-US" sz="1200" b="1" dirty="0">
                  <a:solidFill>
                    <a:srgbClr val="FF8A82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No audit trail</a:t>
              </a:r>
              <a:endParaRPr lang="en-US" sz="1200" dirty="0"/>
            </a:p>
          </p:txBody>
        </p:sp>
        <p:sp>
          <p:nvSpPr>
            <p:cNvPr id="42" name="Text 31"/>
            <p:cNvSpPr/>
            <p:nvPr/>
          </p:nvSpPr>
          <p:spPr>
            <a:xfrm>
              <a:off x="8070850" y="4795193"/>
              <a:ext cx="3217926" cy="240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690"/>
                </a:lnSpc>
                <a:buNone/>
              </a:pPr>
              <a:r>
                <a:rPr lang="en-US" sz="1300" dirty="0">
                  <a:solidFill>
                    <a:srgbClr val="D3DCE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Not recorded, so no one can review it</a:t>
              </a:r>
              <a:endParaRPr lang="en-US" sz="1300" dirty="0"/>
            </a:p>
          </p:txBody>
        </p:sp>
        <p:sp>
          <p:nvSpPr>
            <p:cNvPr id="43" name="Text 32"/>
            <p:cNvSpPr/>
            <p:nvPr/>
          </p:nvSpPr>
          <p:spPr>
            <a:xfrm>
              <a:off x="7935565" y="2044700"/>
              <a:ext cx="3363759" cy="2387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200" b="1" kern="0" spc="50" dirty="0">
                  <a:solidFill>
                    <a:srgbClr val="FF706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HOW IT IS ANSWERED TODAY</a:t>
              </a:r>
              <a:endParaRPr lang="en-US" sz="1200" dirty="0"/>
            </a:p>
          </p:txBody>
        </p:sp>
      </p:grp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400" b="1" kern="0" spc="1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PROPOSED SOLUTION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883392" cy="764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12"/>
              </a:lnSpc>
              <a:buNone/>
            </a:pPr>
            <a:r>
              <a:rPr lang="en-US" sz="2600" b="1" i="0" kern="0" spc="-5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dispatcher app that turns a chat request into a checked, recorded 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2020342"/>
            <a:ext cx="4819650" cy="2629843"/>
          </a:xfrm>
          <a:prstGeom prst="roundRect">
            <a:avLst>
              <a:gd name="adj" fmla="val 4226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4ED9E6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Clo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3150" y="2187327"/>
            <a:ext cx="190500" cy="19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39850" y="2175917"/>
            <a:ext cx="1860159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OBJECTIVE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73150" y="2478137"/>
            <a:ext cx="4434459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kern="0" spc="-100" dirty="0">
                <a:gradFill rotWithShape="1">
                  <a:gsLst>
                    <a:gs pos="0">
                      <a:srgbClr val="6488FF"/>
                    </a:gs>
                    <a:gs pos="50000">
                      <a:srgbClr val="4ED9E6"/>
                    </a:gs>
                    <a:gs pos="100000">
                      <a:srgbClr val="23C9A7"/>
                    </a:gs>
                  </a:gsLst>
                  <a:lin ang="0" scaled="0"/>
                </a:gradFill>
                <a:latin typeface="Inter" pitchFamily="34" charset="0"/>
                <a:ea typeface="Inter" pitchFamily="34" charset="-122"/>
                <a:cs typeface="Inter" pitchFamily="34" charset="-120"/>
              </a:rPr>
              <a:t>Minimise lateness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073150" y="3125837"/>
            <a:ext cx="443445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of batches late + average days late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73150" y="3801219"/>
            <a:ext cx="4434459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820"/>
              </a:lnSpc>
            </a:pPr>
            <a:r>
              <a:rPr lang="en-US" sz="1300" b="1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</a:t>
            </a: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urgent orders have only 7 to 14 days, a late batch misses the customer’s date and loses margin.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794375" y="2020342"/>
            <a:ext cx="5581650" cy="1273621"/>
          </a:xfrm>
          <a:prstGeom prst="roundRect">
            <a:avLst>
              <a:gd name="adj" fmla="val 8725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7F9CFF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75350" y="2166342"/>
            <a:ext cx="1120477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7F9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11702" y="2150467"/>
            <a:ext cx="1154460" cy="245070"/>
          </a:xfrm>
          <a:custGeom>
            <a:avLst/>
            <a:gdLst/>
            <a:ahLst/>
            <a:cxnLst/>
            <a:rect l="l" t="t" r="r" b="b"/>
            <a:pathLst>
              <a:path w="1154460" h="245070">
                <a:moveTo>
                  <a:pt x="122535" y="0"/>
                </a:moveTo>
                <a:lnTo>
                  <a:pt x="1031925" y="0"/>
                </a:lnTo>
                <a:arcTo wR="122535" hR="122535" stAng="16200000" swAng="5400000"/>
                <a:lnTo>
                  <a:pt x="1154460" y="122535"/>
                </a:lnTo>
                <a:arcTo wR="122535" hR="122535" stAng="0" swAng="5400000"/>
                <a:lnTo>
                  <a:pt x="122535" y="245070"/>
                </a:lnTo>
                <a:arcTo wR="122535" hR="122535" stAng="5400000" swAng="5400000"/>
                <a:lnTo>
                  <a:pt x="0" y="122535"/>
                </a:lnTo>
                <a:arcTo wR="122535" hR="122535" stAng="10800000" swAng="5400000"/>
                <a:close/>
              </a:path>
            </a:pathLst>
          </a:custGeom>
          <a:solidFill>
            <a:srgbClr val="FFFFFF">
              <a:alpha val="8000"/>
            </a:srgbClr>
          </a:solidFill>
          <a:ln w="6350">
            <a:solidFill>
              <a:srgbClr val="FFFFFF">
                <a:alpha val="14000"/>
              </a:srgbClr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DCE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evaluation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75350" y="2436813"/>
            <a:ext cx="2459228" cy="288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Robustness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975350" y="2737793"/>
            <a:ext cx="2459228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C9D8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in lateness when a workshop closes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616950" y="2194868"/>
            <a:ext cx="2655443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CE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</a:t>
            </a:r>
            <a:r>
              <a:rPr lang="en-US" sz="1300" dirty="0">
                <a:solidFill>
                  <a:srgbClr val="9FAE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workshops can close or fall behind without warning, so a good pick must stay good when things change.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794375" y="3376513"/>
            <a:ext cx="5581650" cy="1273671"/>
          </a:xfrm>
          <a:prstGeom prst="roundRect">
            <a:avLst>
              <a:gd name="adj" fmla="val 8725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23C9A7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975350" y="3522514"/>
            <a:ext cx="701477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3C9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692702" y="3506639"/>
            <a:ext cx="1154460" cy="245070"/>
          </a:xfrm>
          <a:custGeom>
            <a:avLst/>
            <a:gdLst/>
            <a:ahLst/>
            <a:cxnLst/>
            <a:rect l="l" t="t" r="r" b="b"/>
            <a:pathLst>
              <a:path w="1154460" h="245070">
                <a:moveTo>
                  <a:pt x="122535" y="0"/>
                </a:moveTo>
                <a:lnTo>
                  <a:pt x="1031925" y="0"/>
                </a:lnTo>
                <a:arcTo wR="122535" hR="122535" stAng="16200000" swAng="5400000"/>
                <a:lnTo>
                  <a:pt x="1154460" y="122535"/>
                </a:lnTo>
                <a:arcTo wR="122535" hR="122535" stAng="0" swAng="5400000"/>
                <a:lnTo>
                  <a:pt x="122535" y="245070"/>
                </a:lnTo>
                <a:arcTo wR="122535" hR="122535" stAng="5400000" swAng="5400000"/>
                <a:lnTo>
                  <a:pt x="0" y="122535"/>
                </a:lnTo>
                <a:arcTo wR="122535" hR="122535" stAng="10800000" swAng="5400000"/>
                <a:close/>
              </a:path>
            </a:pathLst>
          </a:custGeom>
          <a:solidFill>
            <a:srgbClr val="FFFFFF">
              <a:alpha val="8000"/>
            </a:srgbClr>
          </a:solidFill>
          <a:ln w="6350">
            <a:solidFill>
              <a:srgbClr val="FFFFFF">
                <a:alpha val="14000"/>
              </a:srgbClr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DCE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evaluation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75350" y="3792984"/>
            <a:ext cx="2459228" cy="288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Lateness + fairness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616950" y="3435548"/>
            <a:ext cx="2655443" cy="1181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CE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</a:t>
            </a:r>
            <a:r>
              <a:rPr lang="en-US" sz="1300" dirty="0">
                <a:solidFill>
                  <a:srgbClr val="9FAE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always sending work to the fastest workshop can overload it. We test whether spreading work keeps orders on time.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12800" y="479305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2325" y="5066705"/>
            <a:ext cx="260350" cy="260350"/>
          </a:xfrm>
          <a:custGeom>
            <a:avLst/>
            <a:gdLst/>
            <a:ahLst/>
            <a:cxnLst/>
            <a:rect l="l" t="t" r="r" b="b"/>
            <a:pathLst>
              <a:path w="260350" h="260350">
                <a:moveTo>
                  <a:pt x="130175" y="0"/>
                </a:moveTo>
                <a:lnTo>
                  <a:pt x="130175" y="0"/>
                </a:lnTo>
                <a:arcTo wR="130175" hR="130175" stAng="16200000" swAng="5400000"/>
                <a:lnTo>
                  <a:pt x="260350" y="130175"/>
                </a:lnTo>
                <a:arcTo wR="130175" hR="130175" stAng="0" swAng="5400000"/>
                <a:lnTo>
                  <a:pt x="130175" y="260350"/>
                </a:lnTo>
                <a:arcTo wR="130175" hR="130175" stAng="5400000" swAng="5400000"/>
                <a:lnTo>
                  <a:pt x="0" y="130175"/>
                </a:lnTo>
                <a:arcTo wR="130175" hR="130175" stAng="10800000" swAng="5400000"/>
                <a:close/>
              </a:path>
            </a:pathLst>
          </a:custGeom>
          <a:noFill/>
          <a:ln w="19050">
            <a:solidFill>
              <a:srgbClr val="4ED9E6"/>
            </a:solidFill>
            <a:prstDash val="solid"/>
          </a:ln>
        </p:spPr>
        <p:txBody>
          <a:bodyPr wrap="square" lIns="9525" tIns="9525" rIns="9525" bIns="9525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pic>
        <p:nvPicPr>
          <p:cNvPr id="24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93800" y="5120680"/>
            <a:ext cx="1625600" cy="1524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12800" y="5412780"/>
            <a:ext cx="201968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the chat request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2935585" y="5066705"/>
            <a:ext cx="260350" cy="260350"/>
          </a:xfrm>
          <a:custGeom>
            <a:avLst/>
            <a:gdLst/>
            <a:ahLst/>
            <a:cxnLst/>
            <a:rect l="l" t="t" r="r" b="b"/>
            <a:pathLst>
              <a:path w="260350" h="260350">
                <a:moveTo>
                  <a:pt x="130175" y="0"/>
                </a:moveTo>
                <a:lnTo>
                  <a:pt x="130175" y="0"/>
                </a:lnTo>
                <a:arcTo wR="130175" hR="130175" stAng="16200000" swAng="5400000"/>
                <a:lnTo>
                  <a:pt x="260350" y="130175"/>
                </a:lnTo>
                <a:arcTo wR="130175" hR="130175" stAng="0" swAng="5400000"/>
                <a:lnTo>
                  <a:pt x="130175" y="260350"/>
                </a:lnTo>
                <a:arcTo wR="130175" hR="130175" stAng="5400000" swAng="5400000"/>
                <a:lnTo>
                  <a:pt x="0" y="130175"/>
                </a:lnTo>
                <a:arcTo wR="130175" hR="130175" stAng="10800000" swAng="5400000"/>
                <a:close/>
              </a:path>
            </a:pathLst>
          </a:custGeom>
          <a:noFill/>
          <a:ln w="19050">
            <a:solidFill>
              <a:srgbClr val="4ED9E6"/>
            </a:solidFill>
            <a:prstDash val="solid"/>
          </a:ln>
        </p:spPr>
        <p:txBody>
          <a:bodyPr wrap="square" lIns="9525" tIns="9525" rIns="9525" bIns="9525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pic>
        <p:nvPicPr>
          <p:cNvPr id="27" name="Image 2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07060" y="5120680"/>
            <a:ext cx="1625600" cy="1524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926060" y="5412780"/>
            <a:ext cx="2019686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 every workshop against the data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048845" y="5066705"/>
            <a:ext cx="260350" cy="260350"/>
          </a:xfrm>
          <a:custGeom>
            <a:avLst/>
            <a:gdLst/>
            <a:ahLst/>
            <a:cxnLst/>
            <a:rect l="l" t="t" r="r" b="b"/>
            <a:pathLst>
              <a:path w="260350" h="260350">
                <a:moveTo>
                  <a:pt x="130175" y="0"/>
                </a:moveTo>
                <a:lnTo>
                  <a:pt x="130175" y="0"/>
                </a:lnTo>
                <a:arcTo wR="130175" hR="130175" stAng="16200000" swAng="5400000"/>
                <a:lnTo>
                  <a:pt x="260350" y="130175"/>
                </a:lnTo>
                <a:arcTo wR="130175" hR="130175" stAng="0" swAng="5400000"/>
                <a:lnTo>
                  <a:pt x="130175" y="260350"/>
                </a:lnTo>
                <a:arcTo wR="130175" hR="130175" stAng="5400000" swAng="5400000"/>
                <a:lnTo>
                  <a:pt x="0" y="130175"/>
                </a:lnTo>
                <a:arcTo wR="130175" hR="130175" stAng="10800000" swAng="5400000"/>
                <a:close/>
              </a:path>
            </a:pathLst>
          </a:custGeom>
          <a:noFill/>
          <a:ln w="19050">
            <a:solidFill>
              <a:srgbClr val="4ED9E6"/>
            </a:solidFill>
            <a:prstDash val="solid"/>
          </a:ln>
        </p:spPr>
        <p:txBody>
          <a:bodyPr wrap="square" lIns="9525" tIns="9525" rIns="9525" bIns="9525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pic>
        <p:nvPicPr>
          <p:cNvPr id="30" name="Image 3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20320" y="5120680"/>
            <a:ext cx="1625600" cy="1524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039320" y="5412780"/>
            <a:ext cx="2019737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Estimates delivery date and cost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162155" y="5066705"/>
            <a:ext cx="260350" cy="260350"/>
          </a:xfrm>
          <a:custGeom>
            <a:avLst/>
            <a:gdLst/>
            <a:ahLst/>
            <a:cxnLst/>
            <a:rect l="l" t="t" r="r" b="b"/>
            <a:pathLst>
              <a:path w="260350" h="260350">
                <a:moveTo>
                  <a:pt x="130175" y="0"/>
                </a:moveTo>
                <a:lnTo>
                  <a:pt x="130175" y="0"/>
                </a:lnTo>
                <a:arcTo wR="130175" hR="130175" stAng="16200000" swAng="5400000"/>
                <a:lnTo>
                  <a:pt x="260350" y="130175"/>
                </a:lnTo>
                <a:arcTo wR="130175" hR="130175" stAng="0" swAng="5400000"/>
                <a:lnTo>
                  <a:pt x="130175" y="260350"/>
                </a:lnTo>
                <a:arcTo wR="130175" hR="130175" stAng="5400000" swAng="5400000"/>
                <a:lnTo>
                  <a:pt x="0" y="130175"/>
                </a:lnTo>
                <a:arcTo wR="130175" hR="130175" stAng="10800000" swAng="5400000"/>
                <a:close/>
              </a:path>
            </a:pathLst>
          </a:custGeom>
          <a:noFill/>
          <a:ln w="19050">
            <a:solidFill>
              <a:srgbClr val="4ED9E6"/>
            </a:solidFill>
            <a:prstDash val="solid"/>
          </a:ln>
        </p:spPr>
        <p:txBody>
          <a:bodyPr wrap="square" lIns="9525" tIns="9525" rIns="9525" bIns="9525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pic>
        <p:nvPicPr>
          <p:cNvPr id="33" name="Image 4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33630" y="5120680"/>
            <a:ext cx="1625600" cy="1524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152630" y="5412780"/>
            <a:ext cx="2019686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Recommends one, with the reasoning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9275415" y="5066705"/>
            <a:ext cx="260350" cy="260350"/>
          </a:xfrm>
          <a:custGeom>
            <a:avLst/>
            <a:gdLst/>
            <a:ahLst/>
            <a:cxnLst/>
            <a:rect l="l" t="t" r="r" b="b"/>
            <a:pathLst>
              <a:path w="260350" h="260350">
                <a:moveTo>
                  <a:pt x="130175" y="0"/>
                </a:moveTo>
                <a:lnTo>
                  <a:pt x="130175" y="0"/>
                </a:lnTo>
                <a:arcTo wR="130175" hR="130175" stAng="16200000" swAng="5400000"/>
                <a:lnTo>
                  <a:pt x="260350" y="130175"/>
                </a:lnTo>
                <a:arcTo wR="130175" hR="130175" stAng="0" swAng="5400000"/>
                <a:lnTo>
                  <a:pt x="130175" y="260350"/>
                </a:lnTo>
                <a:arcTo wR="130175" hR="130175" stAng="5400000" swAng="5400000"/>
                <a:lnTo>
                  <a:pt x="0" y="130175"/>
                </a:lnTo>
                <a:arcTo wR="130175" hR="130175" stAng="10800000" swAng="5400000"/>
                <a:close/>
              </a:path>
            </a:pathLst>
          </a:custGeom>
          <a:noFill/>
          <a:ln w="19050">
            <a:solidFill>
              <a:srgbClr val="4AD889"/>
            </a:solidFill>
            <a:prstDash val="solid"/>
          </a:ln>
        </p:spPr>
        <p:txBody>
          <a:bodyPr wrap="square" lIns="9525" tIns="9525" rIns="9525" bIns="9525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D8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9265890" y="5412780"/>
            <a:ext cx="2019686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 it after a person confirms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812800" y="6236990"/>
            <a:ext cx="1440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2 · Sprint 1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10661134" y="6236990"/>
            <a:ext cx="7180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22220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400" b="1" kern="0" spc="1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ARCHITECTURE</a:t>
            </a:r>
            <a:endParaRPr lang="en-US" sz="1400" dirty="0"/>
          </a:p>
        </p:txBody>
      </p:sp>
      <p:pic>
        <p:nvPicPr>
          <p:cNvPr id="3" name="Image 0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55345" y="886420"/>
            <a:ext cx="101600" cy="10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0445" y="821680"/>
            <a:ext cx="1307703" cy="2565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LLM:</a:t>
            </a: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reads only</a:t>
            </a:r>
            <a:endParaRPr lang="en-US" sz="1300" dirty="0"/>
          </a:p>
        </p:txBody>
      </p:sp>
      <p:pic>
        <p:nvPicPr>
          <p:cNvPr id="5" name="Image 1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05948" y="886420"/>
            <a:ext cx="101600" cy="101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71048" y="821680"/>
            <a:ext cx="2007474" cy="2565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Python:</a:t>
            </a: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checks, decides</a:t>
            </a:r>
            <a:endParaRPr lang="en-US" sz="1300" dirty="0"/>
          </a:p>
        </p:txBody>
      </p:sp>
      <p:pic>
        <p:nvPicPr>
          <p:cNvPr id="7" name="Image 2" descr="ellips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848652" y="886420"/>
            <a:ext cx="101600" cy="101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13752" y="821680"/>
            <a:ext cx="1416248" cy="2565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Human:</a:t>
            </a: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confirms</a:t>
            </a:r>
            <a:endParaRPr lang="en-US" sz="1300" dirty="0"/>
          </a:p>
        </p:txBody>
      </p:sp>
      <p:sp>
        <p:nvSpPr>
          <p:cNvPr id="9" name="Text 4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883392" cy="395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12"/>
              </a:lnSpc>
              <a:buNone/>
            </a:pPr>
            <a:r>
              <a:rPr lang="en-US" sz="2600" b="1" i="0" kern="0" spc="-5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 chat request becomes a confirmed decision</a:t>
            </a:r>
            <a:endParaRPr lang="en-US" sz="2600" dirty="0"/>
          </a:p>
        </p:txBody>
      </p:sp>
      <p:sp>
        <p:nvSpPr>
          <p:cNvPr id="10" name="Shape 5"/>
          <p:cNvSpPr/>
          <p:nvPr/>
        </p:nvSpPr>
        <p:spPr>
          <a:xfrm>
            <a:off x="612775" y="1590675"/>
            <a:ext cx="10966450" cy="730250"/>
          </a:xfrm>
          <a:prstGeom prst="roundRect">
            <a:avLst>
              <a:gd name="adj" fmla="val 15217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4ED9E6">
                <a:alpha val="34000"/>
              </a:srgbClr>
            </a:solidFill>
            <a:prstDash val="dash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3" descr="Tool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93750" y="1690043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98550" y="1697633"/>
            <a:ext cx="3401775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· PLAIN PYTHON FUNCTIONS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796925" y="1979861"/>
            <a:ext cx="1143248" cy="233114"/>
          </a:xfrm>
          <a:prstGeom prst="roundRect">
            <a:avLst>
              <a:gd name="adj" fmla="val 25878"/>
            </a:avLst>
          </a:prstGeom>
          <a:solidFill>
            <a:srgbClr val="142A3D"/>
          </a:solidFill>
          <a:ln w="6350">
            <a:solidFill>
              <a:srgbClr val="4ED9E6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/>
          <p:nvPr/>
        </p:nvSpPr>
        <p:spPr>
          <a:xfrm>
            <a:off x="889000" y="1995736"/>
            <a:ext cx="1009898" cy="2267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lookup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2188319" y="1979861"/>
            <a:ext cx="852785" cy="233114"/>
          </a:xfrm>
          <a:prstGeom prst="roundRect">
            <a:avLst>
              <a:gd name="adj" fmla="val 25878"/>
            </a:avLst>
          </a:prstGeom>
          <a:solidFill>
            <a:srgbClr val="142A3D"/>
          </a:solidFill>
          <a:ln w="6350">
            <a:solidFill>
              <a:srgbClr val="4ED9E6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2280394" y="1995736"/>
            <a:ext cx="719435" cy="2267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Eligibility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3289250" y="1979861"/>
            <a:ext cx="1147663" cy="233114"/>
          </a:xfrm>
          <a:prstGeom prst="roundRect">
            <a:avLst>
              <a:gd name="adj" fmla="val 25878"/>
            </a:avLst>
          </a:prstGeom>
          <a:solidFill>
            <a:srgbClr val="142A3D"/>
          </a:solidFill>
          <a:ln w="6350">
            <a:solidFill>
              <a:srgbClr val="4ED9E6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3381325" y="1995736"/>
            <a:ext cx="1014313" cy="2267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 estimate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685060" y="1979861"/>
            <a:ext cx="1199852" cy="233114"/>
          </a:xfrm>
          <a:prstGeom prst="roundRect">
            <a:avLst>
              <a:gd name="adj" fmla="val 25878"/>
            </a:avLst>
          </a:prstGeom>
          <a:solidFill>
            <a:srgbClr val="142A3D"/>
          </a:solidFill>
          <a:ln w="6350">
            <a:solidFill>
              <a:srgbClr val="4ED9E6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4777135" y="1995736"/>
            <a:ext cx="1066502" cy="2267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estimate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133058" y="1979861"/>
            <a:ext cx="1155055" cy="233114"/>
          </a:xfrm>
          <a:prstGeom prst="roundRect">
            <a:avLst>
              <a:gd name="adj" fmla="val 25878"/>
            </a:avLst>
          </a:prstGeom>
          <a:solidFill>
            <a:srgbClr val="142A3D"/>
          </a:solidFill>
          <a:ln w="6350">
            <a:solidFill>
              <a:srgbClr val="4ED9E6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6225133" y="1995736"/>
            <a:ext cx="1021705" cy="2267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Queue check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536259" y="1979861"/>
            <a:ext cx="1326455" cy="233114"/>
          </a:xfrm>
          <a:prstGeom prst="roundRect">
            <a:avLst>
              <a:gd name="adj" fmla="val 25878"/>
            </a:avLst>
          </a:prstGeom>
          <a:solidFill>
            <a:srgbClr val="142A3D"/>
          </a:solidFill>
          <a:ln w="6350">
            <a:solidFill>
              <a:srgbClr val="4ED9E6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7628334" y="1995736"/>
            <a:ext cx="1193105" cy="2267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Overload probe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9110861" y="1979861"/>
            <a:ext cx="1185069" cy="233114"/>
          </a:xfrm>
          <a:prstGeom prst="roundRect">
            <a:avLst>
              <a:gd name="adj" fmla="val 25878"/>
            </a:avLst>
          </a:prstGeom>
          <a:solidFill>
            <a:srgbClr val="142A3D"/>
          </a:solidFill>
          <a:ln w="6350">
            <a:solidFill>
              <a:srgbClr val="4ED9E6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9202936" y="1995736"/>
            <a:ext cx="1051719" cy="2267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estimate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10544076" y="1979861"/>
            <a:ext cx="850999" cy="233114"/>
          </a:xfrm>
          <a:prstGeom prst="roundRect">
            <a:avLst>
              <a:gd name="adj" fmla="val 25878"/>
            </a:avLst>
          </a:prstGeom>
          <a:solidFill>
            <a:srgbClr val="142A3D"/>
          </a:solidFill>
          <a:ln w="6350">
            <a:solidFill>
              <a:srgbClr val="4ED9E6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10636151" y="1995736"/>
            <a:ext cx="717649" cy="2267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Allocator</a:t>
            </a:r>
            <a:endParaRPr lang="en-US" sz="1200" dirty="0"/>
          </a:p>
        </p:txBody>
      </p:sp>
      <p:pic>
        <p:nvPicPr>
          <p:cNvPr id="29" name="Image 4" descr="connecto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556250" y="2266950"/>
            <a:ext cx="190500" cy="5080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758946" y="2400300"/>
            <a:ext cx="175285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calls tools</a:t>
            </a:r>
            <a:endParaRPr lang="en-US" sz="1300" dirty="0"/>
          </a:p>
        </p:txBody>
      </p:sp>
      <p:pic>
        <p:nvPicPr>
          <p:cNvPr id="31" name="Image 5" descr="connector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88050" y="2266950"/>
            <a:ext cx="190500" cy="5080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23000" y="2400300"/>
            <a:ext cx="20929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options, ETA, cost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612775" y="2720975"/>
            <a:ext cx="1263650" cy="2152650"/>
          </a:xfrm>
          <a:prstGeom prst="roundRect">
            <a:avLst>
              <a:gd name="adj" fmla="val 8794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B4C0CD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4" name="Image 6" descr="Chat"/>
          <p:cNvPicPr>
            <a:picLocks noChangeAspect="1"/>
          </p:cNvPicPr>
          <p:nvPr/>
        </p:nvPicPr>
        <p:blipFill>
          <a:blip r:embed="rId9"/>
          <a:srcRect t="-572" b="-572"/>
          <a:stretch/>
        </p:blipFill>
        <p:spPr>
          <a:xfrm>
            <a:off x="755650" y="2876550"/>
            <a:ext cx="279400" cy="276175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55650" y="3216225"/>
            <a:ext cx="1028700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9"/>
              </a:lnSpc>
              <a:buNone/>
            </a:pPr>
            <a:r>
              <a:rPr lang="en-US" sz="1383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request</a:t>
            </a:r>
            <a:endParaRPr lang="en-US" sz="1383" dirty="0"/>
          </a:p>
        </p:txBody>
      </p:sp>
      <p:sp>
        <p:nvSpPr>
          <p:cNvPr id="36" name="Text 27"/>
          <p:cNvSpPr/>
          <p:nvPr/>
        </p:nvSpPr>
        <p:spPr>
          <a:xfrm>
            <a:off x="755650" y="3701405"/>
            <a:ext cx="1028700" cy="1042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05"/>
              </a:lnSpc>
              <a:buNone/>
            </a:pPr>
            <a:r>
              <a:rPr lang="en-US" sz="1189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Group-chat message, typed into the Streamlit app</a:t>
            </a:r>
            <a:endParaRPr lang="en-US" sz="1189" dirty="0"/>
          </a:p>
        </p:txBody>
      </p:sp>
      <p:pic>
        <p:nvPicPr>
          <p:cNvPr id="37" name="Image 7" descr="connector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841500" y="3721100"/>
            <a:ext cx="419100" cy="152400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2225675" y="2720975"/>
            <a:ext cx="1517650" cy="2152650"/>
          </a:xfrm>
          <a:prstGeom prst="roundRect">
            <a:avLst>
              <a:gd name="adj" fmla="val 7322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A391FF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29"/>
          <p:cNvSpPr/>
          <p:nvPr/>
        </p:nvSpPr>
        <p:spPr>
          <a:xfrm>
            <a:off x="2368550" y="2876550"/>
            <a:ext cx="1282700" cy="2302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352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intake</a:t>
            </a:r>
            <a:endParaRPr lang="en-US" sz="1352" dirty="0"/>
          </a:p>
        </p:txBody>
      </p:sp>
      <p:sp>
        <p:nvSpPr>
          <p:cNvPr id="40" name="Text 30"/>
          <p:cNvSpPr/>
          <p:nvPr/>
        </p:nvSpPr>
        <p:spPr>
          <a:xfrm>
            <a:off x="2368550" y="3144887"/>
            <a:ext cx="1282700" cy="420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9"/>
              </a:lnSpc>
              <a:buNone/>
            </a:pPr>
            <a:r>
              <a:rPr lang="en-US" sz="1155" b="1" dirty="0">
                <a:solidFill>
                  <a:srgbClr val="A39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Sonnet 5.5</a:t>
            </a:r>
            <a:endParaRPr lang="en-US" sz="1155" dirty="0"/>
          </a:p>
        </p:txBody>
      </p:sp>
      <p:sp>
        <p:nvSpPr>
          <p:cNvPr id="41" name="Text 31"/>
          <p:cNvSpPr/>
          <p:nvPr/>
        </p:nvSpPr>
        <p:spPr>
          <a:xfrm>
            <a:off x="2368550" y="3603427"/>
            <a:ext cx="128270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4"/>
              </a:lnSpc>
              <a:buNone/>
            </a:pPr>
            <a:r>
              <a:rPr lang="en-US" sz="1151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Pulls out order, qty, deadline, preferences</a:t>
            </a:r>
            <a:endParaRPr lang="en-US" sz="1151" dirty="0"/>
          </a:p>
        </p:txBody>
      </p:sp>
      <p:sp>
        <p:nvSpPr>
          <p:cNvPr id="42" name="Text 32"/>
          <p:cNvSpPr/>
          <p:nvPr/>
        </p:nvSpPr>
        <p:spPr>
          <a:xfrm>
            <a:off x="2368550" y="4322961"/>
            <a:ext cx="1282700" cy="420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9"/>
              </a:lnSpc>
              <a:buNone/>
            </a:pPr>
            <a:r>
              <a:rPr lang="en-US" sz="1155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maths, no decisions</a:t>
            </a:r>
            <a:endParaRPr lang="en-US" sz="1155" dirty="0"/>
          </a:p>
        </p:txBody>
      </p:sp>
      <p:pic>
        <p:nvPicPr>
          <p:cNvPr id="43" name="Image 8" descr="connector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708400" y="3721100"/>
            <a:ext cx="419100" cy="152400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4095750" y="2724150"/>
            <a:ext cx="3543300" cy="2146300"/>
          </a:xfrm>
          <a:prstGeom prst="roundRect">
            <a:avLst>
              <a:gd name="adj" fmla="val 5621"/>
            </a:avLst>
          </a:prstGeom>
          <a:gradFill rotWithShape="1">
            <a:gsLst>
              <a:gs pos="0">
                <a:srgbClr val="0F5363"/>
              </a:gs>
              <a:gs pos="48000">
                <a:srgbClr val="0B3A4A"/>
              </a:gs>
              <a:gs pos="100000">
                <a:srgbClr val="0A2B3B"/>
              </a:gs>
            </a:gsLst>
            <a:lin ang="3900000" scaled="0"/>
          </a:gradFill>
          <a:ln w="12700">
            <a:solidFill>
              <a:srgbClr val="4ED9E6">
                <a:alpha val="70000"/>
              </a:srgbClr>
            </a:solidFill>
            <a:prstDash val="solid"/>
          </a:ln>
          <a:effectLst>
            <a:outerShdw blurRad="457200" dist="177800" dir="5400000" algn="bl" rotWithShape="0">
              <a:srgbClr val="030912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34"/>
          <p:cNvSpPr/>
          <p:nvPr/>
        </p:nvSpPr>
        <p:spPr>
          <a:xfrm>
            <a:off x="4279900" y="2857500"/>
            <a:ext cx="1252885" cy="269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Dispatcher ·</a:t>
            </a:r>
            <a:endParaRPr lang="en-US" sz="1600" dirty="0"/>
          </a:p>
        </p:txBody>
      </p:sp>
      <p:sp>
        <p:nvSpPr>
          <p:cNvPr id="46" name="Text 35"/>
          <p:cNvSpPr/>
          <p:nvPr/>
        </p:nvSpPr>
        <p:spPr>
          <a:xfrm>
            <a:off x="5558185" y="2857500"/>
            <a:ext cx="76090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gradFill rotWithShape="1">
                  <a:gsLst>
                    <a:gs pos="0">
                      <a:srgbClr val="6488FF"/>
                    </a:gs>
                    <a:gs pos="50000">
                      <a:srgbClr val="4ED9E6"/>
                    </a:gs>
                    <a:gs pos="100000">
                      <a:srgbClr val="23C9A7"/>
                    </a:gs>
                  </a:gsLst>
                  <a:lin ang="0" scaled="0"/>
                </a:gra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1600" dirty="0"/>
          </a:p>
        </p:txBody>
      </p:sp>
      <p:sp>
        <p:nvSpPr>
          <p:cNvPr id="47" name="Text 36"/>
          <p:cNvSpPr/>
          <p:nvPr/>
        </p:nvSpPr>
        <p:spPr>
          <a:xfrm>
            <a:off x="4279900" y="3131691"/>
            <a:ext cx="190500" cy="23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48" name="Text 37"/>
          <p:cNvSpPr/>
          <p:nvPr/>
        </p:nvSpPr>
        <p:spPr>
          <a:xfrm>
            <a:off x="4495800" y="3131691"/>
            <a:ext cx="3047873" cy="23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E6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against orders.csv</a:t>
            </a:r>
            <a:endParaRPr lang="en-US" sz="1300" dirty="0"/>
          </a:p>
        </p:txBody>
      </p:sp>
      <p:sp>
        <p:nvSpPr>
          <p:cNvPr id="49" name="Text 38"/>
          <p:cNvSpPr/>
          <p:nvPr/>
        </p:nvSpPr>
        <p:spPr>
          <a:xfrm>
            <a:off x="4279900" y="3394224"/>
            <a:ext cx="190500" cy="23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50" name="Text 39"/>
          <p:cNvSpPr/>
          <p:nvPr/>
        </p:nvSpPr>
        <p:spPr>
          <a:xfrm>
            <a:off x="4495800" y="3394224"/>
            <a:ext cx="3047873" cy="23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E6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the request type</a:t>
            </a:r>
            <a:endParaRPr lang="en-US" sz="1300" dirty="0"/>
          </a:p>
        </p:txBody>
      </p:sp>
      <p:sp>
        <p:nvSpPr>
          <p:cNvPr id="51" name="Text 40"/>
          <p:cNvSpPr/>
          <p:nvPr/>
        </p:nvSpPr>
        <p:spPr>
          <a:xfrm>
            <a:off x="4279900" y="3656757"/>
            <a:ext cx="190500" cy="23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52" name="Text 41"/>
          <p:cNvSpPr/>
          <p:nvPr/>
        </p:nvSpPr>
        <p:spPr>
          <a:xfrm>
            <a:off x="4495800" y="3656757"/>
            <a:ext cx="3047873" cy="23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E6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options, score, pick</a:t>
            </a:r>
            <a:endParaRPr lang="en-US" sz="1300" dirty="0"/>
          </a:p>
        </p:txBody>
      </p:sp>
      <p:sp>
        <p:nvSpPr>
          <p:cNvPr id="53" name="Text 42"/>
          <p:cNvSpPr/>
          <p:nvPr/>
        </p:nvSpPr>
        <p:spPr>
          <a:xfrm>
            <a:off x="4279900" y="3919289"/>
            <a:ext cx="190500" cy="23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54" name="Text 43"/>
          <p:cNvSpPr/>
          <p:nvPr/>
        </p:nvSpPr>
        <p:spPr>
          <a:xfrm>
            <a:off x="4495800" y="3919289"/>
            <a:ext cx="3047873" cy="23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E6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using a template</a:t>
            </a:r>
            <a:endParaRPr lang="en-US" sz="1300" dirty="0"/>
          </a:p>
        </p:txBody>
      </p:sp>
      <p:sp>
        <p:nvSpPr>
          <p:cNvPr id="55" name="Text 44"/>
          <p:cNvSpPr/>
          <p:nvPr/>
        </p:nvSpPr>
        <p:spPr>
          <a:xfrm>
            <a:off x="4279900" y="4181822"/>
            <a:ext cx="190500" cy="23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sp>
        <p:nvSpPr>
          <p:cNvPr id="56" name="Text 45"/>
          <p:cNvSpPr/>
          <p:nvPr/>
        </p:nvSpPr>
        <p:spPr>
          <a:xfrm>
            <a:off x="4495800" y="4181822"/>
            <a:ext cx="3047873" cy="23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E6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every number vs tools</a:t>
            </a:r>
            <a:endParaRPr lang="en-US" sz="1300" dirty="0"/>
          </a:p>
        </p:txBody>
      </p:sp>
      <p:sp>
        <p:nvSpPr>
          <p:cNvPr id="57" name="Shape 46"/>
          <p:cNvSpPr/>
          <p:nvPr/>
        </p:nvSpPr>
        <p:spPr>
          <a:xfrm>
            <a:off x="4279900" y="4495155"/>
            <a:ext cx="755650" cy="241945"/>
          </a:xfrm>
          <a:prstGeom prst="roundRect">
            <a:avLst>
              <a:gd name="adj" fmla="val 26246"/>
            </a:avLst>
          </a:prstGeom>
          <a:solidFill>
            <a:srgbClr val="23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47"/>
          <p:cNvSpPr/>
          <p:nvPr/>
        </p:nvSpPr>
        <p:spPr>
          <a:xfrm>
            <a:off x="4254500" y="4520555"/>
            <a:ext cx="806450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Allocate</a:t>
            </a:r>
            <a:endParaRPr lang="en-US" sz="1200" dirty="0"/>
          </a:p>
        </p:txBody>
      </p:sp>
      <p:sp>
        <p:nvSpPr>
          <p:cNvPr id="59" name="Shape 48"/>
          <p:cNvSpPr/>
          <p:nvPr/>
        </p:nvSpPr>
        <p:spPr>
          <a:xfrm>
            <a:off x="5086350" y="4495155"/>
            <a:ext cx="755650" cy="241945"/>
          </a:xfrm>
          <a:prstGeom prst="roundRect">
            <a:avLst>
              <a:gd name="adj" fmla="val 26246"/>
            </a:avLst>
          </a:prstGeom>
          <a:solidFill>
            <a:srgbClr val="F4B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49"/>
          <p:cNvSpPr/>
          <p:nvPr/>
        </p:nvSpPr>
        <p:spPr>
          <a:xfrm>
            <a:off x="5060950" y="4520555"/>
            <a:ext cx="806450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Clarify</a:t>
            </a:r>
            <a:endParaRPr lang="en-US" sz="1200" dirty="0"/>
          </a:p>
        </p:txBody>
      </p:sp>
      <p:sp>
        <p:nvSpPr>
          <p:cNvPr id="61" name="Shape 50"/>
          <p:cNvSpPr/>
          <p:nvPr/>
        </p:nvSpPr>
        <p:spPr>
          <a:xfrm>
            <a:off x="5892800" y="4495155"/>
            <a:ext cx="755650" cy="241945"/>
          </a:xfrm>
          <a:prstGeom prst="roundRect">
            <a:avLst>
              <a:gd name="adj" fmla="val 26246"/>
            </a:avLst>
          </a:prstGeom>
          <a:solidFill>
            <a:srgbClr val="FF7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1"/>
          <p:cNvSpPr/>
          <p:nvPr/>
        </p:nvSpPr>
        <p:spPr>
          <a:xfrm>
            <a:off x="5867400" y="4520555"/>
            <a:ext cx="806450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Refuse</a:t>
            </a:r>
            <a:endParaRPr lang="en-US" sz="1200" dirty="0"/>
          </a:p>
        </p:txBody>
      </p:sp>
      <p:sp>
        <p:nvSpPr>
          <p:cNvPr id="63" name="Shape 52"/>
          <p:cNvSpPr/>
          <p:nvPr/>
        </p:nvSpPr>
        <p:spPr>
          <a:xfrm>
            <a:off x="6699250" y="4495155"/>
            <a:ext cx="755650" cy="241945"/>
          </a:xfrm>
          <a:prstGeom prst="roundRect">
            <a:avLst>
              <a:gd name="adj" fmla="val 26246"/>
            </a:avLst>
          </a:prstGeom>
          <a:solidFill>
            <a:srgbClr val="8FA3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3"/>
          <p:cNvSpPr/>
          <p:nvPr/>
        </p:nvSpPr>
        <p:spPr>
          <a:xfrm>
            <a:off x="6673850" y="4520555"/>
            <a:ext cx="806450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Decline</a:t>
            </a:r>
            <a:endParaRPr lang="en-US" sz="1200" dirty="0"/>
          </a:p>
        </p:txBody>
      </p:sp>
      <p:pic>
        <p:nvPicPr>
          <p:cNvPr id="65" name="Image 9" descr="connector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607300" y="3721100"/>
            <a:ext cx="419100" cy="152400"/>
          </a:xfrm>
          <a:prstGeom prst="rect">
            <a:avLst/>
          </a:prstGeom>
        </p:spPr>
      </p:pic>
      <p:sp>
        <p:nvSpPr>
          <p:cNvPr id="66" name="Shape 54"/>
          <p:cNvSpPr/>
          <p:nvPr/>
        </p:nvSpPr>
        <p:spPr>
          <a:xfrm>
            <a:off x="7991475" y="2720975"/>
            <a:ext cx="1708150" cy="2152650"/>
          </a:xfrm>
          <a:prstGeom prst="roundRect">
            <a:avLst>
              <a:gd name="adj" fmla="val 6506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4AD889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7" name="Image 10" descr="Users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134350" y="2876550"/>
            <a:ext cx="279400" cy="279400"/>
          </a:xfrm>
          <a:prstGeom prst="rect">
            <a:avLst/>
          </a:prstGeom>
        </p:spPr>
      </p:pic>
      <p:sp>
        <p:nvSpPr>
          <p:cNvPr id="68" name="Text 55"/>
          <p:cNvSpPr/>
          <p:nvPr/>
        </p:nvSpPr>
        <p:spPr>
          <a:xfrm>
            <a:off x="8134350" y="3219450"/>
            <a:ext cx="147320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review</a:t>
            </a:r>
            <a:endParaRPr lang="en-US" sz="1400" dirty="0"/>
          </a:p>
        </p:txBody>
      </p:sp>
      <p:sp>
        <p:nvSpPr>
          <p:cNvPr id="69" name="Text 56"/>
          <p:cNvSpPr/>
          <p:nvPr/>
        </p:nvSpPr>
        <p:spPr>
          <a:xfrm>
            <a:off x="8134350" y="3496270"/>
            <a:ext cx="1473200" cy="64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Sees every option, warning and reason</a:t>
            </a:r>
            <a:endParaRPr lang="en-US" sz="1200" dirty="0"/>
          </a:p>
        </p:txBody>
      </p:sp>
      <p:sp>
        <p:nvSpPr>
          <p:cNvPr id="70" name="Text 57"/>
          <p:cNvSpPr/>
          <p:nvPr/>
        </p:nvSpPr>
        <p:spPr>
          <a:xfrm>
            <a:off x="8134350" y="4306590"/>
            <a:ext cx="1473200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AD8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Confirms. Never auto-dispatches.</a:t>
            </a:r>
            <a:endParaRPr lang="en-US" sz="1200" dirty="0"/>
          </a:p>
        </p:txBody>
      </p:sp>
      <p:pic>
        <p:nvPicPr>
          <p:cNvPr id="71" name="Image 11" descr="connector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664700" y="3721100"/>
            <a:ext cx="419100" cy="152400"/>
          </a:xfrm>
          <a:prstGeom prst="rect">
            <a:avLst/>
          </a:prstGeom>
        </p:spPr>
      </p:pic>
      <p:sp>
        <p:nvSpPr>
          <p:cNvPr id="72" name="Shape 58"/>
          <p:cNvSpPr/>
          <p:nvPr/>
        </p:nvSpPr>
        <p:spPr>
          <a:xfrm>
            <a:off x="10048875" y="2720975"/>
            <a:ext cx="1530350" cy="2152650"/>
          </a:xfrm>
          <a:prstGeom prst="roundRect">
            <a:avLst>
              <a:gd name="adj" fmla="val 7261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23C9A7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3" name="Image 12" descr="Book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191750" y="2876550"/>
            <a:ext cx="279400" cy="279400"/>
          </a:xfrm>
          <a:prstGeom prst="rect">
            <a:avLst/>
          </a:prstGeom>
        </p:spPr>
      </p:pic>
      <p:sp>
        <p:nvSpPr>
          <p:cNvPr id="74" name="Text 59"/>
          <p:cNvSpPr/>
          <p:nvPr/>
        </p:nvSpPr>
        <p:spPr>
          <a:xfrm>
            <a:off x="10191750" y="3219450"/>
            <a:ext cx="129540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log</a:t>
            </a:r>
            <a:endParaRPr lang="en-US" sz="1400" dirty="0"/>
          </a:p>
        </p:txBody>
      </p:sp>
      <p:sp>
        <p:nvSpPr>
          <p:cNvPr id="75" name="Text 60"/>
          <p:cNvSpPr/>
          <p:nvPr/>
        </p:nvSpPr>
        <p:spPr>
          <a:xfrm>
            <a:off x="10191750" y="3496270"/>
            <a:ext cx="1295400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23C9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JSONL</a:t>
            </a:r>
            <a:r>
              <a:rPr lang="en-US" sz="12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saved only on Confirm</a:t>
            </a:r>
            <a:endParaRPr lang="en-US" sz="1200" dirty="0"/>
          </a:p>
        </p:txBody>
      </p:sp>
      <p:sp>
        <p:nvSpPr>
          <p:cNvPr id="76" name="Text 61"/>
          <p:cNvSpPr/>
          <p:nvPr/>
        </p:nvSpPr>
        <p:spPr>
          <a:xfrm>
            <a:off x="10191750" y="4100860"/>
            <a:ext cx="1295400" cy="64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asked, options, why it won, when</a:t>
            </a:r>
            <a:endParaRPr lang="en-US" sz="1200" dirty="0"/>
          </a:p>
        </p:txBody>
      </p:sp>
      <p:pic>
        <p:nvPicPr>
          <p:cNvPr id="77" name="Image 13" descr="connector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181100" y="4838700"/>
            <a:ext cx="3124200" cy="266700"/>
          </a:xfrm>
          <a:prstGeom prst="rect">
            <a:avLst/>
          </a:prstGeom>
        </p:spPr>
      </p:pic>
      <p:pic>
        <p:nvPicPr>
          <p:cNvPr id="78" name="Image 14" descr="connector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181100" y="4851400"/>
            <a:ext cx="127000" cy="254000"/>
          </a:xfrm>
          <a:prstGeom prst="rect">
            <a:avLst/>
          </a:prstGeom>
        </p:spPr>
      </p:pic>
      <p:sp>
        <p:nvSpPr>
          <p:cNvPr id="79" name="Text 62"/>
          <p:cNvSpPr/>
          <p:nvPr/>
        </p:nvSpPr>
        <p:spPr>
          <a:xfrm>
            <a:off x="1397000" y="5105400"/>
            <a:ext cx="274701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8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Clarify · Refuse · Decline: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8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reply to sender</a:t>
            </a:r>
            <a:endParaRPr lang="en-US" sz="1200" dirty="0"/>
          </a:p>
        </p:txBody>
      </p:sp>
      <p:pic>
        <p:nvPicPr>
          <p:cNvPr id="80" name="Image 15" descr="connector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988050" y="4819650"/>
            <a:ext cx="190500" cy="419100"/>
          </a:xfrm>
          <a:prstGeom prst="rect">
            <a:avLst/>
          </a:prstGeom>
        </p:spPr>
      </p:pic>
      <p:sp>
        <p:nvSpPr>
          <p:cNvPr id="81" name="Shape 63"/>
          <p:cNvSpPr/>
          <p:nvPr/>
        </p:nvSpPr>
        <p:spPr>
          <a:xfrm>
            <a:off x="4384675" y="5184775"/>
            <a:ext cx="3257550" cy="628650"/>
          </a:xfrm>
          <a:prstGeom prst="roundRect">
            <a:avLst>
              <a:gd name="adj" fmla="val 15657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B4C0CD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2" name="Image 16" descr="Database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4527550" y="5372100"/>
            <a:ext cx="254000" cy="254000"/>
          </a:xfrm>
          <a:prstGeom prst="rect">
            <a:avLst/>
          </a:prstGeom>
        </p:spPr>
      </p:pic>
      <p:sp>
        <p:nvSpPr>
          <p:cNvPr id="83" name="Text 64"/>
          <p:cNvSpPr/>
          <p:nvPr/>
        </p:nvSpPr>
        <p:spPr>
          <a:xfrm>
            <a:off x="4883150" y="5301010"/>
            <a:ext cx="2694686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DCE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Data:</a:t>
            </a:r>
            <a:r>
              <a:rPr lang="en-US" sz="1200" dirty="0">
                <a:solidFill>
                  <a:srgbClr val="DCE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orders.csv ·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DCE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workshops.csv · session history</a:t>
            </a:r>
            <a:endParaRPr lang="en-US" sz="1200" dirty="0"/>
          </a:p>
        </p:txBody>
      </p:sp>
      <p:pic>
        <p:nvPicPr>
          <p:cNvPr id="84" name="Image 17" descr="connector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0737850" y="4838700"/>
            <a:ext cx="152400" cy="381000"/>
          </a:xfrm>
          <a:prstGeom prst="rect">
            <a:avLst/>
          </a:prstGeom>
        </p:spPr>
      </p:pic>
      <p:sp>
        <p:nvSpPr>
          <p:cNvPr id="85" name="Shape 65"/>
          <p:cNvSpPr/>
          <p:nvPr/>
        </p:nvSpPr>
        <p:spPr>
          <a:xfrm>
            <a:off x="7991475" y="5184775"/>
            <a:ext cx="3587750" cy="806450"/>
          </a:xfrm>
          <a:prstGeom prst="roundRect">
            <a:avLst>
              <a:gd name="adj" fmla="val 12205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7F9CFF">
                <a:alpha val="34000"/>
              </a:srgbClr>
            </a:solidFill>
            <a:prstDash val="dash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6" name="Text 66"/>
          <p:cNvSpPr/>
          <p:nvPr/>
        </p:nvSpPr>
        <p:spPr>
          <a:xfrm>
            <a:off x="8147050" y="5276850"/>
            <a:ext cx="3374898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159" b="1" kern="0" spc="150" dirty="0">
                <a:solidFill>
                  <a:srgbClr val="7F9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</a:t>
            </a:r>
            <a:endParaRPr lang="en-US" sz="1159" dirty="0"/>
          </a:p>
        </p:txBody>
      </p:sp>
      <p:sp>
        <p:nvSpPr>
          <p:cNvPr id="87" name="Text 67"/>
          <p:cNvSpPr/>
          <p:nvPr/>
        </p:nvSpPr>
        <p:spPr>
          <a:xfrm>
            <a:off x="8147050" y="5502275"/>
            <a:ext cx="3374898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72"/>
              </a:lnSpc>
              <a:buNone/>
            </a:pPr>
            <a:r>
              <a:rPr lang="en-US" sz="1133" b="1" dirty="0">
                <a:solidFill>
                  <a:srgbClr val="DCE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· Simulator:</a:t>
            </a:r>
            <a:r>
              <a:rPr lang="en-US" sz="1133" dirty="0">
                <a:solidFill>
                  <a:srgbClr val="DCE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allocator, 120 orders</a:t>
            </a:r>
            <a:endParaRPr lang="en-US" sz="1133" dirty="0"/>
          </a:p>
        </p:txBody>
      </p:sp>
      <p:sp>
        <p:nvSpPr>
          <p:cNvPr id="88" name="Text 68"/>
          <p:cNvSpPr/>
          <p:nvPr/>
        </p:nvSpPr>
        <p:spPr>
          <a:xfrm>
            <a:off x="8147050" y="5713413"/>
            <a:ext cx="3374898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72"/>
              </a:lnSpc>
              <a:buNone/>
            </a:pPr>
            <a:r>
              <a:rPr lang="en-US" sz="1133" b="1" dirty="0">
                <a:solidFill>
                  <a:srgbClr val="DCE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· Inbox:</a:t>
            </a:r>
            <a:r>
              <a:rPr lang="en-US" sz="1133" dirty="0">
                <a:solidFill>
                  <a:srgbClr val="DCE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full chain vs human labels</a:t>
            </a:r>
            <a:endParaRPr lang="en-US" sz="1133" dirty="0"/>
          </a:p>
        </p:txBody>
      </p:sp>
      <p:sp>
        <p:nvSpPr>
          <p:cNvPr id="89" name="Text 69"/>
          <p:cNvSpPr/>
          <p:nvPr/>
        </p:nvSpPr>
        <p:spPr>
          <a:xfrm>
            <a:off x="812800" y="6236990"/>
            <a:ext cx="1440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2 · Sprint 1</a:t>
            </a:r>
            <a:endParaRPr lang="en-US" sz="1200" dirty="0"/>
          </a:p>
        </p:txBody>
      </p:sp>
      <p:sp>
        <p:nvSpPr>
          <p:cNvPr id="90" name="Text 70"/>
          <p:cNvSpPr/>
          <p:nvPr/>
        </p:nvSpPr>
        <p:spPr>
          <a:xfrm>
            <a:off x="10655955" y="6236990"/>
            <a:ext cx="7232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r>
              <a:rPr lang="en-US" sz="1400" b="1" kern="0" spc="1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BUSINESS VALUE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883392" cy="395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12"/>
              </a:lnSpc>
              <a:buNone/>
            </a:pPr>
            <a:r>
              <a:rPr lang="en-US" sz="2600" b="1" i="0" kern="0" spc="-5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business gains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1739454"/>
            <a:ext cx="5213350" cy="1393130"/>
          </a:xfrm>
          <a:prstGeom prst="roundRect">
            <a:avLst>
              <a:gd name="adj" fmla="val 7977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4ED9E6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47750" y="1933129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4ED9E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Light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3000" y="2028379"/>
            <a:ext cx="215900" cy="215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81150" y="1982639"/>
            <a:ext cx="2173796" cy="3327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>
              <a:lnSpc>
                <a:spcPts val="2420"/>
              </a:lnSpc>
            </a:pPr>
            <a:r>
              <a:rPr lang="en-US" sz="2200" b="1" kern="0" spc="-50" dirty="0">
                <a:gradFill rotWithShape="1">
                  <a:gsLst>
                    <a:gs pos="0">
                      <a:srgbClr val="6488FF"/>
                    </a:gs>
                    <a:gs pos="50000">
                      <a:srgbClr val="4ED9E6"/>
                    </a:gs>
                    <a:gs pos="100000">
                      <a:srgbClr val="23C9A7"/>
                    </a:gs>
                  </a:gsLst>
                  <a:lin ang="0" scaled="0"/>
                </a:gradFill>
                <a:latin typeface="Inter" pitchFamily="34" charset="0"/>
                <a:ea typeface="Inter" pitchFamily="34" charset="-122"/>
                <a:cs typeface="Inter" pitchFamily="34" charset="-120"/>
              </a:rPr>
              <a:t>Faster decisions</a:t>
            </a:r>
            <a:endParaRPr lang="en-US" sz="2200" dirty="0"/>
          </a:p>
          <a:p>
            <a:pPr marL="0" indent="0" algn="l">
              <a:lnSpc>
                <a:spcPts val="2420"/>
              </a:lnSpc>
              <a:buNone/>
            </a:pP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47750" y="2441129"/>
            <a:ext cx="489229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960"/>
              </a:lnSpc>
            </a:pPr>
            <a:r>
              <a:rPr lang="en-US" sz="1400" dirty="0">
                <a:solidFill>
                  <a:srgbClr val="D3DC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checked recommendation in minutes, not a search through notes and chats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62675" y="1739454"/>
            <a:ext cx="5213350" cy="1393130"/>
          </a:xfrm>
          <a:prstGeom prst="roundRect">
            <a:avLst>
              <a:gd name="adj" fmla="val 7977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7F9CFF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394450" y="1933129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4ED9E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Clo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89700" y="2028379"/>
            <a:ext cx="215900" cy="215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27850" y="1982639"/>
            <a:ext cx="2296124" cy="3327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>
              <a:lnSpc>
                <a:spcPts val="2420"/>
              </a:lnSpc>
            </a:pPr>
            <a:r>
              <a:rPr lang="en-US" sz="2200" b="1" kern="0" spc="-50" dirty="0">
                <a:gradFill rotWithShape="1">
                  <a:gsLst>
                    <a:gs pos="0">
                      <a:srgbClr val="6488FF"/>
                    </a:gs>
                    <a:gs pos="50000">
                      <a:srgbClr val="4ED9E6"/>
                    </a:gs>
                    <a:gs pos="100000">
                      <a:srgbClr val="23C9A7"/>
                    </a:gs>
                  </a:gsLst>
                  <a:lin ang="0" scaled="0"/>
                </a:gradFill>
                <a:latin typeface="Inter" pitchFamily="34" charset="0"/>
                <a:ea typeface="Inter" pitchFamily="34" charset="-122"/>
                <a:cs typeface="Inter" pitchFamily="34" charset="-120"/>
              </a:rPr>
              <a:t>Fewer late orders</a:t>
            </a:r>
            <a:endParaRPr lang="en-US" sz="2200" dirty="0"/>
          </a:p>
          <a:p>
            <a:pPr marL="0" indent="0" algn="l">
              <a:lnSpc>
                <a:spcPts val="2420"/>
              </a:lnSpc>
              <a:buNone/>
            </a:pP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394450" y="2441129"/>
            <a:ext cx="489229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960"/>
              </a:lnSpc>
            </a:pPr>
            <a:r>
              <a:rPr lang="en-US" sz="1400" dirty="0">
                <a:solidFill>
                  <a:srgbClr val="D3DC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pick is checked against capacity, rules and queues before it goes out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5975" y="3265934"/>
            <a:ext cx="2851150" cy="1516261"/>
          </a:xfrm>
          <a:prstGeom prst="roundRect">
            <a:avLst>
              <a:gd name="adj" fmla="val 7329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23C9A7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Search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96950" y="3434209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6950" y="3739009"/>
            <a:ext cx="2563876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traceable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96950" y="4048869"/>
            <a:ext cx="256387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3DC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decision saved with who asked, the options and why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3800475" y="3265934"/>
            <a:ext cx="2851150" cy="1516261"/>
          </a:xfrm>
          <a:prstGeom prst="roundRect">
            <a:avLst>
              <a:gd name="adj" fmla="val 7329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A391FF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Users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981450" y="3434209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981450" y="3739009"/>
            <a:ext cx="2563876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stay in control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3981450" y="4048869"/>
            <a:ext cx="256387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3DC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is sent until a person confirms it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784975" y="3265934"/>
            <a:ext cx="2228850" cy="1516261"/>
          </a:xfrm>
          <a:prstGeom prst="roundRect">
            <a:avLst>
              <a:gd name="adj" fmla="val 7329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4AD889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4" descr="Trust"/>
          <p:cNvPicPr>
            <a:picLocks noChangeAspect="1"/>
          </p:cNvPicPr>
          <p:nvPr/>
        </p:nvPicPr>
        <p:blipFill>
          <a:blip r:embed="rId7"/>
          <a:srcRect l="-319" r="-319"/>
          <a:stretch/>
        </p:blipFill>
        <p:spPr>
          <a:xfrm>
            <a:off x="6927850" y="3421509"/>
            <a:ext cx="203200" cy="20191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27850" y="3686919"/>
            <a:ext cx="2001393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75"/>
              </a:lnSpc>
              <a:buNone/>
            </a:pPr>
            <a:r>
              <a:rPr lang="en-US" sz="1396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at scale</a:t>
            </a:r>
            <a:endParaRPr lang="en-US" sz="1396" dirty="0"/>
          </a:p>
        </p:txBody>
      </p:sp>
      <p:sp>
        <p:nvSpPr>
          <p:cNvPr id="25" name="Text 18"/>
          <p:cNvSpPr/>
          <p:nvPr/>
        </p:nvSpPr>
        <p:spPr>
          <a:xfrm>
            <a:off x="6927850" y="3962350"/>
            <a:ext cx="2001393" cy="689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D3DC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workshop overloads or closes, queue jumps are spotted and work is rerouted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9147175" y="3265934"/>
            <a:ext cx="2228850" cy="1516261"/>
          </a:xfrm>
          <a:prstGeom prst="roundRect">
            <a:avLst>
              <a:gd name="adj" fmla="val 7329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4ED9E6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5" descr="Chat"/>
          <p:cNvPicPr>
            <a:picLocks noChangeAspect="1"/>
          </p:cNvPicPr>
          <p:nvPr/>
        </p:nvPicPr>
        <p:blipFill>
          <a:blip r:embed="rId8"/>
          <a:srcRect l="-319" r="-319"/>
          <a:stretch/>
        </p:blipFill>
        <p:spPr>
          <a:xfrm>
            <a:off x="9290050" y="3421509"/>
            <a:ext cx="203200" cy="20191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290050" y="3686919"/>
            <a:ext cx="2001393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75"/>
              </a:lnSpc>
              <a:buNone/>
            </a:pPr>
            <a:r>
              <a:rPr lang="en-US" sz="1396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guessing</a:t>
            </a:r>
            <a:endParaRPr lang="en-US" sz="1396" dirty="0"/>
          </a:p>
        </p:txBody>
      </p:sp>
      <p:sp>
        <p:nvSpPr>
          <p:cNvPr id="29" name="Text 21"/>
          <p:cNvSpPr/>
          <p:nvPr/>
        </p:nvSpPr>
        <p:spPr>
          <a:xfrm>
            <a:off x="9290050" y="3962350"/>
            <a:ext cx="2001393" cy="689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D3DC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Asks, refuses or says "we don't know" instead of making up an answer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815975" y="5017145"/>
            <a:ext cx="10560050" cy="821680"/>
          </a:xfrm>
          <a:prstGeom prst="roundRect">
            <a:avLst>
              <a:gd name="adj" fmla="val 13524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7F9CFF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/>
          <p:nvPr/>
        </p:nvSpPr>
        <p:spPr>
          <a:xfrm>
            <a:off x="1047750" y="5229870"/>
            <a:ext cx="113030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100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100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BENEFITS</a:t>
            </a:r>
            <a:endParaRPr lang="en-US" sz="1200" dirty="0"/>
          </a:p>
        </p:txBody>
      </p:sp>
      <p:pic>
        <p:nvPicPr>
          <p:cNvPr id="32" name="Image 6" descr="Wrench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381250" y="5250160"/>
            <a:ext cx="355600" cy="3556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2851150" y="5172720"/>
            <a:ext cx="20967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Dispatchers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2851150" y="5452120"/>
            <a:ext cx="244286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3DC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spend less time searching</a:t>
            </a:r>
            <a:endParaRPr lang="en-US" sz="1300" dirty="0"/>
          </a:p>
        </p:txBody>
      </p:sp>
      <p:pic>
        <p:nvPicPr>
          <p:cNvPr id="35" name="Image 7" descr="Chart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386884" y="5250160"/>
            <a:ext cx="355600" cy="35560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856784" y="5172720"/>
            <a:ext cx="19312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Managers</a:t>
            </a:r>
            <a:endParaRPr lang="en-US" sz="1500" dirty="0"/>
          </a:p>
        </p:txBody>
      </p:sp>
      <p:sp>
        <p:nvSpPr>
          <p:cNvPr id="37" name="Text 27"/>
          <p:cNvSpPr/>
          <p:nvPr/>
        </p:nvSpPr>
        <p:spPr>
          <a:xfrm>
            <a:off x="5856784" y="5452120"/>
            <a:ext cx="225004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3DC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review any decision</a:t>
            </a:r>
            <a:endParaRPr lang="en-US" sz="1300" dirty="0"/>
          </a:p>
        </p:txBody>
      </p:sp>
      <p:pic>
        <p:nvPicPr>
          <p:cNvPr id="38" name="Image 8" descr="ThumbsUp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92567" y="5250160"/>
            <a:ext cx="355600" cy="35560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862467" y="5172720"/>
            <a:ext cx="147811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</a:t>
            </a:r>
            <a:endParaRPr lang="en-US" sz="1500" dirty="0"/>
          </a:p>
        </p:txBody>
      </p:sp>
      <p:sp>
        <p:nvSpPr>
          <p:cNvPr id="40" name="Text 29"/>
          <p:cNvSpPr/>
          <p:nvPr/>
        </p:nvSpPr>
        <p:spPr>
          <a:xfrm>
            <a:off x="8862467" y="5452120"/>
            <a:ext cx="171277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3DC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orders on time</a:t>
            </a:r>
            <a:endParaRPr lang="en-US" sz="1300" dirty="0"/>
          </a:p>
        </p:txBody>
      </p:sp>
      <p:sp>
        <p:nvSpPr>
          <p:cNvPr id="41" name="Text 30"/>
          <p:cNvSpPr/>
          <p:nvPr/>
        </p:nvSpPr>
        <p:spPr>
          <a:xfrm>
            <a:off x="812800" y="6236990"/>
            <a:ext cx="1440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2 · Sprint 1</a:t>
            </a:r>
            <a:endParaRPr lang="en-US" sz="1200" dirty="0"/>
          </a:p>
        </p:txBody>
      </p:sp>
      <p:sp>
        <p:nvSpPr>
          <p:cNvPr id="42" name="Text 31"/>
          <p:cNvSpPr/>
          <p:nvPr/>
        </p:nvSpPr>
        <p:spPr>
          <a:xfrm>
            <a:off x="10665599" y="6236990"/>
            <a:ext cx="7136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r>
              <a:rPr lang="en-US" sz="1400" b="1" kern="0" spc="1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SPRINT 1 PROGRESS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883392" cy="395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12"/>
              </a:lnSpc>
              <a:buNone/>
            </a:pPr>
            <a:r>
              <a:rPr lang="en-US" sz="2600" b="1" i="0" kern="0" spc="-5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plan and core logic </a:t>
            </a:r>
            <a:r>
              <a:rPr lang="en-US" b="1" kern="0" spc="-50" dirty="0"/>
              <a:t>are</a:t>
            </a:r>
            <a:r>
              <a:rPr lang="en-US" sz="2600" b="1" i="0" kern="0" spc="-5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place, the app and testing come next</a:t>
            </a:r>
            <a:endParaRPr lang="en-US" sz="2600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AD35B86-51CC-327E-F18F-2AF47C0999E8}"/>
              </a:ext>
            </a:extLst>
          </p:cNvPr>
          <p:cNvGrpSpPr/>
          <p:nvPr/>
        </p:nvGrpSpPr>
        <p:grpSpPr>
          <a:xfrm>
            <a:off x="1877247" y="1913463"/>
            <a:ext cx="8527802" cy="339080"/>
            <a:chOff x="815975" y="1714054"/>
            <a:chExt cx="8527802" cy="339080"/>
          </a:xfrm>
        </p:grpSpPr>
        <p:sp>
          <p:nvSpPr>
            <p:cNvPr id="4" name="Shape 2"/>
            <p:cNvSpPr/>
            <p:nvPr/>
          </p:nvSpPr>
          <p:spPr>
            <a:xfrm>
              <a:off x="815975" y="1714054"/>
              <a:ext cx="1037729" cy="339080"/>
            </a:xfrm>
            <a:prstGeom prst="roundRect">
              <a:avLst>
                <a:gd name="adj" fmla="val 50000"/>
              </a:avLst>
            </a:prstGeom>
            <a:solidFill>
              <a:srgbClr val="4AD889">
                <a:alpha val="16000"/>
              </a:srgbClr>
            </a:solidFill>
            <a:ln w="6350">
              <a:solidFill>
                <a:srgbClr val="4AD889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" name="Image 0" descr="CheckCircle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920750" y="1788319"/>
              <a:ext cx="190500" cy="190500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1187450" y="1768029"/>
              <a:ext cx="628055" cy="2565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820"/>
                </a:lnSpc>
                <a:buNone/>
              </a:pPr>
              <a:r>
                <a:rPr lang="en-US" sz="1300" b="1" kern="0" spc="100" dirty="0">
                  <a:solidFill>
                    <a:srgbClr val="4AD889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DONE</a:t>
              </a:r>
              <a:endParaRPr lang="en-US" sz="130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4397375" y="1714054"/>
              <a:ext cx="1367135" cy="339080"/>
            </a:xfrm>
            <a:prstGeom prst="roundRect">
              <a:avLst>
                <a:gd name="adj" fmla="val 50000"/>
              </a:avLst>
            </a:prstGeom>
            <a:solidFill>
              <a:srgbClr val="4ED9E6">
                <a:alpha val="16000"/>
              </a:srgbClr>
            </a:solidFill>
            <a:ln w="6350">
              <a:solidFill>
                <a:srgbClr val="4ED9E6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0" name="Image 1" descr="Activity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4502150" y="1788319"/>
              <a:ext cx="190500" cy="190500"/>
            </a:xfrm>
            <a:prstGeom prst="rect">
              <a:avLst/>
            </a:prstGeom>
          </p:spPr>
        </p:pic>
        <p:sp>
          <p:nvSpPr>
            <p:cNvPr id="21" name="Text 17"/>
            <p:cNvSpPr/>
            <p:nvPr/>
          </p:nvSpPr>
          <p:spPr>
            <a:xfrm>
              <a:off x="4768850" y="1768029"/>
              <a:ext cx="992485" cy="2565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820"/>
                </a:lnSpc>
                <a:buNone/>
              </a:pPr>
              <a:r>
                <a:rPr lang="en-US" sz="1300" b="1" kern="0" spc="100" dirty="0">
                  <a:solidFill>
                    <a:srgbClr val="4ED9E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STARTED</a:t>
              </a:r>
              <a:endParaRPr lang="en-US" sz="1300" dirty="0"/>
            </a:p>
          </p:txBody>
        </p:sp>
        <p:sp>
          <p:nvSpPr>
            <p:cNvPr id="39" name="Shape 35"/>
            <p:cNvSpPr/>
            <p:nvPr/>
          </p:nvSpPr>
          <p:spPr>
            <a:xfrm>
              <a:off x="7978775" y="1714054"/>
              <a:ext cx="1365002" cy="339080"/>
            </a:xfrm>
            <a:prstGeom prst="roundRect">
              <a:avLst>
                <a:gd name="adj" fmla="val 50000"/>
              </a:avLst>
            </a:prstGeom>
            <a:solidFill>
              <a:srgbClr val="B8C7D9">
                <a:alpha val="16000"/>
              </a:srgbClr>
            </a:solidFill>
            <a:ln w="6350">
              <a:solidFill>
                <a:srgbClr val="B8C7D9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0" name="Image 2" descr="Clock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8083550" y="1788319"/>
              <a:ext cx="190500" cy="190500"/>
            </a:xfrm>
            <a:prstGeom prst="rect">
              <a:avLst/>
            </a:prstGeom>
          </p:spPr>
        </p:pic>
        <p:sp>
          <p:nvSpPr>
            <p:cNvPr id="41" name="Text 36"/>
            <p:cNvSpPr/>
            <p:nvPr/>
          </p:nvSpPr>
          <p:spPr>
            <a:xfrm>
              <a:off x="8350250" y="1768029"/>
              <a:ext cx="990352" cy="2565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820"/>
                </a:lnSpc>
                <a:buNone/>
              </a:pPr>
              <a:r>
                <a:rPr lang="en-US" sz="1300" b="1" kern="0" spc="100" dirty="0">
                  <a:solidFill>
                    <a:srgbClr val="C9D6E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SPRINT 2</a:t>
              </a:r>
              <a:endParaRPr lang="en-US" sz="1300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6CAC077-8952-A040-D0A2-26E4A0A3C0C4}"/>
              </a:ext>
            </a:extLst>
          </p:cNvPr>
          <p:cNvGrpSpPr/>
          <p:nvPr/>
        </p:nvGrpSpPr>
        <p:grpSpPr>
          <a:xfrm>
            <a:off x="815975" y="2513464"/>
            <a:ext cx="10560050" cy="3126581"/>
            <a:chOff x="815975" y="2712244"/>
            <a:chExt cx="10560050" cy="3126581"/>
          </a:xfrm>
        </p:grpSpPr>
        <p:sp>
          <p:nvSpPr>
            <p:cNvPr id="8" name="Shape 5"/>
            <p:cNvSpPr/>
            <p:nvPr/>
          </p:nvSpPr>
          <p:spPr>
            <a:xfrm>
              <a:off x="815975" y="2712244"/>
              <a:ext cx="3397250" cy="3126581"/>
            </a:xfrm>
            <a:prstGeom prst="roundRect">
              <a:avLst>
                <a:gd name="adj" fmla="val 3554"/>
              </a:avLst>
            </a:prstGeom>
            <a:gradFill rotWithShape="1">
              <a:gsLst>
                <a:gs pos="0">
                  <a:srgbClr val="173452"/>
                </a:gs>
                <a:gs pos="52000">
                  <a:srgbClr val="102235"/>
                </a:gs>
                <a:gs pos="100000">
                  <a:srgbClr val="0F2A35"/>
                </a:gs>
              </a:gsLst>
              <a:lin ang="3900000" scaled="0"/>
            </a:gradFill>
            <a:ln w="6350">
              <a:solidFill>
                <a:srgbClr val="4AD889">
                  <a:alpha val="34000"/>
                </a:srgbClr>
              </a:solidFill>
              <a:prstDash val="solid"/>
            </a:ln>
            <a:effectLst>
              <a:outerShdw blurRad="406400" dist="152400" dir="5400000" algn="bl" rotWithShape="0">
                <a:srgbClr val="030912">
                  <a:alpha val="4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/>
            <p:cNvSpPr/>
            <p:nvPr/>
          </p:nvSpPr>
          <p:spPr>
            <a:xfrm>
              <a:off x="1009650" y="2934494"/>
              <a:ext cx="1974771" cy="292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F4F7F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Understand and plan</a:t>
              </a:r>
              <a:endParaRPr lang="en-US" sz="15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3364409" y="2867819"/>
              <a:ext cx="705941" cy="381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2000" b="1" kern="0" spc="-50" dirty="0">
                  <a:solidFill>
                    <a:srgbClr val="4AD889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5 of 5</a:t>
              </a:r>
              <a:endParaRPr lang="en-US" sz="20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1009650" y="3274219"/>
              <a:ext cx="3100197" cy="2565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820"/>
                </a:lnSpc>
                <a:buNone/>
              </a:pPr>
              <a:r>
                <a:rPr lang="en-US" sz="1300" dirty="0">
                  <a:solidFill>
                    <a:srgbClr val="AEBBC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Brief, data, objective, design</a:t>
              </a:r>
              <a:endParaRPr lang="en-US" sz="130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1009650" y="3556149"/>
              <a:ext cx="3009900" cy="889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10"/>
            <p:cNvSpPr/>
            <p:nvPr/>
          </p:nvSpPr>
          <p:spPr>
            <a:xfrm>
              <a:off x="1009650" y="3556149"/>
              <a:ext cx="3009900" cy="88900"/>
            </a:xfrm>
            <a:prstGeom prst="roundRect">
              <a:avLst>
                <a:gd name="adj" fmla="val 50000"/>
              </a:avLst>
            </a:prstGeom>
            <a:solidFill>
              <a:srgbClr val="4AD88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1"/>
            <p:cNvSpPr/>
            <p:nvPr/>
          </p:nvSpPr>
          <p:spPr>
            <a:xfrm>
              <a:off x="1009650" y="3902224"/>
              <a:ext cx="1586607" cy="292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F4F7F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Calculation tools</a:t>
              </a:r>
              <a:endParaRPr lang="en-US" sz="15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3364409" y="3835549"/>
              <a:ext cx="705941" cy="381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2000" b="1" kern="0" spc="-50" dirty="0">
                  <a:solidFill>
                    <a:srgbClr val="4AD889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5 of 5</a:t>
              </a:r>
              <a:endParaRPr lang="en-US" sz="20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1009650" y="4241949"/>
              <a:ext cx="3100197" cy="2565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820"/>
                </a:lnSpc>
                <a:buNone/>
              </a:pPr>
              <a:r>
                <a:rPr lang="en-US" sz="1300" dirty="0">
                  <a:solidFill>
                    <a:srgbClr val="AEBBC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Eligibility, queue, date, cost</a:t>
              </a:r>
              <a:endParaRPr lang="en-US" sz="1300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1009650" y="4523879"/>
              <a:ext cx="3009900" cy="889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5"/>
            <p:cNvSpPr/>
            <p:nvPr/>
          </p:nvSpPr>
          <p:spPr>
            <a:xfrm>
              <a:off x="1009650" y="4523879"/>
              <a:ext cx="3009900" cy="88900"/>
            </a:xfrm>
            <a:prstGeom prst="roundRect">
              <a:avLst>
                <a:gd name="adj" fmla="val 50000"/>
              </a:avLst>
            </a:prstGeom>
            <a:solidFill>
              <a:srgbClr val="4AD88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19"/>
            <p:cNvSpPr/>
            <p:nvPr/>
          </p:nvSpPr>
          <p:spPr>
            <a:xfrm>
              <a:off x="4397375" y="2712244"/>
              <a:ext cx="3397250" cy="3126581"/>
            </a:xfrm>
            <a:prstGeom prst="roundRect">
              <a:avLst>
                <a:gd name="adj" fmla="val 3554"/>
              </a:avLst>
            </a:prstGeom>
            <a:gradFill rotWithShape="1">
              <a:gsLst>
                <a:gs pos="0">
                  <a:srgbClr val="173452"/>
                </a:gs>
                <a:gs pos="52000">
                  <a:srgbClr val="102235"/>
                </a:gs>
                <a:gs pos="100000">
                  <a:srgbClr val="0F2A35"/>
                </a:gs>
              </a:gsLst>
              <a:lin ang="3900000" scaled="0"/>
            </a:gradFill>
            <a:ln w="6350">
              <a:solidFill>
                <a:srgbClr val="4ED9E6">
                  <a:alpha val="34000"/>
                </a:srgbClr>
              </a:solidFill>
              <a:prstDash val="solid"/>
            </a:ln>
            <a:effectLst>
              <a:outerShdw blurRad="406400" dist="152400" dir="5400000" algn="bl" rotWithShape="0">
                <a:srgbClr val="030912">
                  <a:alpha val="4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0"/>
            <p:cNvSpPr/>
            <p:nvPr/>
          </p:nvSpPr>
          <p:spPr>
            <a:xfrm>
              <a:off x="4591050" y="2934494"/>
              <a:ext cx="884337" cy="292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F4F7F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Allocator</a:t>
              </a:r>
              <a:endParaRPr lang="en-US" sz="1500" dirty="0"/>
            </a:p>
          </p:txBody>
        </p:sp>
        <p:sp>
          <p:nvSpPr>
            <p:cNvPr id="25" name="Text 21"/>
            <p:cNvSpPr/>
            <p:nvPr/>
          </p:nvSpPr>
          <p:spPr>
            <a:xfrm>
              <a:off x="6926064" y="2867819"/>
              <a:ext cx="725686" cy="381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2000" b="1" kern="0" spc="-50" dirty="0">
                  <a:solidFill>
                    <a:srgbClr val="4ED9E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3 of 4</a:t>
              </a:r>
              <a:endParaRPr lang="en-US" sz="2000" dirty="0"/>
            </a:p>
          </p:txBody>
        </p:sp>
        <p:sp>
          <p:nvSpPr>
            <p:cNvPr id="26" name="Text 22"/>
            <p:cNvSpPr/>
            <p:nvPr/>
          </p:nvSpPr>
          <p:spPr>
            <a:xfrm>
              <a:off x="4591050" y="3274219"/>
              <a:ext cx="3100197" cy="2565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820"/>
                </a:lnSpc>
                <a:buNone/>
              </a:pPr>
              <a:r>
                <a:rPr lang="en-US" sz="1300" dirty="0">
                  <a:solidFill>
                    <a:srgbClr val="AEBBC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Picks a workshop by objective</a:t>
              </a:r>
              <a:endParaRPr lang="en-US" sz="1300" dirty="0"/>
            </a:p>
          </p:txBody>
        </p:sp>
        <p:sp>
          <p:nvSpPr>
            <p:cNvPr id="27" name="Shape 23"/>
            <p:cNvSpPr/>
            <p:nvPr/>
          </p:nvSpPr>
          <p:spPr>
            <a:xfrm>
              <a:off x="4591050" y="3556149"/>
              <a:ext cx="3009900" cy="889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4"/>
            <p:cNvSpPr/>
            <p:nvPr/>
          </p:nvSpPr>
          <p:spPr>
            <a:xfrm>
              <a:off x="4591050" y="3556149"/>
              <a:ext cx="2257425" cy="88900"/>
            </a:xfrm>
            <a:custGeom>
              <a:avLst/>
              <a:gdLst/>
              <a:ahLst/>
              <a:cxnLst/>
              <a:rect l="l" t="t" r="r" b="b"/>
              <a:pathLst>
                <a:path w="2257425" h="88900">
                  <a:moveTo>
                    <a:pt x="0" y="44450"/>
                  </a:moveTo>
                  <a:arcTo wR="44450" hR="44450" stAng="10800000" swAng="5400000"/>
                  <a:lnTo>
                    <a:pt x="2257425" y="0"/>
                  </a:lnTo>
                  <a:lnTo>
                    <a:pt x="2257425" y="88900"/>
                  </a:lnTo>
                  <a:lnTo>
                    <a:pt x="44450" y="88900"/>
                  </a:lnTo>
                  <a:arcTo wR="44450" hR="44450" stAng="5400000" swAng="5400000"/>
                  <a:close/>
                </a:path>
              </a:pathLst>
            </a:custGeom>
            <a:solidFill>
              <a:srgbClr val="4ED9E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25"/>
            <p:cNvSpPr/>
            <p:nvPr/>
          </p:nvSpPr>
          <p:spPr>
            <a:xfrm>
              <a:off x="4591050" y="3902224"/>
              <a:ext cx="1880087" cy="292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F4F7F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Chat understanding</a:t>
              </a:r>
              <a:endParaRPr lang="en-US" sz="1500" dirty="0"/>
            </a:p>
          </p:txBody>
        </p:sp>
        <p:sp>
          <p:nvSpPr>
            <p:cNvPr id="30" name="Text 26"/>
            <p:cNvSpPr/>
            <p:nvPr/>
          </p:nvSpPr>
          <p:spPr>
            <a:xfrm>
              <a:off x="6924973" y="3835549"/>
              <a:ext cx="726777" cy="381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2000" b="1" kern="0" spc="-50" dirty="0">
                  <a:solidFill>
                    <a:srgbClr val="4ED9E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4 of 6</a:t>
              </a:r>
              <a:endParaRPr lang="en-US" sz="2000" dirty="0"/>
            </a:p>
          </p:txBody>
        </p:sp>
        <p:sp>
          <p:nvSpPr>
            <p:cNvPr id="31" name="Text 27"/>
            <p:cNvSpPr/>
            <p:nvPr/>
          </p:nvSpPr>
          <p:spPr>
            <a:xfrm>
              <a:off x="4591050" y="4241949"/>
              <a:ext cx="3100197" cy="2565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820"/>
                </a:lnSpc>
                <a:buNone/>
              </a:pPr>
              <a:r>
                <a:rPr lang="en-US" sz="1300" dirty="0">
                  <a:solidFill>
                    <a:srgbClr val="AEBBC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LLM reads; Python checks</a:t>
              </a:r>
              <a:endParaRPr lang="en-US" sz="1300" dirty="0"/>
            </a:p>
          </p:txBody>
        </p:sp>
        <p:sp>
          <p:nvSpPr>
            <p:cNvPr id="32" name="Shape 28"/>
            <p:cNvSpPr/>
            <p:nvPr/>
          </p:nvSpPr>
          <p:spPr>
            <a:xfrm>
              <a:off x="4591050" y="4523879"/>
              <a:ext cx="3009900" cy="889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29"/>
            <p:cNvSpPr/>
            <p:nvPr/>
          </p:nvSpPr>
          <p:spPr>
            <a:xfrm>
              <a:off x="4591050" y="4523879"/>
              <a:ext cx="2006600" cy="88900"/>
            </a:xfrm>
            <a:custGeom>
              <a:avLst/>
              <a:gdLst/>
              <a:ahLst/>
              <a:cxnLst/>
              <a:rect l="l" t="t" r="r" b="b"/>
              <a:pathLst>
                <a:path w="2006600" h="88900">
                  <a:moveTo>
                    <a:pt x="0" y="44450"/>
                  </a:moveTo>
                  <a:arcTo wR="44450" hR="44450" stAng="10800000" swAng="5400000"/>
                  <a:lnTo>
                    <a:pt x="2006600" y="0"/>
                  </a:lnTo>
                  <a:lnTo>
                    <a:pt x="2006600" y="88900"/>
                  </a:lnTo>
                  <a:lnTo>
                    <a:pt x="44450" y="88900"/>
                  </a:lnTo>
                  <a:arcTo wR="44450" hR="44450" stAng="5400000" swAng="5400000"/>
                  <a:close/>
                </a:path>
              </a:pathLst>
            </a:custGeom>
            <a:solidFill>
              <a:srgbClr val="4ED9E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30"/>
            <p:cNvSpPr/>
            <p:nvPr/>
          </p:nvSpPr>
          <p:spPr>
            <a:xfrm>
              <a:off x="4591050" y="4869954"/>
              <a:ext cx="1162348" cy="292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F4F7F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Deployment</a:t>
              </a:r>
              <a:endParaRPr lang="en-US" sz="1500" dirty="0"/>
            </a:p>
          </p:txBody>
        </p:sp>
        <p:sp>
          <p:nvSpPr>
            <p:cNvPr id="35" name="Text 31"/>
            <p:cNvSpPr/>
            <p:nvPr/>
          </p:nvSpPr>
          <p:spPr>
            <a:xfrm>
              <a:off x="6980436" y="4803279"/>
              <a:ext cx="671314" cy="381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2000" b="1" kern="0" spc="-50" dirty="0">
                  <a:solidFill>
                    <a:srgbClr val="4ED9E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1 of 4</a:t>
              </a:r>
              <a:endParaRPr lang="en-US" sz="2000" dirty="0"/>
            </a:p>
          </p:txBody>
        </p:sp>
        <p:sp>
          <p:nvSpPr>
            <p:cNvPr id="36" name="Text 32"/>
            <p:cNvSpPr/>
            <p:nvPr/>
          </p:nvSpPr>
          <p:spPr>
            <a:xfrm>
              <a:off x="4591050" y="5209679"/>
              <a:ext cx="3100197" cy="2565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820"/>
                </a:lnSpc>
                <a:buNone/>
              </a:pPr>
              <a:r>
                <a:rPr lang="en-US" sz="1300" dirty="0">
                  <a:solidFill>
                    <a:srgbClr val="AEBBC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Demo and GitHub</a:t>
              </a:r>
              <a:endParaRPr lang="en-US" sz="1300" dirty="0"/>
            </a:p>
          </p:txBody>
        </p:sp>
        <p:sp>
          <p:nvSpPr>
            <p:cNvPr id="37" name="Shape 33"/>
            <p:cNvSpPr/>
            <p:nvPr/>
          </p:nvSpPr>
          <p:spPr>
            <a:xfrm>
              <a:off x="4591050" y="5491609"/>
              <a:ext cx="3009900" cy="889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Shape 34"/>
            <p:cNvSpPr/>
            <p:nvPr/>
          </p:nvSpPr>
          <p:spPr>
            <a:xfrm>
              <a:off x="4591050" y="5491609"/>
              <a:ext cx="752475" cy="88900"/>
            </a:xfrm>
            <a:custGeom>
              <a:avLst/>
              <a:gdLst/>
              <a:ahLst/>
              <a:cxnLst/>
              <a:rect l="l" t="t" r="r" b="b"/>
              <a:pathLst>
                <a:path w="752475" h="88900">
                  <a:moveTo>
                    <a:pt x="0" y="44450"/>
                  </a:moveTo>
                  <a:arcTo wR="44450" hR="44450" stAng="10800000" swAng="5400000"/>
                  <a:lnTo>
                    <a:pt x="752475" y="0"/>
                  </a:lnTo>
                  <a:lnTo>
                    <a:pt x="752475" y="88900"/>
                  </a:lnTo>
                  <a:lnTo>
                    <a:pt x="44450" y="88900"/>
                  </a:lnTo>
                  <a:arcTo wR="44450" hR="44450" stAng="5400000" swAng="5400000"/>
                  <a:close/>
                </a:path>
              </a:pathLst>
            </a:custGeom>
            <a:solidFill>
              <a:srgbClr val="4ED9E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38"/>
            <p:cNvSpPr/>
            <p:nvPr/>
          </p:nvSpPr>
          <p:spPr>
            <a:xfrm>
              <a:off x="7978775" y="2712244"/>
              <a:ext cx="3397250" cy="3126581"/>
            </a:xfrm>
            <a:prstGeom prst="roundRect">
              <a:avLst>
                <a:gd name="adj" fmla="val 3554"/>
              </a:avLst>
            </a:prstGeom>
            <a:gradFill rotWithShape="1">
              <a:gsLst>
                <a:gs pos="0">
                  <a:srgbClr val="173452"/>
                </a:gs>
                <a:gs pos="52000">
                  <a:srgbClr val="102235"/>
                </a:gs>
                <a:gs pos="100000">
                  <a:srgbClr val="0F2A35"/>
                </a:gs>
              </a:gsLst>
              <a:lin ang="3900000" scaled="0"/>
            </a:gradFill>
            <a:ln w="6350">
              <a:solidFill>
                <a:srgbClr val="B8C7D9">
                  <a:alpha val="34000"/>
                </a:srgbClr>
              </a:solidFill>
              <a:prstDash val="solid"/>
            </a:ln>
            <a:effectLst>
              <a:outerShdw blurRad="406400" dist="152400" dir="5400000" algn="bl" rotWithShape="0">
                <a:srgbClr val="030912">
                  <a:alpha val="4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39"/>
            <p:cNvSpPr/>
            <p:nvPr/>
          </p:nvSpPr>
          <p:spPr>
            <a:xfrm>
              <a:off x="8172450" y="2934494"/>
              <a:ext cx="1449536" cy="292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DCE4E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Dispatcher app</a:t>
              </a:r>
              <a:endParaRPr lang="en-US" sz="1500" dirty="0"/>
            </a:p>
          </p:txBody>
        </p:sp>
        <p:sp>
          <p:nvSpPr>
            <p:cNvPr id="45" name="Text 40"/>
            <p:cNvSpPr/>
            <p:nvPr/>
          </p:nvSpPr>
          <p:spPr>
            <a:xfrm>
              <a:off x="10506918" y="2867819"/>
              <a:ext cx="726232" cy="381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2000" b="1" kern="0" spc="-50" dirty="0">
                  <a:solidFill>
                    <a:srgbClr val="B8C7D9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0 of 6</a:t>
              </a:r>
              <a:endParaRPr lang="en-US" sz="2000" dirty="0"/>
            </a:p>
          </p:txBody>
        </p:sp>
        <p:sp>
          <p:nvSpPr>
            <p:cNvPr id="46" name="Text 41"/>
            <p:cNvSpPr/>
            <p:nvPr/>
          </p:nvSpPr>
          <p:spPr>
            <a:xfrm>
              <a:off x="8172450" y="3274219"/>
              <a:ext cx="3100197" cy="2565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820"/>
                </a:lnSpc>
                <a:buNone/>
              </a:pPr>
              <a:r>
                <a:rPr lang="en-US" sz="1300" dirty="0">
                  <a:solidFill>
                    <a:srgbClr val="AEBBC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The dispatcher's screen</a:t>
              </a:r>
              <a:endParaRPr lang="en-US" sz="1300" dirty="0"/>
            </a:p>
          </p:txBody>
        </p:sp>
        <p:sp>
          <p:nvSpPr>
            <p:cNvPr id="47" name="Shape 42"/>
            <p:cNvSpPr/>
            <p:nvPr/>
          </p:nvSpPr>
          <p:spPr>
            <a:xfrm>
              <a:off x="8172450" y="3556149"/>
              <a:ext cx="3009900" cy="88900"/>
            </a:xfrm>
            <a:prstGeom prst="roundRect">
              <a:avLst>
                <a:gd name="adj" fmla="val 50000"/>
              </a:avLst>
            </a:prstGeom>
            <a:solidFill>
              <a:srgbClr val="B8C7D9">
                <a:alpha val="16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43"/>
            <p:cNvSpPr/>
            <p:nvPr/>
          </p:nvSpPr>
          <p:spPr>
            <a:xfrm>
              <a:off x="8172450" y="3902224"/>
              <a:ext cx="1648371" cy="292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DCE4E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Test A · simulator</a:t>
              </a:r>
              <a:endParaRPr lang="en-US" sz="1500" dirty="0"/>
            </a:p>
          </p:txBody>
        </p:sp>
        <p:sp>
          <p:nvSpPr>
            <p:cNvPr id="49" name="Text 44"/>
            <p:cNvSpPr/>
            <p:nvPr/>
          </p:nvSpPr>
          <p:spPr>
            <a:xfrm>
              <a:off x="10513963" y="3835549"/>
              <a:ext cx="719187" cy="381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2000" b="1" kern="0" spc="-50" dirty="0">
                  <a:solidFill>
                    <a:srgbClr val="B8C7D9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0 of 5</a:t>
              </a:r>
              <a:endParaRPr lang="en-US" sz="2000" dirty="0"/>
            </a:p>
          </p:txBody>
        </p:sp>
        <p:sp>
          <p:nvSpPr>
            <p:cNvPr id="50" name="Text 45"/>
            <p:cNvSpPr/>
            <p:nvPr/>
          </p:nvSpPr>
          <p:spPr>
            <a:xfrm>
              <a:off x="8172450" y="4241949"/>
              <a:ext cx="3100197" cy="2565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820"/>
                </a:lnSpc>
                <a:buNone/>
              </a:pPr>
              <a:r>
                <a:rPr lang="en-US" sz="1300" dirty="0">
                  <a:solidFill>
                    <a:srgbClr val="AEBBC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Are the decisions good?</a:t>
              </a:r>
              <a:endParaRPr lang="en-US" sz="1300" dirty="0"/>
            </a:p>
          </p:txBody>
        </p:sp>
        <p:sp>
          <p:nvSpPr>
            <p:cNvPr id="51" name="Shape 46"/>
            <p:cNvSpPr/>
            <p:nvPr/>
          </p:nvSpPr>
          <p:spPr>
            <a:xfrm>
              <a:off x="8172450" y="4523879"/>
              <a:ext cx="3009900" cy="88900"/>
            </a:xfrm>
            <a:prstGeom prst="roundRect">
              <a:avLst>
                <a:gd name="adj" fmla="val 50000"/>
              </a:avLst>
            </a:prstGeom>
            <a:solidFill>
              <a:srgbClr val="B8C7D9">
                <a:alpha val="16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47"/>
            <p:cNvSpPr/>
            <p:nvPr/>
          </p:nvSpPr>
          <p:spPr>
            <a:xfrm>
              <a:off x="8172450" y="4869954"/>
              <a:ext cx="1734393" cy="292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DCE4E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Test B · chat inbox</a:t>
              </a:r>
              <a:endParaRPr lang="en-US" sz="1500" dirty="0"/>
            </a:p>
          </p:txBody>
        </p:sp>
        <p:sp>
          <p:nvSpPr>
            <p:cNvPr id="53" name="Text 48"/>
            <p:cNvSpPr/>
            <p:nvPr/>
          </p:nvSpPr>
          <p:spPr>
            <a:xfrm>
              <a:off x="10524232" y="4803279"/>
              <a:ext cx="708918" cy="381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2000" b="1" kern="0" spc="-50" dirty="0">
                  <a:solidFill>
                    <a:srgbClr val="B8C7D9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0 of 7</a:t>
              </a:r>
              <a:endParaRPr lang="en-US" sz="2000" dirty="0"/>
            </a:p>
          </p:txBody>
        </p:sp>
        <p:sp>
          <p:nvSpPr>
            <p:cNvPr id="54" name="Text 49"/>
            <p:cNvSpPr/>
            <p:nvPr/>
          </p:nvSpPr>
          <p:spPr>
            <a:xfrm>
              <a:off x="8172450" y="5209679"/>
              <a:ext cx="3100197" cy="2565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820"/>
                </a:lnSpc>
                <a:buNone/>
              </a:pPr>
              <a:r>
                <a:rPr lang="en-US" sz="1300" dirty="0">
                  <a:solidFill>
                    <a:srgbClr val="AEBBC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Does it understand requests?</a:t>
              </a:r>
              <a:endParaRPr lang="en-US" sz="1300" dirty="0"/>
            </a:p>
          </p:txBody>
        </p:sp>
        <p:sp>
          <p:nvSpPr>
            <p:cNvPr id="55" name="Shape 50"/>
            <p:cNvSpPr/>
            <p:nvPr/>
          </p:nvSpPr>
          <p:spPr>
            <a:xfrm>
              <a:off x="8172450" y="5491609"/>
              <a:ext cx="3009900" cy="88900"/>
            </a:xfrm>
            <a:prstGeom prst="roundRect">
              <a:avLst>
                <a:gd name="adj" fmla="val 50000"/>
              </a:avLst>
            </a:prstGeom>
            <a:solidFill>
              <a:srgbClr val="B8C7D9">
                <a:alpha val="16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" name="Text 51"/>
          <p:cNvSpPr/>
          <p:nvPr/>
        </p:nvSpPr>
        <p:spPr>
          <a:xfrm>
            <a:off x="812800" y="6236990"/>
            <a:ext cx="1440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2 · Sprint 1</a:t>
            </a:r>
            <a:endParaRPr lang="en-US" sz="1200" dirty="0"/>
          </a:p>
        </p:txBody>
      </p:sp>
      <p:sp>
        <p:nvSpPr>
          <p:cNvPr id="57" name="Text 52"/>
          <p:cNvSpPr/>
          <p:nvPr/>
        </p:nvSpPr>
        <p:spPr>
          <a:xfrm>
            <a:off x="4106227" y="6236990"/>
            <a:ext cx="39795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Subtasks done, by area · Full list: backup slide</a:t>
            </a:r>
            <a:endParaRPr lang="en-US" sz="1200" dirty="0"/>
          </a:p>
        </p:txBody>
      </p:sp>
      <p:sp>
        <p:nvSpPr>
          <p:cNvPr id="58" name="Text 53"/>
          <p:cNvSpPr/>
          <p:nvPr/>
        </p:nvSpPr>
        <p:spPr>
          <a:xfrm>
            <a:off x="10660717" y="6236990"/>
            <a:ext cx="7184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6990"/>
            <a:ext cx="1440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2 · Sprint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674171" y="6236990"/>
            <a:ext cx="7050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r>
              <a:rPr lang="en-US" sz="1400" b="1" kern="0" spc="1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RISK ASSESSMENT</a:t>
            </a:r>
            <a:endParaRPr lang="en-US" sz="14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883392" cy="395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12"/>
              </a:lnSpc>
              <a:buNone/>
            </a:pPr>
            <a:r>
              <a:rPr lang="en-US" sz="2600" b="1" i="0" kern="0" spc="-5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could go wrong, and how we handle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15975" y="1736725"/>
            <a:ext cx="3803650" cy="4102100"/>
          </a:xfrm>
          <a:prstGeom prst="roundRect">
            <a:avLst>
              <a:gd name="adj" fmla="val 2922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4ED9E6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950" y="1892300"/>
            <a:ext cx="3544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6950" y="2459930"/>
            <a:ext cx="711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08150" y="2181820"/>
            <a:ext cx="889000" cy="787400"/>
          </a:xfrm>
          <a:prstGeom prst="roundRect">
            <a:avLst>
              <a:gd name="adj" fmla="val 9677"/>
            </a:avLst>
          </a:prstGeom>
          <a:solidFill>
            <a:srgbClr val="F4BB55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47950" y="2181820"/>
            <a:ext cx="889000" cy="787400"/>
          </a:xfrm>
          <a:prstGeom prst="roundRect">
            <a:avLst>
              <a:gd name="adj" fmla="val 9677"/>
            </a:avLst>
          </a:prstGeom>
          <a:solidFill>
            <a:srgbClr val="FF7068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33675" y="2419945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>
                <a:moveTo>
                  <a:pt x="155575" y="0"/>
                </a:moveTo>
                <a:lnTo>
                  <a:pt x="155575" y="0"/>
                </a:lnTo>
                <a:arcTo wR="155575" hR="155575" stAng="16200000" swAng="5400000"/>
                <a:lnTo>
                  <a:pt x="311150" y="155575"/>
                </a:lnTo>
                <a:arcTo wR="155575" hR="155575" stAng="0" swAng="5400000"/>
                <a:lnTo>
                  <a:pt x="155575" y="311150"/>
                </a:lnTo>
                <a:arcTo wR="155575" hR="155575" stAng="5400000" swAng="5400000"/>
                <a:lnTo>
                  <a:pt x="0" y="155575"/>
                </a:lnTo>
                <a:arcTo wR="155575" hR="155575" stAng="10800000" swAng="5400000"/>
                <a:close/>
              </a:path>
            </a:pathLst>
          </a:custGeom>
          <a:solidFill>
            <a:srgbClr val="142A3D"/>
          </a:solidFill>
          <a:ln w="19050">
            <a:solidFill>
              <a:srgbClr val="FF7068"/>
            </a:solidFill>
            <a:prstDash val="solid"/>
          </a:ln>
        </p:spPr>
        <p:txBody>
          <a:bodyPr wrap="square" lIns="9525" tIns="9525" rIns="9525" bIns="9525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70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40075" y="2419945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>
                <a:moveTo>
                  <a:pt x="155575" y="0"/>
                </a:moveTo>
                <a:lnTo>
                  <a:pt x="155575" y="0"/>
                </a:lnTo>
                <a:arcTo wR="155575" hR="155575" stAng="16200000" swAng="5400000"/>
                <a:lnTo>
                  <a:pt x="311150" y="155575"/>
                </a:lnTo>
                <a:arcTo wR="155575" hR="155575" stAng="0" swAng="5400000"/>
                <a:lnTo>
                  <a:pt x="155575" y="311150"/>
                </a:lnTo>
                <a:arcTo wR="155575" hR="155575" stAng="5400000" swAng="5400000"/>
                <a:lnTo>
                  <a:pt x="0" y="155575"/>
                </a:lnTo>
                <a:arcTo wR="155575" hR="155575" stAng="10800000" swAng="5400000"/>
                <a:close/>
              </a:path>
            </a:pathLst>
          </a:custGeom>
          <a:solidFill>
            <a:srgbClr val="142A3D"/>
          </a:solidFill>
          <a:ln w="19050">
            <a:solidFill>
              <a:srgbClr val="FF7068"/>
            </a:solidFill>
            <a:prstDash val="solid"/>
          </a:ln>
        </p:spPr>
        <p:txBody>
          <a:bodyPr wrap="square" lIns="9525" tIns="9525" rIns="9525" bIns="9525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70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87750" y="2181820"/>
            <a:ext cx="889000" cy="787400"/>
          </a:xfrm>
          <a:prstGeom prst="roundRect">
            <a:avLst>
              <a:gd name="adj" fmla="val 9677"/>
            </a:avLst>
          </a:prstGeom>
          <a:solidFill>
            <a:srgbClr val="FF7068">
              <a:alpha val="2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67150" y="241042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FF706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A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96950" y="3298130"/>
            <a:ext cx="711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708150" y="3020020"/>
            <a:ext cx="889000" cy="787400"/>
          </a:xfrm>
          <a:prstGeom prst="roundRect">
            <a:avLst>
              <a:gd name="adj" fmla="val 967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647950" y="3020020"/>
            <a:ext cx="889000" cy="787400"/>
          </a:xfrm>
          <a:prstGeom prst="roundRect">
            <a:avLst>
              <a:gd name="adj" fmla="val 9677"/>
            </a:avLst>
          </a:prstGeom>
          <a:solidFill>
            <a:srgbClr val="F4BB55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0025" y="3080345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>
                <a:moveTo>
                  <a:pt x="155575" y="0"/>
                </a:moveTo>
                <a:lnTo>
                  <a:pt x="155575" y="0"/>
                </a:lnTo>
                <a:arcTo wR="155575" hR="155575" stAng="16200000" swAng="5400000"/>
                <a:lnTo>
                  <a:pt x="311150" y="155575"/>
                </a:lnTo>
                <a:arcTo wR="155575" hR="155575" stAng="0" swAng="5400000"/>
                <a:lnTo>
                  <a:pt x="155575" y="311150"/>
                </a:lnTo>
                <a:arcTo wR="155575" hR="155575" stAng="5400000" swAng="5400000"/>
                <a:lnTo>
                  <a:pt x="0" y="155575"/>
                </a:lnTo>
                <a:arcTo wR="155575" hR="155575" stAng="10800000" swAng="5400000"/>
                <a:close/>
              </a:path>
            </a:pathLst>
          </a:custGeom>
          <a:solidFill>
            <a:srgbClr val="142A3D"/>
          </a:solidFill>
          <a:ln w="19050">
            <a:solidFill>
              <a:srgbClr val="F4BB55"/>
            </a:solidFill>
            <a:prstDash val="solid"/>
          </a:ln>
        </p:spPr>
        <p:txBody>
          <a:bodyPr wrap="square" lIns="9525" tIns="9525" rIns="9525" bIns="9525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BB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33725" y="3080345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>
                <a:moveTo>
                  <a:pt x="155575" y="0"/>
                </a:moveTo>
                <a:lnTo>
                  <a:pt x="155575" y="0"/>
                </a:lnTo>
                <a:arcTo wR="155575" hR="155575" stAng="16200000" swAng="5400000"/>
                <a:lnTo>
                  <a:pt x="311150" y="155575"/>
                </a:lnTo>
                <a:arcTo wR="155575" hR="155575" stAng="0" swAng="5400000"/>
                <a:lnTo>
                  <a:pt x="155575" y="311150"/>
                </a:lnTo>
                <a:arcTo wR="155575" hR="155575" stAng="5400000" swAng="5400000"/>
                <a:lnTo>
                  <a:pt x="0" y="155575"/>
                </a:lnTo>
                <a:arcTo wR="155575" hR="155575" stAng="10800000" swAng="5400000"/>
                <a:close/>
              </a:path>
            </a:pathLst>
          </a:custGeom>
          <a:solidFill>
            <a:srgbClr val="142A3D"/>
          </a:solidFill>
          <a:ln w="19050">
            <a:solidFill>
              <a:srgbClr val="F4BB55"/>
            </a:solidFill>
            <a:prstDash val="solid"/>
          </a:ln>
        </p:spPr>
        <p:txBody>
          <a:bodyPr wrap="square" lIns="9525" tIns="9525" rIns="9525" bIns="9525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BB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6875" y="3474045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>
                <a:moveTo>
                  <a:pt x="155575" y="0"/>
                </a:moveTo>
                <a:lnTo>
                  <a:pt x="155575" y="0"/>
                </a:lnTo>
                <a:arcTo wR="155575" hR="155575" stAng="16200000" swAng="5400000"/>
                <a:lnTo>
                  <a:pt x="311150" y="155575"/>
                </a:lnTo>
                <a:arcTo wR="155575" hR="155575" stAng="0" swAng="5400000"/>
                <a:lnTo>
                  <a:pt x="155575" y="311150"/>
                </a:lnTo>
                <a:arcTo wR="155575" hR="155575" stAng="5400000" swAng="5400000"/>
                <a:lnTo>
                  <a:pt x="0" y="155575"/>
                </a:lnTo>
                <a:arcTo wR="155575" hR="155575" stAng="10800000" swAng="5400000"/>
                <a:close/>
              </a:path>
            </a:pathLst>
          </a:custGeom>
          <a:solidFill>
            <a:srgbClr val="142A3D"/>
          </a:solidFill>
          <a:ln w="19050">
            <a:solidFill>
              <a:srgbClr val="F4BB55"/>
            </a:solidFill>
            <a:prstDash val="solid"/>
          </a:ln>
        </p:spPr>
        <p:txBody>
          <a:bodyPr wrap="square" lIns="9525" tIns="9525" rIns="9525" bIns="9525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BB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87750" y="3020020"/>
            <a:ext cx="889000" cy="787400"/>
          </a:xfrm>
          <a:prstGeom prst="roundRect">
            <a:avLst>
              <a:gd name="adj" fmla="val 9677"/>
            </a:avLst>
          </a:prstGeom>
          <a:solidFill>
            <a:srgbClr val="FF7068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96950" y="4136330"/>
            <a:ext cx="711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708150" y="3858220"/>
            <a:ext cx="889000" cy="787400"/>
          </a:xfrm>
          <a:prstGeom prst="roundRect">
            <a:avLst>
              <a:gd name="adj" fmla="val 967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647950" y="3858220"/>
            <a:ext cx="889000" cy="787400"/>
          </a:xfrm>
          <a:prstGeom prst="roundRect">
            <a:avLst>
              <a:gd name="adj" fmla="val 967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587750" y="3858220"/>
            <a:ext cx="889000" cy="787400"/>
          </a:xfrm>
          <a:prstGeom prst="roundRect">
            <a:avLst>
              <a:gd name="adj" fmla="val 9677"/>
            </a:avLst>
          </a:prstGeom>
          <a:solidFill>
            <a:srgbClr val="F4BB55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682750" y="4721820"/>
            <a:ext cx="939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22550" y="4721820"/>
            <a:ext cx="939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62350" y="4721820"/>
            <a:ext cx="939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93699" y="5029150"/>
            <a:ext cx="3544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LIKELIHOOD</a:t>
            </a:r>
            <a:endParaRPr lang="en-US" sz="1200" dirty="0"/>
          </a:p>
        </p:txBody>
      </p:sp>
      <p:pic>
        <p:nvPicPr>
          <p:cNvPr id="30" name="Image 0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950" y="5510510"/>
            <a:ext cx="114300" cy="1143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174750" y="5452120"/>
            <a:ext cx="111417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impact</a:t>
            </a:r>
            <a:endParaRPr lang="en-US" sz="1300" dirty="0"/>
          </a:p>
        </p:txBody>
      </p:sp>
      <p:pic>
        <p:nvPicPr>
          <p:cNvPr id="32" name="Image 1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88927" y="5510510"/>
            <a:ext cx="114300" cy="1143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2466727" y="5452120"/>
            <a:ext cx="14442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impact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5461000" y="1733550"/>
            <a:ext cx="281241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FF8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8343900" y="1733550"/>
            <a:ext cx="312635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4978400" y="2077293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FF706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A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5461000" y="2128093"/>
            <a:ext cx="2812415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LLM misreads a chat request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8343900" y="2128093"/>
            <a:ext cx="312635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DCE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JSON schema; Python re-checks every field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4987925" y="2695873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>
                <a:moveTo>
                  <a:pt x="155575" y="0"/>
                </a:moveTo>
                <a:lnTo>
                  <a:pt x="155575" y="0"/>
                </a:lnTo>
                <a:arcTo wR="155575" hR="155575" stAng="16200000" swAng="5400000"/>
                <a:lnTo>
                  <a:pt x="311150" y="155575"/>
                </a:lnTo>
                <a:arcTo wR="155575" hR="155575" stAng="0" swAng="5400000"/>
                <a:lnTo>
                  <a:pt x="155575" y="311150"/>
                </a:lnTo>
                <a:arcTo wR="155575" hR="155575" stAng="5400000" swAng="5400000"/>
                <a:lnTo>
                  <a:pt x="0" y="155575"/>
                </a:lnTo>
                <a:arcTo wR="155575" hR="155575" stAng="10800000" swAng="5400000"/>
                <a:close/>
              </a:path>
            </a:pathLst>
          </a:custGeom>
          <a:solidFill>
            <a:srgbClr val="142A3D"/>
          </a:solidFill>
          <a:ln w="19050">
            <a:solidFill>
              <a:srgbClr val="FF7068"/>
            </a:solidFill>
            <a:prstDash val="solid"/>
          </a:ln>
        </p:spPr>
        <p:txBody>
          <a:bodyPr wrap="square" lIns="9525" tIns="9525" rIns="9525" bIns="9525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70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5461000" y="2737148"/>
            <a:ext cx="2812415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is biased: labels written after the system was built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8343900" y="2737148"/>
            <a:ext cx="3126359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DCE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reviewers label from the source data; 10+ unseen requests scored separately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4987925" y="3527822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>
                <a:moveTo>
                  <a:pt x="155575" y="0"/>
                </a:moveTo>
                <a:lnTo>
                  <a:pt x="155575" y="0"/>
                </a:lnTo>
                <a:arcTo wR="155575" hR="155575" stAng="16200000" swAng="5400000"/>
                <a:lnTo>
                  <a:pt x="311150" y="155575"/>
                </a:lnTo>
                <a:arcTo wR="155575" hR="155575" stAng="0" swAng="5400000"/>
                <a:lnTo>
                  <a:pt x="155575" y="311150"/>
                </a:lnTo>
                <a:arcTo wR="155575" hR="155575" stAng="5400000" swAng="5400000"/>
                <a:lnTo>
                  <a:pt x="0" y="155575"/>
                </a:lnTo>
                <a:arcTo wR="155575" hR="155575" stAng="10800000" swAng="5400000"/>
                <a:close/>
              </a:path>
            </a:pathLst>
          </a:custGeom>
          <a:solidFill>
            <a:srgbClr val="142A3D"/>
          </a:solidFill>
          <a:ln w="19050">
            <a:solidFill>
              <a:srgbClr val="FF7068"/>
            </a:solidFill>
            <a:prstDash val="solid"/>
          </a:ln>
        </p:spPr>
        <p:txBody>
          <a:bodyPr wrap="square" lIns="9525" tIns="9525" rIns="9525" bIns="9525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70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Text 39"/>
          <p:cNvSpPr/>
          <p:nvPr/>
        </p:nvSpPr>
        <p:spPr>
          <a:xfrm>
            <a:off x="5461000" y="3569097"/>
            <a:ext cx="2812415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explanation contains an invented number</a:t>
            </a:r>
            <a:endParaRPr lang="en-US" sz="1400" dirty="0"/>
          </a:p>
        </p:txBody>
      </p:sp>
      <p:sp>
        <p:nvSpPr>
          <p:cNvPr id="44" name="Text 40"/>
          <p:cNvSpPr/>
          <p:nvPr/>
        </p:nvSpPr>
        <p:spPr>
          <a:xfrm>
            <a:off x="8343900" y="3569097"/>
            <a:ext cx="312635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DCE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text; number check blocks any figure not from a tool</a:t>
            </a:r>
            <a:endParaRPr lang="en-US" sz="1300" dirty="0"/>
          </a:p>
        </p:txBody>
      </p:sp>
      <p:sp>
        <p:nvSpPr>
          <p:cNvPr id="45" name="Text 41"/>
          <p:cNvSpPr/>
          <p:nvPr/>
        </p:nvSpPr>
        <p:spPr>
          <a:xfrm>
            <a:off x="4987925" y="4136876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>
                <a:moveTo>
                  <a:pt x="155575" y="0"/>
                </a:moveTo>
                <a:lnTo>
                  <a:pt x="155575" y="0"/>
                </a:lnTo>
                <a:arcTo wR="155575" hR="155575" stAng="16200000" swAng="5400000"/>
                <a:lnTo>
                  <a:pt x="311150" y="155575"/>
                </a:lnTo>
                <a:arcTo wR="155575" hR="155575" stAng="0" swAng="5400000"/>
                <a:lnTo>
                  <a:pt x="155575" y="311150"/>
                </a:lnTo>
                <a:arcTo wR="155575" hR="155575" stAng="5400000" swAng="5400000"/>
                <a:lnTo>
                  <a:pt x="0" y="155575"/>
                </a:lnTo>
                <a:arcTo wR="155575" hR="155575" stAng="10800000" swAng="5400000"/>
                <a:close/>
              </a:path>
            </a:pathLst>
          </a:custGeom>
          <a:solidFill>
            <a:srgbClr val="142A3D"/>
          </a:solidFill>
          <a:ln w="19050">
            <a:solidFill>
              <a:srgbClr val="F4BB55"/>
            </a:solidFill>
            <a:prstDash val="solid"/>
          </a:ln>
        </p:spPr>
        <p:txBody>
          <a:bodyPr wrap="square" lIns="9525" tIns="9525" rIns="9525" bIns="9525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BB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46" name="Text 42"/>
          <p:cNvSpPr/>
          <p:nvPr/>
        </p:nvSpPr>
        <p:spPr>
          <a:xfrm>
            <a:off x="5461000" y="4178151"/>
            <a:ext cx="2812415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Simulator assumptions differ from reality</a:t>
            </a:r>
            <a:endParaRPr lang="en-US" sz="1400" dirty="0"/>
          </a:p>
        </p:txBody>
      </p:sp>
      <p:sp>
        <p:nvSpPr>
          <p:cNvPr id="47" name="Text 43"/>
          <p:cNvSpPr/>
          <p:nvPr/>
        </p:nvSpPr>
        <p:spPr>
          <a:xfrm>
            <a:off x="8343900" y="4178151"/>
            <a:ext cx="312635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DCE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each assumption; treat results as a what-if; run the closure test</a:t>
            </a:r>
            <a:endParaRPr lang="en-US" sz="1300" dirty="0"/>
          </a:p>
        </p:txBody>
      </p:sp>
      <p:sp>
        <p:nvSpPr>
          <p:cNvPr id="48" name="Text 44"/>
          <p:cNvSpPr/>
          <p:nvPr/>
        </p:nvSpPr>
        <p:spPr>
          <a:xfrm>
            <a:off x="4987925" y="4745980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>
                <a:moveTo>
                  <a:pt x="155575" y="0"/>
                </a:moveTo>
                <a:lnTo>
                  <a:pt x="155575" y="0"/>
                </a:lnTo>
                <a:arcTo wR="155575" hR="155575" stAng="16200000" swAng="5400000"/>
                <a:lnTo>
                  <a:pt x="311150" y="155575"/>
                </a:lnTo>
                <a:arcTo wR="155575" hR="155575" stAng="0" swAng="5400000"/>
                <a:lnTo>
                  <a:pt x="155575" y="311150"/>
                </a:lnTo>
                <a:arcTo wR="155575" hR="155575" stAng="5400000" swAng="5400000"/>
                <a:lnTo>
                  <a:pt x="0" y="155575"/>
                </a:lnTo>
                <a:arcTo wR="155575" hR="155575" stAng="10800000" swAng="5400000"/>
                <a:close/>
              </a:path>
            </a:pathLst>
          </a:custGeom>
          <a:solidFill>
            <a:srgbClr val="142A3D"/>
          </a:solidFill>
          <a:ln w="19050">
            <a:solidFill>
              <a:srgbClr val="F4BB55"/>
            </a:solidFill>
            <a:prstDash val="solid"/>
          </a:ln>
        </p:spPr>
        <p:txBody>
          <a:bodyPr wrap="square" lIns="9525" tIns="9525" rIns="9525" bIns="9525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BB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sp>
        <p:nvSpPr>
          <p:cNvPr id="49" name="Text 45"/>
          <p:cNvSpPr/>
          <p:nvPr/>
        </p:nvSpPr>
        <p:spPr>
          <a:xfrm>
            <a:off x="5461000" y="4787255"/>
            <a:ext cx="2812415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simple rule (earliest finish) does as well as ours</a:t>
            </a:r>
            <a:endParaRPr lang="en-US" sz="1400" dirty="0"/>
          </a:p>
        </p:txBody>
      </p:sp>
      <p:sp>
        <p:nvSpPr>
          <p:cNvPr id="50" name="Text 46"/>
          <p:cNvSpPr/>
          <p:nvPr/>
        </p:nvSpPr>
        <p:spPr>
          <a:xfrm>
            <a:off x="8343900" y="4787255"/>
            <a:ext cx="312635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DCE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directly and report where it wins</a:t>
            </a:r>
            <a:endParaRPr lang="en-US" sz="1300" dirty="0"/>
          </a:p>
        </p:txBody>
      </p:sp>
      <p:sp>
        <p:nvSpPr>
          <p:cNvPr id="51" name="Text 47"/>
          <p:cNvSpPr/>
          <p:nvPr/>
        </p:nvSpPr>
        <p:spPr>
          <a:xfrm>
            <a:off x="4987925" y="5355034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>
                <a:moveTo>
                  <a:pt x="155575" y="0"/>
                </a:moveTo>
                <a:lnTo>
                  <a:pt x="155575" y="0"/>
                </a:lnTo>
                <a:arcTo wR="155575" hR="155575" stAng="16200000" swAng="5400000"/>
                <a:lnTo>
                  <a:pt x="311150" y="155575"/>
                </a:lnTo>
                <a:arcTo wR="155575" hR="155575" stAng="0" swAng="5400000"/>
                <a:lnTo>
                  <a:pt x="155575" y="311150"/>
                </a:lnTo>
                <a:arcTo wR="155575" hR="155575" stAng="5400000" swAng="5400000"/>
                <a:lnTo>
                  <a:pt x="0" y="155575"/>
                </a:lnTo>
                <a:arcTo wR="155575" hR="155575" stAng="10800000" swAng="5400000"/>
                <a:close/>
              </a:path>
            </a:pathLst>
          </a:custGeom>
          <a:solidFill>
            <a:srgbClr val="142A3D"/>
          </a:solidFill>
          <a:ln w="19050">
            <a:solidFill>
              <a:srgbClr val="F4BB55"/>
            </a:solidFill>
            <a:prstDash val="solid"/>
          </a:ln>
        </p:spPr>
        <p:txBody>
          <a:bodyPr wrap="square" lIns="9525" tIns="9525" rIns="9525" bIns="9525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BB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52" name="Text 48"/>
          <p:cNvSpPr/>
          <p:nvPr/>
        </p:nvSpPr>
        <p:spPr>
          <a:xfrm>
            <a:off x="5461000" y="5396309"/>
            <a:ext cx="28124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 needs an API key</a:t>
            </a:r>
            <a:endParaRPr lang="en-US" sz="1400" dirty="0"/>
          </a:p>
        </p:txBody>
      </p:sp>
      <p:sp>
        <p:nvSpPr>
          <p:cNvPr id="53" name="Text 49"/>
          <p:cNvSpPr/>
          <p:nvPr/>
        </p:nvSpPr>
        <p:spPr>
          <a:xfrm>
            <a:off x="8343900" y="5396309"/>
            <a:ext cx="312635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DCE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early; keep saved replies as a backup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r>
              <a:rPr lang="en-US" sz="1400" b="1" kern="0" spc="1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KEY ASSUMPTIONS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883392" cy="395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12"/>
              </a:lnSpc>
              <a:buNone/>
            </a:pPr>
            <a:r>
              <a:rPr lang="en-US" sz="2600" b="1" i="0" kern="0" spc="-5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things we take as given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1764854"/>
            <a:ext cx="5784850" cy="728414"/>
          </a:xfrm>
          <a:prstGeom prst="roundRect">
            <a:avLst>
              <a:gd name="adj" fmla="val 15256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4ED9E6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9650" y="1933476"/>
            <a:ext cx="4572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kern="0" spc="-50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93850" y="1887141"/>
            <a:ext cx="495769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data is up to date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93850" y="2156371"/>
            <a:ext cx="4957699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D3DC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Capacity, queue, status and defect rate</a:t>
            </a:r>
            <a:endParaRPr lang="en-US" sz="1300" dirty="0"/>
          </a:p>
        </p:txBody>
      </p:sp>
      <p:pic>
        <p:nvPicPr>
          <p:cNvPr id="8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56400" y="2052836"/>
            <a:ext cx="406400" cy="152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8375" y="1764854"/>
            <a:ext cx="4057650" cy="728414"/>
          </a:xfrm>
          <a:prstGeom prst="roundRect">
            <a:avLst>
              <a:gd name="adj" fmla="val 15256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FF7068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99350" y="2033786"/>
            <a:ext cx="190500" cy="190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04150" y="2022376"/>
            <a:ext cx="62587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F8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NOT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493522" y="2014736"/>
            <a:ext cx="278257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D0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Dates and checks are off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15975" y="2601218"/>
            <a:ext cx="5784850" cy="728464"/>
          </a:xfrm>
          <a:prstGeom prst="roundRect">
            <a:avLst>
              <a:gd name="adj" fmla="val 15255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7F9CFF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1009650" y="2769890"/>
            <a:ext cx="4572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kern="0" spc="-50" dirty="0">
                <a:solidFill>
                  <a:srgbClr val="7F9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1593850" y="2723505"/>
            <a:ext cx="495769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= queue + making + transport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593850" y="2992735"/>
            <a:ext cx="4957699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D3DC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other delays</a:t>
            </a:r>
            <a:endParaRPr lang="en-US" sz="1300" dirty="0"/>
          </a:p>
        </p:txBody>
      </p:sp>
      <p:pic>
        <p:nvPicPr>
          <p:cNvPr id="17" name="Image 2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56400" y="2889250"/>
            <a:ext cx="406400" cy="1524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318375" y="2601218"/>
            <a:ext cx="4057650" cy="728464"/>
          </a:xfrm>
          <a:prstGeom prst="roundRect">
            <a:avLst>
              <a:gd name="adj" fmla="val 15255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FF7068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99350" y="2870200"/>
            <a:ext cx="190500" cy="1905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804150" y="2858790"/>
            <a:ext cx="62587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F8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NOT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8493522" y="2851150"/>
            <a:ext cx="278257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D0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Dates are too optimistic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815975" y="3437632"/>
            <a:ext cx="5784850" cy="728414"/>
          </a:xfrm>
          <a:prstGeom prst="roundRect">
            <a:avLst>
              <a:gd name="adj" fmla="val 15256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23C9A7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1009650" y="3606254"/>
            <a:ext cx="4572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kern="0" spc="-50" dirty="0">
                <a:solidFill>
                  <a:srgbClr val="23C9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1593850" y="3559919"/>
            <a:ext cx="495769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reads short chats correctly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1593850" y="3829149"/>
            <a:ext cx="4957699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D3DC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 informal, hurried ones</a:t>
            </a:r>
            <a:endParaRPr lang="en-US" sz="1300" dirty="0"/>
          </a:p>
        </p:txBody>
      </p:sp>
      <p:pic>
        <p:nvPicPr>
          <p:cNvPr id="26" name="Image 4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56400" y="3725614"/>
            <a:ext cx="406400" cy="15240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318375" y="3437632"/>
            <a:ext cx="4057650" cy="728414"/>
          </a:xfrm>
          <a:prstGeom prst="roundRect">
            <a:avLst>
              <a:gd name="adj" fmla="val 15256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FF7068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1"/>
          <p:cNvSpPr/>
          <p:nvPr/>
        </p:nvSpPr>
        <p:spPr>
          <a:xfrm>
            <a:off x="7804150" y="3695154"/>
            <a:ext cx="62587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b="1" kern="0" spc="100" dirty="0">
                <a:solidFill>
                  <a:srgbClr val="FF8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NOT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8493522" y="3559919"/>
            <a:ext cx="2545539" cy="434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800"/>
              </a:lnSpc>
            </a:pPr>
            <a:r>
              <a:rPr lang="en-US" sz="1500" b="1" dirty="0">
                <a:solidFill>
                  <a:srgbClr val="FFD0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catches some errors, a person checks the rest</a:t>
            </a:r>
            <a:endParaRPr lang="en-US" sz="1500" dirty="0">
              <a:solidFill>
                <a:srgbClr val="FFD0CB"/>
              </a:solidFill>
            </a:endParaRPr>
          </a:p>
        </p:txBody>
      </p:sp>
      <p:sp>
        <p:nvSpPr>
          <p:cNvPr id="31" name="Shape 23"/>
          <p:cNvSpPr/>
          <p:nvPr/>
        </p:nvSpPr>
        <p:spPr>
          <a:xfrm>
            <a:off x="815975" y="4273996"/>
            <a:ext cx="5784850" cy="728464"/>
          </a:xfrm>
          <a:prstGeom prst="roundRect">
            <a:avLst>
              <a:gd name="adj" fmla="val 15255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A391FF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1009650" y="4442668"/>
            <a:ext cx="4572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kern="0" spc="-50" dirty="0">
                <a:solidFill>
                  <a:srgbClr val="A39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200" dirty="0"/>
          </a:p>
        </p:txBody>
      </p:sp>
      <p:sp>
        <p:nvSpPr>
          <p:cNvPr id="33" name="Text 25"/>
          <p:cNvSpPr/>
          <p:nvPr/>
        </p:nvSpPr>
        <p:spPr>
          <a:xfrm>
            <a:off x="1593850" y="4396284"/>
            <a:ext cx="495769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person confirms every pick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1593850" y="4665514"/>
            <a:ext cx="4957699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D3DC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is sent automatically</a:t>
            </a:r>
            <a:endParaRPr lang="en-US" sz="1300" dirty="0"/>
          </a:p>
        </p:txBody>
      </p:sp>
      <p:pic>
        <p:nvPicPr>
          <p:cNvPr id="35" name="Image 6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56400" y="4562029"/>
            <a:ext cx="406400" cy="152400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7318375" y="4273996"/>
            <a:ext cx="4057650" cy="728464"/>
          </a:xfrm>
          <a:prstGeom prst="roundRect">
            <a:avLst>
              <a:gd name="adj" fmla="val 15255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FF7068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7" name="Image 7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99350" y="4542979"/>
            <a:ext cx="190500" cy="19050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804150" y="4531568"/>
            <a:ext cx="62587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F8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NOT</a:t>
            </a:r>
            <a:endParaRPr lang="en-US" sz="1200" dirty="0"/>
          </a:p>
        </p:txBody>
      </p:sp>
      <p:sp>
        <p:nvSpPr>
          <p:cNvPr id="39" name="Text 29"/>
          <p:cNvSpPr/>
          <p:nvPr/>
        </p:nvSpPr>
        <p:spPr>
          <a:xfrm>
            <a:off x="8493522" y="4523929"/>
            <a:ext cx="278257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D0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picks go out</a:t>
            </a:r>
            <a:endParaRPr lang="en-US" sz="1500" dirty="0"/>
          </a:p>
        </p:txBody>
      </p:sp>
      <p:sp>
        <p:nvSpPr>
          <p:cNvPr id="40" name="Shape 30"/>
          <p:cNvSpPr/>
          <p:nvPr/>
        </p:nvSpPr>
        <p:spPr>
          <a:xfrm>
            <a:off x="815975" y="5110411"/>
            <a:ext cx="5784850" cy="728414"/>
          </a:xfrm>
          <a:prstGeom prst="roundRect">
            <a:avLst>
              <a:gd name="adj" fmla="val 15256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4ED9E6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1"/>
          <p:cNvSpPr/>
          <p:nvPr/>
        </p:nvSpPr>
        <p:spPr>
          <a:xfrm>
            <a:off x="1009650" y="5279033"/>
            <a:ext cx="4572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kern="0" spc="-50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200" dirty="0"/>
          </a:p>
        </p:txBody>
      </p:sp>
      <p:sp>
        <p:nvSpPr>
          <p:cNvPr id="42" name="Text 32"/>
          <p:cNvSpPr/>
          <p:nvPr/>
        </p:nvSpPr>
        <p:spPr>
          <a:xfrm>
            <a:off x="1593850" y="5232698"/>
            <a:ext cx="495769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= pieces × rate</a:t>
            </a:r>
            <a:endParaRPr lang="en-US" sz="1600" dirty="0"/>
          </a:p>
        </p:txBody>
      </p:sp>
      <p:sp>
        <p:nvSpPr>
          <p:cNvPr id="43" name="Text 33"/>
          <p:cNvSpPr/>
          <p:nvPr/>
        </p:nvSpPr>
        <p:spPr>
          <a:xfrm>
            <a:off x="1593850" y="5501928"/>
            <a:ext cx="4957699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D3DC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transport or rework fees</a:t>
            </a:r>
            <a:endParaRPr lang="en-US" sz="1300" dirty="0"/>
          </a:p>
        </p:txBody>
      </p:sp>
      <p:pic>
        <p:nvPicPr>
          <p:cNvPr id="44" name="Image 8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56400" y="5398393"/>
            <a:ext cx="406400" cy="152400"/>
          </a:xfrm>
          <a:prstGeom prst="rect">
            <a:avLst/>
          </a:prstGeom>
        </p:spPr>
      </p:pic>
      <p:sp>
        <p:nvSpPr>
          <p:cNvPr id="45" name="Shape 34"/>
          <p:cNvSpPr/>
          <p:nvPr/>
        </p:nvSpPr>
        <p:spPr>
          <a:xfrm>
            <a:off x="7318375" y="5110411"/>
            <a:ext cx="4057650" cy="728414"/>
          </a:xfrm>
          <a:prstGeom prst="roundRect">
            <a:avLst>
              <a:gd name="adj" fmla="val 15256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FF7068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6" name="Image 9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99350" y="5379343"/>
            <a:ext cx="190500" cy="19050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7804150" y="5367933"/>
            <a:ext cx="62587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F8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NOT</a:t>
            </a:r>
            <a:endParaRPr lang="en-US" sz="1200" dirty="0"/>
          </a:p>
        </p:txBody>
      </p:sp>
      <p:sp>
        <p:nvSpPr>
          <p:cNvPr id="48" name="Text 36"/>
          <p:cNvSpPr/>
          <p:nvPr/>
        </p:nvSpPr>
        <p:spPr>
          <a:xfrm>
            <a:off x="8493522" y="5360293"/>
            <a:ext cx="278257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D0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 fees are missed</a:t>
            </a:r>
            <a:endParaRPr lang="en-US" sz="1500" dirty="0"/>
          </a:p>
        </p:txBody>
      </p:sp>
      <p:sp>
        <p:nvSpPr>
          <p:cNvPr id="49" name="Text 37"/>
          <p:cNvSpPr/>
          <p:nvPr/>
        </p:nvSpPr>
        <p:spPr>
          <a:xfrm>
            <a:off x="812800" y="6236990"/>
            <a:ext cx="1440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2 · Sprint 1</a:t>
            </a:r>
            <a:endParaRPr lang="en-US" sz="1200" dirty="0"/>
          </a:p>
        </p:txBody>
      </p:sp>
      <p:sp>
        <p:nvSpPr>
          <p:cNvPr id="50" name="Text 38"/>
          <p:cNvSpPr/>
          <p:nvPr/>
        </p:nvSpPr>
        <p:spPr>
          <a:xfrm>
            <a:off x="10660955" y="6236990"/>
            <a:ext cx="7182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08</a:t>
            </a:r>
            <a:endParaRPr lang="en-US" sz="1200" dirty="0"/>
          </a:p>
        </p:txBody>
      </p:sp>
      <p:pic>
        <p:nvPicPr>
          <p:cNvPr id="52" name="Image 3" descr="Warning">
            <a:extLst>
              <a:ext uri="{FF2B5EF4-FFF2-40B4-BE49-F238E27FC236}">
                <a16:creationId xmlns:a16="http://schemas.microsoft.com/office/drawing/2014/main" id="{B134DA27-A66D-156D-567D-F906BB967A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00454" y="3706564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5814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r>
              <a:rPr lang="en-US" sz="1400" b="1" kern="0" spc="1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SPRINT 2 DEVELOPMENT 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511977" y="830560"/>
            <a:ext cx="9384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450437" y="817860"/>
            <a:ext cx="519956" cy="238720"/>
          </a:xfrm>
          <a:custGeom>
            <a:avLst/>
            <a:gdLst/>
            <a:ahLst/>
            <a:cxnLst/>
            <a:rect l="l" t="t" r="r" b="b"/>
            <a:pathLst>
              <a:path w="519956" h="238720">
                <a:moveTo>
                  <a:pt x="119360" y="0"/>
                </a:moveTo>
                <a:lnTo>
                  <a:pt x="400596" y="0"/>
                </a:lnTo>
                <a:arcTo wR="119360" hR="119360" stAng="16200000" swAng="5400000"/>
                <a:lnTo>
                  <a:pt x="519956" y="119360"/>
                </a:lnTo>
                <a:arcTo wR="119360" hR="119360" stAng="0" swAng="5400000"/>
                <a:lnTo>
                  <a:pt x="119360" y="238720"/>
                </a:lnTo>
                <a:arcTo wR="119360" hR="119360" stAng="5400000" swAng="5400000"/>
                <a:lnTo>
                  <a:pt x="0" y="119360"/>
                </a:lnTo>
                <a:arcTo wR="119360" hR="119360" stAng="10800000" swAng="5400000"/>
                <a:close/>
              </a:path>
            </a:pathLst>
          </a:custGeom>
          <a:solidFill>
            <a:srgbClr val="4ED9E6">
              <a:alpha val="14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46593" y="817860"/>
            <a:ext cx="774005" cy="238720"/>
          </a:xfrm>
          <a:custGeom>
            <a:avLst/>
            <a:gdLst/>
            <a:ahLst/>
            <a:cxnLst/>
            <a:rect l="l" t="t" r="r" b="b"/>
            <a:pathLst>
              <a:path w="774005" h="238720">
                <a:moveTo>
                  <a:pt x="119360" y="0"/>
                </a:moveTo>
                <a:lnTo>
                  <a:pt x="654645" y="0"/>
                </a:lnTo>
                <a:arcTo wR="119360" hR="119360" stAng="16200000" swAng="5400000"/>
                <a:lnTo>
                  <a:pt x="774005" y="119360"/>
                </a:lnTo>
                <a:arcTo wR="119360" hR="119360" stAng="0" swAng="5400000"/>
                <a:lnTo>
                  <a:pt x="119360" y="238720"/>
                </a:lnTo>
                <a:arcTo wR="119360" hR="119360" stAng="5400000" swAng="5400000"/>
                <a:lnTo>
                  <a:pt x="0" y="119360"/>
                </a:lnTo>
                <a:arcTo wR="119360" hR="119360" stAng="10800000" swAng="5400000"/>
                <a:close/>
              </a:path>
            </a:pathLst>
          </a:custGeom>
          <a:solidFill>
            <a:srgbClr val="F4BB55">
              <a:alpha val="14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BB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896798" y="817860"/>
            <a:ext cx="482402" cy="238720"/>
          </a:xfrm>
          <a:custGeom>
            <a:avLst/>
            <a:gdLst/>
            <a:ahLst/>
            <a:cxnLst/>
            <a:rect l="l" t="t" r="r" b="b"/>
            <a:pathLst>
              <a:path w="482402" h="238720">
                <a:moveTo>
                  <a:pt x="119360" y="0"/>
                </a:moveTo>
                <a:lnTo>
                  <a:pt x="363041" y="0"/>
                </a:lnTo>
                <a:arcTo wR="119360" hR="119360" stAng="16200000" swAng="5400000"/>
                <a:lnTo>
                  <a:pt x="482402" y="119360"/>
                </a:lnTo>
                <a:arcTo wR="119360" hR="119360" stAng="0" swAng="5400000"/>
                <a:lnTo>
                  <a:pt x="119360" y="238720"/>
                </a:lnTo>
                <a:arcTo wR="119360" hR="119360" stAng="5400000" swAng="5400000"/>
                <a:lnTo>
                  <a:pt x="0" y="119360"/>
                </a:lnTo>
                <a:arcTo wR="119360" hR="119360" stAng="10800000" swAng="5400000"/>
                <a:close/>
              </a:path>
            </a:pathLst>
          </a:custGeom>
          <a:solidFill>
            <a:srgbClr val="B4C0CD">
              <a:alpha val="14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200" dirty="0"/>
          </a:p>
        </p:txBody>
      </p:sp>
      <p:sp>
        <p:nvSpPr>
          <p:cNvPr id="7" name="Text 5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883392" cy="395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12"/>
              </a:lnSpc>
              <a:buNone/>
            </a:pPr>
            <a:r>
              <a:rPr lang="en-US" sz="2600" b="1" i="0" kern="0" spc="-5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the chat side works, then put it online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12800" y="1837879"/>
            <a:ext cx="406400" cy="40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488FF"/>
              </a:gs>
              <a:gs pos="50000">
                <a:srgbClr val="4ED9E6"/>
              </a:gs>
              <a:gs pos="100000">
                <a:srgbClr val="23C9A7"/>
              </a:gs>
            </a:gsLst>
            <a:lin ang="2700000" scaled="0"/>
          </a:gradFill>
          <a:ln/>
          <a:effectLst>
            <a:outerShdw blurRad="203200" dir="60000" algn="bl" rotWithShape="0">
              <a:srgbClr val="4ED9E6">
                <a:alpha val="35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320800" y="2025204"/>
            <a:ext cx="3028950" cy="31750"/>
          </a:xfrm>
          <a:prstGeom prst="roundRect">
            <a:avLst>
              <a:gd name="adj" fmla="val 50000"/>
            </a:avLst>
          </a:prstGeom>
          <a:solidFill>
            <a:srgbClr val="4ED9E6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60875" y="1847404"/>
            <a:ext cx="387350" cy="387350"/>
          </a:xfrm>
          <a:prstGeom prst="roundRect">
            <a:avLst>
              <a:gd name="adj" fmla="val 50000"/>
            </a:avLst>
          </a:prstGeom>
          <a:solidFill>
            <a:srgbClr val="102235"/>
          </a:solidFill>
          <a:ln w="19050">
            <a:solidFill>
              <a:srgbClr val="4ED9E6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59350" y="2025204"/>
            <a:ext cx="3028950" cy="31750"/>
          </a:xfrm>
          <a:prstGeom prst="roundRect">
            <a:avLst>
              <a:gd name="adj" fmla="val 50000"/>
            </a:avLst>
          </a:prstGeom>
          <a:solidFill>
            <a:srgbClr val="4ED9E6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99425" y="1847404"/>
            <a:ext cx="387350" cy="387350"/>
          </a:xfrm>
          <a:prstGeom prst="roundRect">
            <a:avLst>
              <a:gd name="adj" fmla="val 50000"/>
            </a:avLst>
          </a:prstGeom>
          <a:solidFill>
            <a:srgbClr val="102235"/>
          </a:solidFill>
          <a:ln w="19050">
            <a:solidFill>
              <a:srgbClr val="4ED9E6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pic>
        <p:nvPicPr>
          <p:cNvPr id="13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97900" y="1964879"/>
            <a:ext cx="1117600" cy="152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820275" y="1715343"/>
            <a:ext cx="1458962" cy="651470"/>
          </a:xfrm>
          <a:prstGeom prst="roundRect">
            <a:avLst>
              <a:gd name="adj" fmla="val 17058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4ED9E6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975850" y="1794718"/>
            <a:ext cx="119861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kern="0" spc="-50" dirty="0">
                <a:gradFill rotWithShape="1">
                  <a:gsLst>
                    <a:gs pos="0">
                      <a:srgbClr val="6488FF"/>
                    </a:gs>
                    <a:gs pos="50000">
                      <a:srgbClr val="4ED9E6"/>
                    </a:gs>
                    <a:gs pos="100000">
                      <a:srgbClr val="23C9A7"/>
                    </a:gs>
                  </a:gsLst>
                  <a:lin ang="0" scaled="0"/>
                </a:gradFill>
                <a:latin typeface="Inter" pitchFamily="34" charset="0"/>
                <a:ea typeface="Inter" pitchFamily="34" charset="-122"/>
                <a:cs typeface="Inter" pitchFamily="34" charset="-120"/>
              </a:rPr>
              <a:t>Fri 30 Oct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975850" y="2074118"/>
            <a:ext cx="119861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2 due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2800" y="2472879"/>
            <a:ext cx="3383585" cy="288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en-US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on real chat requests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12800" y="2773859"/>
            <a:ext cx="338358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it before we polish it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453434" y="2472879"/>
            <a:ext cx="3383636" cy="288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demo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453434" y="2773859"/>
            <a:ext cx="338363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SG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</a:rPr>
              <a:t>Ready to show and share</a:t>
            </a:r>
            <a:endParaRPr lang="en-US" sz="1300" dirty="0">
              <a:solidFill>
                <a:srgbClr val="B4C0CD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094117" y="2472879"/>
            <a:ext cx="3383585" cy="288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it easier to use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094117" y="2773859"/>
            <a:ext cx="338358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for the dispatcher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15975" y="3135164"/>
            <a:ext cx="3278684" cy="2703661"/>
          </a:xfrm>
          <a:prstGeom prst="roundRect">
            <a:avLst>
              <a:gd name="adj" fmla="val 4110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4ED9E6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96950" y="3278039"/>
            <a:ext cx="1916469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 the 30 requests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946499" y="3283099"/>
            <a:ext cx="519956" cy="238720"/>
          </a:xfrm>
          <a:custGeom>
            <a:avLst/>
            <a:gdLst/>
            <a:ahLst/>
            <a:cxnLst/>
            <a:rect l="l" t="t" r="r" b="b"/>
            <a:pathLst>
              <a:path w="519956" h="238720">
                <a:moveTo>
                  <a:pt x="119360" y="0"/>
                </a:moveTo>
                <a:lnTo>
                  <a:pt x="400596" y="0"/>
                </a:lnTo>
                <a:arcTo wR="119360" hR="119360" stAng="16200000" swAng="5400000"/>
                <a:lnTo>
                  <a:pt x="519956" y="119360"/>
                </a:lnTo>
                <a:arcTo wR="119360" hR="119360" stAng="0" swAng="5400000"/>
                <a:lnTo>
                  <a:pt x="119360" y="238720"/>
                </a:lnTo>
                <a:arcTo wR="119360" hR="119360" stAng="5400000" swAng="5400000"/>
                <a:lnTo>
                  <a:pt x="0" y="119360"/>
                </a:lnTo>
                <a:arcTo wR="119360" hR="119360" stAng="10800000" swAng="5400000"/>
                <a:close/>
              </a:path>
            </a:pathLst>
          </a:custGeom>
          <a:solidFill>
            <a:srgbClr val="4ED9E6">
              <a:alpha val="14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96950" y="3552329"/>
            <a:ext cx="300423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reviewers, then reconcile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96950" y="3910459"/>
            <a:ext cx="2363062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10+ unseen requests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380085" y="3915519"/>
            <a:ext cx="519956" cy="238720"/>
          </a:xfrm>
          <a:custGeom>
            <a:avLst/>
            <a:gdLst/>
            <a:ahLst/>
            <a:cxnLst/>
            <a:rect l="l" t="t" r="r" b="b"/>
            <a:pathLst>
              <a:path w="519956" h="238720">
                <a:moveTo>
                  <a:pt x="119360" y="0"/>
                </a:moveTo>
                <a:lnTo>
                  <a:pt x="400596" y="0"/>
                </a:lnTo>
                <a:arcTo wR="119360" hR="119360" stAng="16200000" swAng="5400000"/>
                <a:lnTo>
                  <a:pt x="519956" y="119360"/>
                </a:lnTo>
                <a:arcTo wR="119360" hR="119360" stAng="0" swAng="5400000"/>
                <a:lnTo>
                  <a:pt x="119360" y="238720"/>
                </a:lnTo>
                <a:arcTo wR="119360" hR="119360" stAng="5400000" swAng="5400000"/>
                <a:lnTo>
                  <a:pt x="0" y="119360"/>
                </a:lnTo>
                <a:arcTo wR="119360" hR="119360" stAng="10800000" swAng="5400000"/>
                <a:close/>
              </a:path>
            </a:pathLst>
          </a:custGeom>
          <a:solidFill>
            <a:srgbClr val="4ED9E6">
              <a:alpha val="14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96950" y="4184749"/>
            <a:ext cx="300423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Held out, never tuned on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96950" y="4542879"/>
            <a:ext cx="1929090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LLM run on all 30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2958753" y="4547939"/>
            <a:ext cx="519956" cy="238720"/>
          </a:xfrm>
          <a:custGeom>
            <a:avLst/>
            <a:gdLst/>
            <a:ahLst/>
            <a:cxnLst/>
            <a:rect l="l" t="t" r="r" b="b"/>
            <a:pathLst>
              <a:path w="519956" h="238720">
                <a:moveTo>
                  <a:pt x="119360" y="0"/>
                </a:moveTo>
                <a:lnTo>
                  <a:pt x="400596" y="0"/>
                </a:lnTo>
                <a:arcTo wR="119360" hR="119360" stAng="16200000" swAng="5400000"/>
                <a:lnTo>
                  <a:pt x="519956" y="119360"/>
                </a:lnTo>
                <a:arcTo wR="119360" hR="119360" stAng="0" swAng="5400000"/>
                <a:lnTo>
                  <a:pt x="119360" y="238720"/>
                </a:lnTo>
                <a:arcTo wR="119360" hR="119360" stAng="5400000" swAng="5400000"/>
                <a:lnTo>
                  <a:pt x="0" y="119360"/>
                </a:lnTo>
                <a:arcTo wR="119360" hR="119360" stAng="10800000" swAng="5400000"/>
                <a:close/>
              </a:path>
            </a:pathLst>
          </a:custGeom>
          <a:solidFill>
            <a:srgbClr val="4ED9E6">
              <a:alpha val="14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96950" y="4817170"/>
            <a:ext cx="300423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and explanation scored apart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4456609" y="3135164"/>
            <a:ext cx="3278733" cy="2703661"/>
          </a:xfrm>
          <a:prstGeom prst="roundRect">
            <a:avLst>
              <a:gd name="adj" fmla="val 4110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7F9CFF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637584" y="3278039"/>
            <a:ext cx="1121420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5797104" y="3283099"/>
            <a:ext cx="519956" cy="238720"/>
          </a:xfrm>
          <a:custGeom>
            <a:avLst/>
            <a:gdLst/>
            <a:ahLst/>
            <a:cxnLst/>
            <a:rect l="l" t="t" r="r" b="b"/>
            <a:pathLst>
              <a:path w="482402" h="238720">
                <a:moveTo>
                  <a:pt x="119360" y="0"/>
                </a:moveTo>
                <a:lnTo>
                  <a:pt x="363041" y="0"/>
                </a:lnTo>
                <a:arcTo wR="119360" hR="119360" stAng="16200000" swAng="5400000"/>
                <a:lnTo>
                  <a:pt x="482402" y="119360"/>
                </a:lnTo>
                <a:arcTo wR="119360" hR="119360" stAng="0" swAng="5400000"/>
                <a:lnTo>
                  <a:pt x="119360" y="238720"/>
                </a:lnTo>
                <a:arcTo wR="119360" hR="119360" stAng="5400000" swAng="5400000"/>
                <a:lnTo>
                  <a:pt x="0" y="119360"/>
                </a:lnTo>
                <a:arcTo wR="119360" hR="119360" stAng="10800000" swAng="5400000"/>
                <a:close/>
              </a:path>
            </a:pathLst>
          </a:custGeom>
          <a:solidFill>
            <a:srgbClr val="4ED9E6">
              <a:alpha val="14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1680"/>
              </a:lnSpc>
            </a:pPr>
            <a:r>
              <a:rPr lang="en-US" sz="1200" b="1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637584" y="3552329"/>
            <a:ext cx="300428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 err="1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</a:t>
            </a: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public GitHub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4637584" y="3910459"/>
            <a:ext cx="1242814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2 video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5871486" y="3915519"/>
            <a:ext cx="519956" cy="238720"/>
          </a:xfrm>
          <a:custGeom>
            <a:avLst/>
            <a:gdLst/>
            <a:ahLst/>
            <a:cxnLst/>
            <a:rect l="l" t="t" r="r" b="b"/>
            <a:pathLst>
              <a:path w="519956" h="238720">
                <a:moveTo>
                  <a:pt x="119360" y="0"/>
                </a:moveTo>
                <a:lnTo>
                  <a:pt x="400596" y="0"/>
                </a:lnTo>
                <a:arcTo wR="119360" hR="119360" stAng="16200000" swAng="5400000"/>
                <a:lnTo>
                  <a:pt x="519956" y="119360"/>
                </a:lnTo>
                <a:arcTo wR="119360" hR="119360" stAng="0" swAng="5400000"/>
                <a:lnTo>
                  <a:pt x="119360" y="238720"/>
                </a:lnTo>
                <a:arcTo wR="119360" hR="119360" stAng="5400000" swAng="5400000"/>
                <a:lnTo>
                  <a:pt x="0" y="119360"/>
                </a:lnTo>
                <a:arcTo wR="119360" hR="119360" stAng="10800000" swAng="5400000"/>
                <a:close/>
              </a:path>
            </a:pathLst>
          </a:custGeom>
          <a:solidFill>
            <a:srgbClr val="4ED9E6">
              <a:alpha val="14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637584" y="4184749"/>
            <a:ext cx="300428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min: objective, tech, live demo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8097292" y="3135164"/>
            <a:ext cx="3278684" cy="2703661"/>
          </a:xfrm>
          <a:prstGeom prst="roundRect">
            <a:avLst>
              <a:gd name="adj" fmla="val 4110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23C9A7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278267" y="3278039"/>
            <a:ext cx="794395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polish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9110762" y="3283099"/>
            <a:ext cx="774005" cy="238720"/>
          </a:xfrm>
          <a:custGeom>
            <a:avLst/>
            <a:gdLst/>
            <a:ahLst/>
            <a:cxnLst/>
            <a:rect l="l" t="t" r="r" b="b"/>
            <a:pathLst>
              <a:path w="774005" h="238720">
                <a:moveTo>
                  <a:pt x="119360" y="0"/>
                </a:moveTo>
                <a:lnTo>
                  <a:pt x="654645" y="0"/>
                </a:lnTo>
                <a:arcTo wR="119360" hR="119360" stAng="16200000" swAng="5400000"/>
                <a:lnTo>
                  <a:pt x="774005" y="119360"/>
                </a:lnTo>
                <a:arcTo wR="119360" hR="119360" stAng="0" swAng="5400000"/>
                <a:lnTo>
                  <a:pt x="119360" y="238720"/>
                </a:lnTo>
                <a:arcTo wR="119360" hR="119360" stAng="5400000" swAng="5400000"/>
                <a:lnTo>
                  <a:pt x="0" y="119360"/>
                </a:lnTo>
                <a:arcTo wR="119360" hR="119360" stAng="10800000" swAng="5400000"/>
                <a:close/>
              </a:path>
            </a:pathLst>
          </a:custGeom>
          <a:solidFill>
            <a:srgbClr val="F4BB55">
              <a:alpha val="14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BB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278267" y="3552329"/>
            <a:ext cx="300423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info at a glance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8278267" y="3897759"/>
            <a:ext cx="1953719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Remember follow-ups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10263981" y="3902819"/>
            <a:ext cx="774005" cy="238720"/>
          </a:xfrm>
          <a:custGeom>
            <a:avLst/>
            <a:gdLst/>
            <a:ahLst/>
            <a:cxnLst/>
            <a:rect l="l" t="t" r="r" b="b"/>
            <a:pathLst>
              <a:path w="774005" h="238720">
                <a:moveTo>
                  <a:pt x="119360" y="0"/>
                </a:moveTo>
                <a:lnTo>
                  <a:pt x="654645" y="0"/>
                </a:lnTo>
                <a:arcTo wR="119360" hR="119360" stAng="16200000" swAng="5400000"/>
                <a:lnTo>
                  <a:pt x="774005" y="119360"/>
                </a:lnTo>
                <a:arcTo wR="119360" hR="119360" stAng="0" swAng="5400000"/>
                <a:lnTo>
                  <a:pt x="119360" y="238720"/>
                </a:lnTo>
                <a:arcTo wR="119360" hR="119360" stAng="5400000" swAng="5400000"/>
                <a:lnTo>
                  <a:pt x="0" y="119360"/>
                </a:lnTo>
                <a:arcTo wR="119360" hR="119360" stAng="10800000" swAng="5400000"/>
                <a:close/>
              </a:path>
            </a:pathLst>
          </a:custGeom>
          <a:solidFill>
            <a:srgbClr val="F4BB55">
              <a:alpha val="14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BB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8278267" y="4172049"/>
            <a:ext cx="300423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820"/>
              </a:lnSpc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Reply combined with first message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8278267" y="4517479"/>
            <a:ext cx="1750350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Dispatcher override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10066536" y="4522539"/>
            <a:ext cx="482402" cy="238720"/>
          </a:xfrm>
          <a:custGeom>
            <a:avLst/>
            <a:gdLst/>
            <a:ahLst/>
            <a:cxnLst/>
            <a:rect l="l" t="t" r="r" b="b"/>
            <a:pathLst>
              <a:path w="482402" h="238720">
                <a:moveTo>
                  <a:pt x="119360" y="0"/>
                </a:moveTo>
                <a:lnTo>
                  <a:pt x="363041" y="0"/>
                </a:lnTo>
                <a:arcTo wR="119360" hR="119360" stAng="16200000" swAng="5400000"/>
                <a:lnTo>
                  <a:pt x="482402" y="119360"/>
                </a:lnTo>
                <a:arcTo wR="119360" hR="119360" stAng="0" swAng="5400000"/>
                <a:lnTo>
                  <a:pt x="119360" y="238720"/>
                </a:lnTo>
                <a:arcTo wR="119360" hR="119360" stAng="5400000" swAng="5400000"/>
                <a:lnTo>
                  <a:pt x="0" y="119360"/>
                </a:lnTo>
                <a:arcTo wR="119360" hR="119360" stAng="10800000" swAng="5400000"/>
                <a:close/>
              </a:path>
            </a:pathLst>
          </a:custGeom>
          <a:solidFill>
            <a:srgbClr val="B4C0CD">
              <a:alpha val="14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8278267" y="4791770"/>
            <a:ext cx="300423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 saved in the log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8278267" y="5137200"/>
            <a:ext cx="1317526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 time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9633893" y="5142260"/>
            <a:ext cx="482402" cy="238720"/>
          </a:xfrm>
          <a:custGeom>
            <a:avLst/>
            <a:gdLst/>
            <a:ahLst/>
            <a:cxnLst/>
            <a:rect l="l" t="t" r="r" b="b"/>
            <a:pathLst>
              <a:path w="482402" h="238720">
                <a:moveTo>
                  <a:pt x="119360" y="0"/>
                </a:moveTo>
                <a:lnTo>
                  <a:pt x="363041" y="0"/>
                </a:lnTo>
                <a:arcTo wR="119360" hR="119360" stAng="16200000" swAng="5400000"/>
                <a:lnTo>
                  <a:pt x="482402" y="119360"/>
                </a:lnTo>
                <a:arcTo wR="119360" hR="119360" stAng="0" swAng="5400000"/>
                <a:lnTo>
                  <a:pt x="119360" y="238720"/>
                </a:lnTo>
                <a:arcTo wR="119360" hR="119360" stAng="5400000" swAng="5400000"/>
                <a:lnTo>
                  <a:pt x="0" y="119360"/>
                </a:lnTo>
                <a:arcTo wR="119360" hR="119360" stAng="10800000" swAng="5400000"/>
                <a:close/>
              </a:path>
            </a:pathLst>
          </a:custGeom>
          <a:solidFill>
            <a:srgbClr val="B4C0CD">
              <a:alpha val="14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8278267" y="5411490"/>
            <a:ext cx="300423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 to recommendation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812800" y="6236990"/>
            <a:ext cx="1440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2 · Sprint 1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10660717" y="6236990"/>
            <a:ext cx="7184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r>
              <a:rPr lang="en-US" sz="1400" b="1" kern="0" spc="1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SPRINT 2 SUCCESS CRITERIA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883392" cy="395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12"/>
              </a:lnSpc>
              <a:buNone/>
            </a:pPr>
            <a:r>
              <a:rPr lang="en-US" sz="2600" b="1" i="0" kern="0" spc="-5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2 succeeds on three fronts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1739454"/>
            <a:ext cx="6089650" cy="4099371"/>
          </a:xfrm>
          <a:prstGeom prst="roundRect">
            <a:avLst>
              <a:gd name="adj" fmla="val 2711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4ED9E6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Cha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5050" y="1925489"/>
            <a:ext cx="177800" cy="17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9050" y="1907729"/>
            <a:ext cx="24058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CHAT SIDE WORKS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5050" y="2222649"/>
            <a:ext cx="3531870" cy="869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7000" b="1" kern="0" spc="-300" dirty="0">
                <a:gradFill rotWithShape="1">
                  <a:gsLst>
                    <a:gs pos="0">
                      <a:srgbClr val="6488FF"/>
                    </a:gs>
                    <a:gs pos="50000">
                      <a:srgbClr val="4ED9E6"/>
                    </a:gs>
                    <a:gs pos="100000">
                      <a:srgbClr val="23C9A7"/>
                    </a:gs>
                  </a:gsLst>
                  <a:lin ang="0" scaled="0"/>
                </a:gradFill>
                <a:latin typeface="Inter" pitchFamily="34" charset="0"/>
                <a:ea typeface="Inter" pitchFamily="34" charset="-122"/>
                <a:cs typeface="Inter" pitchFamily="34" charset="-120"/>
              </a:rPr>
              <a:t>26/30</a:t>
            </a:r>
            <a:endParaRPr lang="en-US" sz="7000" dirty="0"/>
          </a:p>
        </p:txBody>
      </p:sp>
      <p:sp>
        <p:nvSpPr>
          <p:cNvPr id="8" name="Text 5"/>
          <p:cNvSpPr/>
          <p:nvPr/>
        </p:nvSpPr>
        <p:spPr>
          <a:xfrm>
            <a:off x="1035050" y="3117999"/>
            <a:ext cx="353187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950"/>
              </a:lnSpc>
            </a:pPr>
            <a:r>
              <a:rPr lang="en-US" sz="15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least 26 of 30 correct (85%)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35050" y="3416449"/>
            <a:ext cx="353187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· ask · refuse · can't answer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68850" y="2406799"/>
            <a:ext cx="1975231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5600" b="1" kern="0" spc="-200" dirty="0">
                <a:solidFill>
                  <a:srgbClr val="4AD8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4768850" y="3168799"/>
            <a:ext cx="1975231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Invented numbers in any explanation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35050" y="3732659"/>
            <a:ext cx="912929" cy="45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kern="0" spc="-1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5/7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035050" y="4203305"/>
            <a:ext cx="912929" cy="733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Asks when a request is unclear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012421" y="3732659"/>
            <a:ext cx="912929" cy="45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kern="0" spc="-1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4/4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2012421" y="4203305"/>
            <a:ext cx="912929" cy="733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Refuses with reason + alternative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989791" y="3732659"/>
            <a:ext cx="912929" cy="45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kern="0" spc="-1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3/3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2989791" y="4203305"/>
            <a:ext cx="912929" cy="733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Says when the data can't answer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967162" y="3732659"/>
            <a:ext cx="912929" cy="45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kern="0" spc="-1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3/3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3967162" y="4203305"/>
            <a:ext cx="912929" cy="733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Impossible deadline: earliest date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44532" y="3732659"/>
            <a:ext cx="912929" cy="45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kern="0" spc="-1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6/6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4944532" y="4203305"/>
            <a:ext cx="912929" cy="733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Follows and </a:t>
            </a: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</a:rPr>
              <a:t>logs instructions</a:t>
            </a:r>
          </a:p>
        </p:txBody>
      </p:sp>
      <p:sp>
        <p:nvSpPr>
          <p:cNvPr id="24" name="Text 21"/>
          <p:cNvSpPr/>
          <p:nvPr/>
        </p:nvSpPr>
        <p:spPr>
          <a:xfrm>
            <a:off x="1035050" y="5265440"/>
            <a:ext cx="489466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10+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91514" y="5309890"/>
            <a:ext cx="27457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held-out, reported separately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064375" y="1739454"/>
            <a:ext cx="4311650" cy="2486571"/>
          </a:xfrm>
          <a:prstGeom prst="roundRect">
            <a:avLst>
              <a:gd name="adj" fmla="val 4469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7F9CFF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1" descr="Hom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58050" y="1899196"/>
            <a:ext cx="177800" cy="1778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512050" y="1881436"/>
            <a:ext cx="20229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7F9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 IS USABLE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7258050" y="2170063"/>
            <a:ext cx="1765935" cy="2565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online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9074150" y="2170063"/>
            <a:ext cx="217144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links open anywhere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7258050" y="2449810"/>
            <a:ext cx="1765935" cy="2565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polish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9074150" y="2449810"/>
            <a:ext cx="217144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Pick, ETA, cost: no scrolling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7258050" y="2958554"/>
            <a:ext cx="1765935" cy="2565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Remember follow-up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9074150" y="2958554"/>
            <a:ext cx="22987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Reply "ORD-020" → a pick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7258050" y="3238302"/>
            <a:ext cx="1765935" cy="2565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Dispatcher override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9074150" y="3238302"/>
            <a:ext cx="217144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Works, reason logged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7258050" y="3619649"/>
            <a:ext cx="3924300" cy="463500"/>
          </a:xfrm>
          <a:prstGeom prst="roundRect">
            <a:avLst>
              <a:gd name="adj" fmla="val 16440"/>
            </a:avLst>
          </a:prstGeom>
          <a:solidFill>
            <a:srgbClr val="142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7385050" y="3778399"/>
            <a:ext cx="1227038" cy="2565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 time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8688288" y="3695849"/>
            <a:ext cx="2409919" cy="3327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kern="0" spc="-50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10 seconds</a:t>
            </a:r>
            <a:endParaRPr lang="en-US" sz="2200" dirty="0"/>
          </a:p>
        </p:txBody>
      </p:sp>
      <p:sp>
        <p:nvSpPr>
          <p:cNvPr id="40" name="Shape 36"/>
          <p:cNvSpPr/>
          <p:nvPr/>
        </p:nvSpPr>
        <p:spPr>
          <a:xfrm>
            <a:off x="7064375" y="4359374"/>
            <a:ext cx="4311650" cy="1479451"/>
          </a:xfrm>
          <a:prstGeom prst="roundRect">
            <a:avLst>
              <a:gd name="adj" fmla="val 7511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23C9A7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" name="Image 2" descr="Char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58050" y="4520009"/>
            <a:ext cx="177800" cy="17780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7512050" y="4502249"/>
            <a:ext cx="1680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3C9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SIMULATOR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7258050" y="4779070"/>
            <a:ext cx="404202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 late orders</a:t>
            </a:r>
            <a:endParaRPr lang="en-US" sz="1300" dirty="0"/>
          </a:p>
        </p:txBody>
      </p:sp>
      <p:sp>
        <p:nvSpPr>
          <p:cNvPr id="44" name="Text 39"/>
          <p:cNvSpPr/>
          <p:nvPr/>
        </p:nvSpPr>
        <p:spPr>
          <a:xfrm>
            <a:off x="7258050" y="5048300"/>
            <a:ext cx="4042029" cy="3606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kern="0" spc="-5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Beat all 3 baselines</a:t>
            </a:r>
            <a:endParaRPr lang="en-US" sz="2400" dirty="0"/>
          </a:p>
        </p:txBody>
      </p:sp>
      <p:sp>
        <p:nvSpPr>
          <p:cNvPr id="45" name="Text 40"/>
          <p:cNvSpPr/>
          <p:nvPr/>
        </p:nvSpPr>
        <p:spPr>
          <a:xfrm>
            <a:off x="7258050" y="5447060"/>
            <a:ext cx="1711523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Robustness, hybrid</a:t>
            </a:r>
            <a:endParaRPr lang="en-US" sz="1400" dirty="0"/>
          </a:p>
        </p:txBody>
      </p:sp>
      <p:sp>
        <p:nvSpPr>
          <p:cNvPr id="46" name="Text 41"/>
          <p:cNvSpPr/>
          <p:nvPr/>
        </p:nvSpPr>
        <p:spPr>
          <a:xfrm>
            <a:off x="9020373" y="5462935"/>
            <a:ext cx="20726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Reported vs baselines</a:t>
            </a:r>
            <a:endParaRPr lang="en-US" sz="1300" dirty="0"/>
          </a:p>
        </p:txBody>
      </p:sp>
      <p:sp>
        <p:nvSpPr>
          <p:cNvPr id="47" name="Text 42"/>
          <p:cNvSpPr/>
          <p:nvPr/>
        </p:nvSpPr>
        <p:spPr>
          <a:xfrm>
            <a:off x="812800" y="6236990"/>
            <a:ext cx="1440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2 · Sprint 1</a:t>
            </a:r>
            <a:endParaRPr lang="en-US" sz="1200" dirty="0"/>
          </a:p>
        </p:txBody>
      </p:sp>
      <p:sp>
        <p:nvSpPr>
          <p:cNvPr id="48" name="Text 43"/>
          <p:cNvSpPr/>
          <p:nvPr/>
        </p:nvSpPr>
        <p:spPr>
          <a:xfrm>
            <a:off x="10699710" y="6236990"/>
            <a:ext cx="6794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10</a:t>
            </a:r>
            <a:endParaRPr lang="en-US" sz="1200" dirty="0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3E8CB4B3-5625-6466-C44B-620B636A88B1}"/>
              </a:ext>
            </a:extLst>
          </p:cNvPr>
          <p:cNvSpPr/>
          <p:nvPr/>
        </p:nvSpPr>
        <p:spPr>
          <a:xfrm>
            <a:off x="5897217" y="3732659"/>
            <a:ext cx="912929" cy="45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kern="0" spc="-1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5/7</a:t>
            </a:r>
            <a:endParaRPr lang="en-US" sz="2800" dirty="0"/>
          </a:p>
        </p:txBody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C0D2F340-950D-DDB8-F547-1C83439283A1}"/>
              </a:ext>
            </a:extLst>
          </p:cNvPr>
          <p:cNvSpPr/>
          <p:nvPr/>
        </p:nvSpPr>
        <p:spPr>
          <a:xfrm>
            <a:off x="5897217" y="4203305"/>
            <a:ext cx="912929" cy="733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SG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</a:rPr>
              <a:t>Recommends a valid</a:t>
            </a:r>
            <a:r>
              <a:rPr lang="en-SG" sz="1300" dirty="0"/>
              <a:t> </a:t>
            </a:r>
          </a:p>
          <a:p>
            <a:r>
              <a:rPr lang="en-SG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</a:rPr>
              <a:t>pick</a:t>
            </a:r>
            <a:endParaRPr lang="en-US" sz="1300" dirty="0">
              <a:solidFill>
                <a:srgbClr val="B4C0CD"/>
              </a:solidFill>
              <a:latin typeface="Inter" pitchFamily="34" charset="0"/>
              <a:ea typeface="Inter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QUICK-RESPONSE SUBCONTRACTING DESK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057450"/>
            <a:ext cx="10883392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00"/>
              </a:lnSpc>
              <a:buNone/>
            </a:pPr>
            <a:r>
              <a:rPr lang="en-US" sz="9200" b="1" i="0" kern="0" spc="-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812800" y="3378250"/>
            <a:ext cx="2458666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kern="0" spc="-50" dirty="0">
                <a:gradFill rotWithShape="1">
                  <a:gsLst>
                    <a:gs pos="0">
                      <a:srgbClr val="6488FF"/>
                    </a:gs>
                    <a:gs pos="50000">
                      <a:srgbClr val="4ED9E6"/>
                    </a:gs>
                    <a:gs pos="100000">
                      <a:srgbClr val="23C9A7"/>
                    </a:gs>
                  </a:gsLst>
                  <a:lin ang="0" scaled="0"/>
                </a:gra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3600" dirty="0"/>
          </a:p>
        </p:txBody>
      </p:sp>
      <p:pic>
        <p:nvPicPr>
          <p:cNvPr id="5" name="Image 0" descr="Cod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4241800"/>
            <a:ext cx="241300" cy="241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4211340"/>
            <a:ext cx="6313051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u="sng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github.com/apurwakumari16nus/Track2_Dispatcher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12800" y="5509270"/>
            <a:ext cx="263357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5778500"/>
            <a:ext cx="2633573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DSS5105 Capstone · Track 2 · Group 01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755122" y="5509270"/>
            <a:ext cx="777890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5121" y="5778500"/>
            <a:ext cx="777890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Aditya Vijindra Pandhari · Apurwa Kumari · Vanshika Dhamija · Yin Ning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</a:t>
            </a:r>
            <a:r>
              <a:rPr lang="en-US" sz="1400" b="1" kern="0" spc="1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PROGRESS DETAIL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883392" cy="395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12"/>
              </a:lnSpc>
              <a:buNone/>
            </a:pPr>
            <a:r>
              <a:rPr lang="en-US" sz="2600" b="1" i="0" kern="0" spc="-5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subtask behind the progress slide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1612454"/>
            <a:ext cx="2559050" cy="2059186"/>
          </a:xfrm>
          <a:prstGeom prst="roundRect">
            <a:avLst>
              <a:gd name="adj" fmla="val 5397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4AD889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3450" y="1698179"/>
            <a:ext cx="44648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16768" y="1714054"/>
            <a:ext cx="54078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AD8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of 5</a:t>
            </a:r>
            <a:endParaRPr lang="en-US" sz="1300" dirty="0"/>
          </a:p>
        </p:txBody>
      </p:sp>
      <p:pic>
        <p:nvPicPr>
          <p:cNvPr id="7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450" y="2033389"/>
            <a:ext cx="152400" cy="152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9350" y="2010569"/>
            <a:ext cx="192571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Brief, data, simulator</a:t>
            </a:r>
            <a:endParaRPr lang="en-US" sz="1300" dirty="0"/>
          </a:p>
        </p:txBody>
      </p:sp>
      <p:pic>
        <p:nvPicPr>
          <p:cNvPr id="9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450" y="2256879"/>
            <a:ext cx="152400" cy="152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9350" y="2234059"/>
            <a:ext cx="1731824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 chosen</a:t>
            </a:r>
            <a:endParaRPr lang="en-US" sz="1300" dirty="0"/>
          </a:p>
        </p:txBody>
      </p:sp>
      <p:pic>
        <p:nvPicPr>
          <p:cNvPr id="11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450" y="2480370"/>
            <a:ext cx="152400" cy="152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9350" y="2457549"/>
            <a:ext cx="194524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Problem, value, risks</a:t>
            </a:r>
            <a:endParaRPr lang="en-US" sz="1300" dirty="0"/>
          </a:p>
        </p:txBody>
      </p:sp>
      <p:pic>
        <p:nvPicPr>
          <p:cNvPr id="13" name="Image 3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450" y="2703860"/>
            <a:ext cx="152400" cy="152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9350" y="2681039"/>
            <a:ext cx="196381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diagram</a:t>
            </a:r>
            <a:endParaRPr lang="en-US" sz="1300" dirty="0"/>
          </a:p>
        </p:txBody>
      </p:sp>
      <p:pic>
        <p:nvPicPr>
          <p:cNvPr id="15" name="Image 4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450" y="2927350"/>
            <a:ext cx="152400" cy="1524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49350" y="2904530"/>
            <a:ext cx="1652588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specification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3482975" y="1612454"/>
            <a:ext cx="2559050" cy="2059186"/>
          </a:xfrm>
          <a:prstGeom prst="roundRect">
            <a:avLst>
              <a:gd name="adj" fmla="val 5397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4AD889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/>
          <p:nvPr/>
        </p:nvSpPr>
        <p:spPr>
          <a:xfrm>
            <a:off x="3600450" y="1698179"/>
            <a:ext cx="55703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5383768" y="1714054"/>
            <a:ext cx="54078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AD8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of 5</a:t>
            </a:r>
            <a:endParaRPr lang="en-US" sz="1300" dirty="0"/>
          </a:p>
        </p:txBody>
      </p:sp>
      <p:pic>
        <p:nvPicPr>
          <p:cNvPr id="20" name="Image 5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00450" y="2033389"/>
            <a:ext cx="152400" cy="1524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816350" y="2010569"/>
            <a:ext cx="22225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Eligibility, queue, ETA, cost</a:t>
            </a:r>
            <a:endParaRPr lang="en-US" sz="1300" dirty="0"/>
          </a:p>
        </p:txBody>
      </p:sp>
      <p:pic>
        <p:nvPicPr>
          <p:cNvPr id="22" name="Image 6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00450" y="2256879"/>
            <a:ext cx="152400" cy="1524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816350" y="2234059"/>
            <a:ext cx="201989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list, lookup</a:t>
            </a:r>
            <a:endParaRPr lang="en-US" sz="1300" dirty="0"/>
          </a:p>
        </p:txBody>
      </p:sp>
      <p:pic>
        <p:nvPicPr>
          <p:cNvPr id="24" name="Image 7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00450" y="2480370"/>
            <a:ext cx="152400" cy="1524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816350" y="2457549"/>
            <a:ext cx="135290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Overload, split</a:t>
            </a:r>
            <a:endParaRPr lang="en-US" sz="1300" dirty="0"/>
          </a:p>
        </p:txBody>
      </p:sp>
      <p:pic>
        <p:nvPicPr>
          <p:cNvPr id="26" name="Image 8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00450" y="2703860"/>
            <a:ext cx="152400" cy="1524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816350" y="2681039"/>
            <a:ext cx="148941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Closure monitor</a:t>
            </a:r>
            <a:endParaRPr lang="en-US" sz="1300" dirty="0"/>
          </a:p>
        </p:txBody>
      </p:sp>
      <p:pic>
        <p:nvPicPr>
          <p:cNvPr id="28" name="Image 9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00450" y="2927350"/>
            <a:ext cx="152400" cy="1524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3816350" y="2904530"/>
            <a:ext cx="883444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tests</a:t>
            </a:r>
            <a:endParaRPr lang="en-US" sz="1300" dirty="0"/>
          </a:p>
        </p:txBody>
      </p:sp>
      <p:sp>
        <p:nvSpPr>
          <p:cNvPr id="30" name="Shape 18"/>
          <p:cNvSpPr/>
          <p:nvPr/>
        </p:nvSpPr>
        <p:spPr>
          <a:xfrm>
            <a:off x="6149975" y="1612454"/>
            <a:ext cx="2559050" cy="2059186"/>
          </a:xfrm>
          <a:prstGeom prst="roundRect">
            <a:avLst>
              <a:gd name="adj" fmla="val 5397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4ED9E6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19"/>
          <p:cNvSpPr/>
          <p:nvPr/>
        </p:nvSpPr>
        <p:spPr>
          <a:xfrm>
            <a:off x="6267450" y="1698179"/>
            <a:ext cx="93356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Allocator</a:t>
            </a:r>
            <a:endParaRPr lang="en-US" sz="1400" dirty="0"/>
          </a:p>
        </p:txBody>
      </p:sp>
      <p:sp>
        <p:nvSpPr>
          <p:cNvPr id="32" name="Text 20"/>
          <p:cNvSpPr/>
          <p:nvPr/>
        </p:nvSpPr>
        <p:spPr>
          <a:xfrm>
            <a:off x="8035409" y="1714054"/>
            <a:ext cx="55614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of 4</a:t>
            </a:r>
            <a:endParaRPr lang="en-US" sz="1300" dirty="0"/>
          </a:p>
        </p:txBody>
      </p:sp>
      <p:pic>
        <p:nvPicPr>
          <p:cNvPr id="33" name="Image 1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67450" y="2033389"/>
            <a:ext cx="152400" cy="15240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6483350" y="2010569"/>
            <a:ext cx="169854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Scoring + fallback</a:t>
            </a:r>
            <a:endParaRPr lang="en-US" sz="1300" dirty="0"/>
          </a:p>
        </p:txBody>
      </p:sp>
      <p:pic>
        <p:nvPicPr>
          <p:cNvPr id="35" name="Image 1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67450" y="2256879"/>
            <a:ext cx="152400" cy="15240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6483350" y="2234059"/>
            <a:ext cx="176010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 as YAML</a:t>
            </a:r>
            <a:endParaRPr lang="en-US" sz="1300" dirty="0"/>
          </a:p>
        </p:txBody>
      </p:sp>
      <p:pic>
        <p:nvPicPr>
          <p:cNvPr id="37" name="Image 1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67450" y="2480370"/>
            <a:ext cx="152400" cy="15240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483350" y="2457549"/>
            <a:ext cx="169515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Earliest-finish rule</a:t>
            </a:r>
            <a:endParaRPr lang="en-US" sz="1300" dirty="0"/>
          </a:p>
        </p:txBody>
      </p:sp>
      <p:pic>
        <p:nvPicPr>
          <p:cNvPr id="39" name="Image 13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86500" y="2722910"/>
            <a:ext cx="114300" cy="11430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6483350" y="2681039"/>
            <a:ext cx="172718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Date-safe fairness</a:t>
            </a:r>
            <a:endParaRPr lang="en-US" sz="1300" dirty="0"/>
          </a:p>
        </p:txBody>
      </p:sp>
      <p:sp>
        <p:nvSpPr>
          <p:cNvPr id="41" name="Shape 25"/>
          <p:cNvSpPr/>
          <p:nvPr/>
        </p:nvSpPr>
        <p:spPr>
          <a:xfrm>
            <a:off x="8816975" y="1612454"/>
            <a:ext cx="2559050" cy="2059186"/>
          </a:xfrm>
          <a:prstGeom prst="roundRect">
            <a:avLst>
              <a:gd name="adj" fmla="val 5397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4ED9E6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26"/>
          <p:cNvSpPr/>
          <p:nvPr/>
        </p:nvSpPr>
        <p:spPr>
          <a:xfrm>
            <a:off x="8934450" y="1698179"/>
            <a:ext cx="4856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1400" dirty="0"/>
          </a:p>
        </p:txBody>
      </p:sp>
      <p:sp>
        <p:nvSpPr>
          <p:cNvPr id="43" name="Text 27"/>
          <p:cNvSpPr/>
          <p:nvPr/>
        </p:nvSpPr>
        <p:spPr>
          <a:xfrm>
            <a:off x="10701576" y="1714054"/>
            <a:ext cx="55697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of 6</a:t>
            </a:r>
            <a:endParaRPr lang="en-US" sz="1300" dirty="0"/>
          </a:p>
        </p:txBody>
      </p:sp>
      <p:pic>
        <p:nvPicPr>
          <p:cNvPr id="44" name="Image 14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34450" y="2033389"/>
            <a:ext cx="152400" cy="152400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9150350" y="2010569"/>
            <a:ext cx="176182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intake (JSON)</a:t>
            </a:r>
            <a:endParaRPr lang="en-US" sz="1300" dirty="0"/>
          </a:p>
        </p:txBody>
      </p:sp>
      <p:pic>
        <p:nvPicPr>
          <p:cNvPr id="46" name="Image 15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34450" y="2256879"/>
            <a:ext cx="152400" cy="152400"/>
          </a:xfrm>
          <a:prstGeom prst="rect">
            <a:avLst/>
          </a:prstGeom>
        </p:spPr>
      </p:pic>
      <p:sp>
        <p:nvSpPr>
          <p:cNvPr id="47" name="Text 29"/>
          <p:cNvSpPr/>
          <p:nvPr/>
        </p:nvSpPr>
        <p:spPr>
          <a:xfrm>
            <a:off x="9150350" y="2234059"/>
            <a:ext cx="161508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Validate, set type</a:t>
            </a:r>
            <a:endParaRPr lang="en-US" sz="1300" dirty="0"/>
          </a:p>
        </p:txBody>
      </p:sp>
      <p:pic>
        <p:nvPicPr>
          <p:cNvPr id="48" name="Image 16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34450" y="2480370"/>
            <a:ext cx="152400" cy="152400"/>
          </a:xfrm>
          <a:prstGeom prst="rect">
            <a:avLst/>
          </a:prstGeom>
        </p:spPr>
      </p:pic>
      <p:sp>
        <p:nvSpPr>
          <p:cNvPr id="49" name="Text 30"/>
          <p:cNvSpPr/>
          <p:nvPr/>
        </p:nvSpPr>
        <p:spPr>
          <a:xfrm>
            <a:off x="9150350" y="2457549"/>
            <a:ext cx="147101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request types</a:t>
            </a:r>
            <a:endParaRPr lang="en-US" sz="1300" dirty="0"/>
          </a:p>
        </p:txBody>
      </p:sp>
      <p:pic>
        <p:nvPicPr>
          <p:cNvPr id="50" name="Image 17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34450" y="2703860"/>
            <a:ext cx="152400" cy="152400"/>
          </a:xfrm>
          <a:prstGeom prst="rect">
            <a:avLst/>
          </a:prstGeom>
        </p:spPr>
      </p:pic>
      <p:sp>
        <p:nvSpPr>
          <p:cNvPr id="51" name="Text 31"/>
          <p:cNvSpPr/>
          <p:nvPr/>
        </p:nvSpPr>
        <p:spPr>
          <a:xfrm>
            <a:off x="9150350" y="2681039"/>
            <a:ext cx="22225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Templates, number check</a:t>
            </a:r>
            <a:endParaRPr lang="en-US" sz="1300" dirty="0"/>
          </a:p>
        </p:txBody>
      </p:sp>
      <p:pic>
        <p:nvPicPr>
          <p:cNvPr id="52" name="Image 18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953500" y="2946400"/>
            <a:ext cx="114300" cy="114300"/>
          </a:xfrm>
          <a:prstGeom prst="rect">
            <a:avLst/>
          </a:prstGeom>
        </p:spPr>
      </p:pic>
      <p:sp>
        <p:nvSpPr>
          <p:cNvPr id="53" name="Text 32"/>
          <p:cNvSpPr/>
          <p:nvPr/>
        </p:nvSpPr>
        <p:spPr>
          <a:xfrm>
            <a:off x="9150350" y="2904530"/>
            <a:ext cx="206365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Remember follow-ups</a:t>
            </a:r>
            <a:endParaRPr lang="en-US" sz="1300" dirty="0"/>
          </a:p>
        </p:txBody>
      </p:sp>
      <p:pic>
        <p:nvPicPr>
          <p:cNvPr id="54" name="Image 19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953500" y="3169890"/>
            <a:ext cx="114300" cy="114300"/>
          </a:xfrm>
          <a:prstGeom prst="rect">
            <a:avLst/>
          </a:prstGeom>
        </p:spPr>
      </p:pic>
      <p:sp>
        <p:nvSpPr>
          <p:cNvPr id="55" name="Text 33"/>
          <p:cNvSpPr/>
          <p:nvPr/>
        </p:nvSpPr>
        <p:spPr>
          <a:xfrm>
            <a:off x="9150350" y="3128020"/>
            <a:ext cx="184243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orders (future)</a:t>
            </a:r>
            <a:endParaRPr lang="en-US" sz="1300" dirty="0"/>
          </a:p>
        </p:txBody>
      </p:sp>
      <p:sp>
        <p:nvSpPr>
          <p:cNvPr id="56" name="Shape 34"/>
          <p:cNvSpPr/>
          <p:nvPr/>
        </p:nvSpPr>
        <p:spPr>
          <a:xfrm>
            <a:off x="815975" y="3779589"/>
            <a:ext cx="2559050" cy="2059236"/>
          </a:xfrm>
          <a:prstGeom prst="roundRect">
            <a:avLst>
              <a:gd name="adj" fmla="val 5396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8FA3BA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35"/>
          <p:cNvSpPr/>
          <p:nvPr/>
        </p:nvSpPr>
        <p:spPr>
          <a:xfrm>
            <a:off x="933450" y="3865314"/>
            <a:ext cx="4216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</a:t>
            </a:r>
            <a:endParaRPr lang="en-US" sz="1400" dirty="0"/>
          </a:p>
        </p:txBody>
      </p:sp>
      <p:sp>
        <p:nvSpPr>
          <p:cNvPr id="58" name="Text 36"/>
          <p:cNvSpPr/>
          <p:nvPr/>
        </p:nvSpPr>
        <p:spPr>
          <a:xfrm>
            <a:off x="2700992" y="3881189"/>
            <a:ext cx="55655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of 6</a:t>
            </a:r>
            <a:endParaRPr lang="en-US" sz="1300" dirty="0"/>
          </a:p>
        </p:txBody>
      </p:sp>
      <p:pic>
        <p:nvPicPr>
          <p:cNvPr id="59" name="Image 20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52500" y="4219575"/>
            <a:ext cx="114300" cy="114300"/>
          </a:xfrm>
          <a:prstGeom prst="rect">
            <a:avLst/>
          </a:prstGeom>
        </p:spPr>
      </p:pic>
      <p:sp>
        <p:nvSpPr>
          <p:cNvPr id="60" name="Text 37"/>
          <p:cNvSpPr/>
          <p:nvPr/>
        </p:nvSpPr>
        <p:spPr>
          <a:xfrm>
            <a:off x="1149350" y="4177705"/>
            <a:ext cx="135046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 page</a:t>
            </a:r>
            <a:endParaRPr lang="en-US" sz="1300" dirty="0"/>
          </a:p>
        </p:txBody>
      </p:sp>
      <p:pic>
        <p:nvPicPr>
          <p:cNvPr id="61" name="Image 21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52500" y="4443065"/>
            <a:ext cx="114300" cy="114300"/>
          </a:xfrm>
          <a:prstGeom prst="rect">
            <a:avLst/>
          </a:prstGeom>
        </p:spPr>
      </p:pic>
      <p:sp>
        <p:nvSpPr>
          <p:cNvPr id="62" name="Text 38"/>
          <p:cNvSpPr/>
          <p:nvPr/>
        </p:nvSpPr>
        <p:spPr>
          <a:xfrm>
            <a:off x="1149350" y="4401195"/>
            <a:ext cx="212604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+ decision log</a:t>
            </a:r>
            <a:endParaRPr lang="en-US" sz="1300" dirty="0"/>
          </a:p>
        </p:txBody>
      </p:sp>
      <p:pic>
        <p:nvPicPr>
          <p:cNvPr id="63" name="Image 22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52500" y="4666555"/>
            <a:ext cx="114300" cy="114300"/>
          </a:xfrm>
          <a:prstGeom prst="rect">
            <a:avLst/>
          </a:prstGeom>
        </p:spPr>
      </p:pic>
      <p:sp>
        <p:nvSpPr>
          <p:cNvPr id="64" name="Text 39"/>
          <p:cNvSpPr/>
          <p:nvPr/>
        </p:nvSpPr>
        <p:spPr>
          <a:xfrm>
            <a:off x="1149350" y="4624685"/>
            <a:ext cx="2029599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 dashboard</a:t>
            </a:r>
            <a:endParaRPr lang="en-US" sz="1300" dirty="0"/>
          </a:p>
        </p:txBody>
      </p:sp>
      <p:pic>
        <p:nvPicPr>
          <p:cNvPr id="65" name="Image 23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52500" y="4890046"/>
            <a:ext cx="114300" cy="114300"/>
          </a:xfrm>
          <a:prstGeom prst="rect">
            <a:avLst/>
          </a:prstGeom>
        </p:spPr>
      </p:pic>
      <p:sp>
        <p:nvSpPr>
          <p:cNvPr id="66" name="Text 40"/>
          <p:cNvSpPr/>
          <p:nvPr/>
        </p:nvSpPr>
        <p:spPr>
          <a:xfrm>
            <a:off x="1149350" y="4848175"/>
            <a:ext cx="814149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polish</a:t>
            </a:r>
            <a:endParaRPr lang="en-US" sz="1300" dirty="0"/>
          </a:p>
        </p:txBody>
      </p:sp>
      <p:pic>
        <p:nvPicPr>
          <p:cNvPr id="67" name="Image 24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52500" y="5113536"/>
            <a:ext cx="114300" cy="114300"/>
          </a:xfrm>
          <a:prstGeom prst="rect">
            <a:avLst/>
          </a:prstGeom>
        </p:spPr>
      </p:pic>
      <p:sp>
        <p:nvSpPr>
          <p:cNvPr id="68" name="Text 41"/>
          <p:cNvSpPr/>
          <p:nvPr/>
        </p:nvSpPr>
        <p:spPr>
          <a:xfrm>
            <a:off x="1149350" y="5071666"/>
            <a:ext cx="195744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Override with reason</a:t>
            </a:r>
            <a:endParaRPr lang="en-US" sz="1300" dirty="0"/>
          </a:p>
        </p:txBody>
      </p:sp>
      <p:pic>
        <p:nvPicPr>
          <p:cNvPr id="69" name="Image 25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52500" y="5337026"/>
            <a:ext cx="114300" cy="114300"/>
          </a:xfrm>
          <a:prstGeom prst="rect">
            <a:avLst/>
          </a:prstGeom>
        </p:spPr>
      </p:pic>
      <p:sp>
        <p:nvSpPr>
          <p:cNvPr id="70" name="Text 42"/>
          <p:cNvSpPr/>
          <p:nvPr/>
        </p:nvSpPr>
        <p:spPr>
          <a:xfrm>
            <a:off x="1149350" y="5295156"/>
            <a:ext cx="121205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Usability test</a:t>
            </a:r>
            <a:endParaRPr lang="en-US" sz="1300" dirty="0"/>
          </a:p>
        </p:txBody>
      </p:sp>
      <p:sp>
        <p:nvSpPr>
          <p:cNvPr id="71" name="Shape 43"/>
          <p:cNvSpPr/>
          <p:nvPr/>
        </p:nvSpPr>
        <p:spPr>
          <a:xfrm>
            <a:off x="3482975" y="3779589"/>
            <a:ext cx="2559050" cy="2059236"/>
          </a:xfrm>
          <a:prstGeom prst="roundRect">
            <a:avLst>
              <a:gd name="adj" fmla="val 5396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8FA3BA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Text 44"/>
          <p:cNvSpPr/>
          <p:nvPr/>
        </p:nvSpPr>
        <p:spPr>
          <a:xfrm>
            <a:off x="3600450" y="3865314"/>
            <a:ext cx="6519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A</a:t>
            </a:r>
            <a:endParaRPr lang="en-US" sz="1400" dirty="0"/>
          </a:p>
        </p:txBody>
      </p:sp>
      <p:sp>
        <p:nvSpPr>
          <p:cNvPr id="73" name="Text 45"/>
          <p:cNvSpPr/>
          <p:nvPr/>
        </p:nvSpPr>
        <p:spPr>
          <a:xfrm>
            <a:off x="5373469" y="3881189"/>
            <a:ext cx="55108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of 5</a:t>
            </a:r>
            <a:endParaRPr lang="en-US" sz="1300" dirty="0"/>
          </a:p>
        </p:txBody>
      </p:sp>
      <p:pic>
        <p:nvPicPr>
          <p:cNvPr id="74" name="Image 26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19500" y="4219575"/>
            <a:ext cx="114300" cy="114300"/>
          </a:xfrm>
          <a:prstGeom prst="rect">
            <a:avLst/>
          </a:prstGeom>
        </p:spPr>
      </p:pic>
      <p:sp>
        <p:nvSpPr>
          <p:cNvPr id="75" name="Text 46"/>
          <p:cNvSpPr/>
          <p:nvPr/>
        </p:nvSpPr>
        <p:spPr>
          <a:xfrm>
            <a:off x="3816350" y="4177705"/>
            <a:ext cx="157674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vs baselines</a:t>
            </a:r>
            <a:endParaRPr lang="en-US" sz="1300" dirty="0"/>
          </a:p>
        </p:txBody>
      </p:sp>
      <p:pic>
        <p:nvPicPr>
          <p:cNvPr id="76" name="Image 27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19500" y="4443065"/>
            <a:ext cx="114300" cy="114300"/>
          </a:xfrm>
          <a:prstGeom prst="rect">
            <a:avLst/>
          </a:prstGeom>
        </p:spPr>
      </p:pic>
      <p:sp>
        <p:nvSpPr>
          <p:cNvPr id="77" name="Text 47"/>
          <p:cNvSpPr/>
          <p:nvPr/>
        </p:nvSpPr>
        <p:spPr>
          <a:xfrm>
            <a:off x="3816350" y="4401195"/>
            <a:ext cx="205912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Closure test, 10 seeds</a:t>
            </a:r>
            <a:endParaRPr lang="en-US" sz="1300" dirty="0"/>
          </a:p>
        </p:txBody>
      </p:sp>
      <p:pic>
        <p:nvPicPr>
          <p:cNvPr id="78" name="Image 28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19500" y="4666555"/>
            <a:ext cx="114300" cy="114300"/>
          </a:xfrm>
          <a:prstGeom prst="rect">
            <a:avLst/>
          </a:prstGeom>
        </p:spPr>
      </p:pic>
      <p:sp>
        <p:nvSpPr>
          <p:cNvPr id="79" name="Text 48"/>
          <p:cNvSpPr/>
          <p:nvPr/>
        </p:nvSpPr>
        <p:spPr>
          <a:xfrm>
            <a:off x="3816350" y="4624685"/>
            <a:ext cx="213830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objective, hybrid</a:t>
            </a:r>
            <a:endParaRPr lang="en-US" sz="1300" dirty="0"/>
          </a:p>
        </p:txBody>
      </p:sp>
      <p:pic>
        <p:nvPicPr>
          <p:cNvPr id="80" name="Image 29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19500" y="4890046"/>
            <a:ext cx="114300" cy="114300"/>
          </a:xfrm>
          <a:prstGeom prst="rect">
            <a:avLst/>
          </a:prstGeom>
        </p:spPr>
      </p:pic>
      <p:sp>
        <p:nvSpPr>
          <p:cNvPr id="81" name="Text 49"/>
          <p:cNvSpPr/>
          <p:nvPr/>
        </p:nvSpPr>
        <p:spPr>
          <a:xfrm>
            <a:off x="3816350" y="4848175"/>
            <a:ext cx="194095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baselines win</a:t>
            </a:r>
            <a:endParaRPr lang="en-US" sz="1300" dirty="0"/>
          </a:p>
        </p:txBody>
      </p:sp>
      <p:pic>
        <p:nvPicPr>
          <p:cNvPr id="82" name="Image 30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19500" y="5113536"/>
            <a:ext cx="114300" cy="114300"/>
          </a:xfrm>
          <a:prstGeom prst="rect">
            <a:avLst/>
          </a:prstGeom>
        </p:spPr>
      </p:pic>
      <p:sp>
        <p:nvSpPr>
          <p:cNvPr id="83" name="Text 50"/>
          <p:cNvSpPr/>
          <p:nvPr/>
        </p:nvSpPr>
        <p:spPr>
          <a:xfrm>
            <a:off x="3816350" y="5071666"/>
            <a:ext cx="166848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Per-seed analysis</a:t>
            </a:r>
            <a:endParaRPr lang="en-US" sz="1300" dirty="0"/>
          </a:p>
        </p:txBody>
      </p:sp>
      <p:sp>
        <p:nvSpPr>
          <p:cNvPr id="84" name="Shape 51"/>
          <p:cNvSpPr/>
          <p:nvPr/>
        </p:nvSpPr>
        <p:spPr>
          <a:xfrm>
            <a:off x="6149975" y="3779589"/>
            <a:ext cx="2559050" cy="2059236"/>
          </a:xfrm>
          <a:prstGeom prst="roundRect">
            <a:avLst>
              <a:gd name="adj" fmla="val 5396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8FA3BA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5" name="Text 52"/>
          <p:cNvSpPr/>
          <p:nvPr/>
        </p:nvSpPr>
        <p:spPr>
          <a:xfrm>
            <a:off x="6267450" y="3865314"/>
            <a:ext cx="63734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B</a:t>
            </a:r>
            <a:endParaRPr lang="en-US" sz="1400" dirty="0"/>
          </a:p>
        </p:txBody>
      </p:sp>
      <p:sp>
        <p:nvSpPr>
          <p:cNvPr id="86" name="Text 53"/>
          <p:cNvSpPr/>
          <p:nvPr/>
        </p:nvSpPr>
        <p:spPr>
          <a:xfrm>
            <a:off x="8048506" y="3881189"/>
            <a:ext cx="54304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of 7</a:t>
            </a:r>
            <a:endParaRPr lang="en-US" sz="1300" dirty="0"/>
          </a:p>
        </p:txBody>
      </p:sp>
      <p:pic>
        <p:nvPicPr>
          <p:cNvPr id="87" name="Image 31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86500" y="4219575"/>
            <a:ext cx="114300" cy="114300"/>
          </a:xfrm>
          <a:prstGeom prst="rect">
            <a:avLst/>
          </a:prstGeom>
        </p:spPr>
      </p:pic>
      <p:sp>
        <p:nvSpPr>
          <p:cNvPr id="88" name="Text 54"/>
          <p:cNvSpPr/>
          <p:nvPr/>
        </p:nvSpPr>
        <p:spPr>
          <a:xfrm>
            <a:off x="6483350" y="4177705"/>
            <a:ext cx="116437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 the 30</a:t>
            </a:r>
            <a:endParaRPr lang="en-US" sz="1300" dirty="0"/>
          </a:p>
        </p:txBody>
      </p:sp>
      <p:pic>
        <p:nvPicPr>
          <p:cNvPr id="89" name="Image 32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86500" y="4443065"/>
            <a:ext cx="114300" cy="114300"/>
          </a:xfrm>
          <a:prstGeom prst="rect">
            <a:avLst/>
          </a:prstGeom>
        </p:spPr>
      </p:pic>
      <p:sp>
        <p:nvSpPr>
          <p:cNvPr id="90" name="Text 55"/>
          <p:cNvSpPr/>
          <p:nvPr/>
        </p:nvSpPr>
        <p:spPr>
          <a:xfrm>
            <a:off x="6483350" y="4401195"/>
            <a:ext cx="120628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LLM run</a:t>
            </a:r>
            <a:endParaRPr lang="en-US" sz="1300" dirty="0"/>
          </a:p>
        </p:txBody>
      </p:sp>
      <p:pic>
        <p:nvPicPr>
          <p:cNvPr id="91" name="Image 33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86500" y="4666555"/>
            <a:ext cx="114300" cy="114300"/>
          </a:xfrm>
          <a:prstGeom prst="rect">
            <a:avLst/>
          </a:prstGeom>
        </p:spPr>
      </p:pic>
      <p:sp>
        <p:nvSpPr>
          <p:cNvPr id="92" name="Text 56"/>
          <p:cNvSpPr/>
          <p:nvPr/>
        </p:nvSpPr>
        <p:spPr>
          <a:xfrm>
            <a:off x="6483350" y="4624685"/>
            <a:ext cx="18516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decision, text</a:t>
            </a:r>
            <a:endParaRPr lang="en-US" sz="1300" dirty="0"/>
          </a:p>
        </p:txBody>
      </p:sp>
      <p:pic>
        <p:nvPicPr>
          <p:cNvPr id="93" name="Image 34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86500" y="4890046"/>
            <a:ext cx="114300" cy="114300"/>
          </a:xfrm>
          <a:prstGeom prst="rect">
            <a:avLst/>
          </a:prstGeom>
        </p:spPr>
      </p:pic>
      <p:sp>
        <p:nvSpPr>
          <p:cNvPr id="94" name="Text 57"/>
          <p:cNvSpPr/>
          <p:nvPr/>
        </p:nvSpPr>
        <p:spPr>
          <a:xfrm>
            <a:off x="6483350" y="4848175"/>
            <a:ext cx="205472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10+ held-out requests</a:t>
            </a:r>
            <a:endParaRPr lang="en-US" sz="1300" dirty="0"/>
          </a:p>
        </p:txBody>
      </p:sp>
      <p:pic>
        <p:nvPicPr>
          <p:cNvPr id="95" name="Image 35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86500" y="5113536"/>
            <a:ext cx="114300" cy="114300"/>
          </a:xfrm>
          <a:prstGeom prst="rect">
            <a:avLst/>
          </a:prstGeom>
        </p:spPr>
      </p:pic>
      <p:sp>
        <p:nvSpPr>
          <p:cNvPr id="96" name="Text 58"/>
          <p:cNvSpPr/>
          <p:nvPr/>
        </p:nvSpPr>
        <p:spPr>
          <a:xfrm>
            <a:off x="6483350" y="5071666"/>
            <a:ext cx="158055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10+ failure cases</a:t>
            </a:r>
            <a:endParaRPr lang="en-US" sz="1300" dirty="0"/>
          </a:p>
        </p:txBody>
      </p:sp>
      <p:pic>
        <p:nvPicPr>
          <p:cNvPr id="97" name="Image 36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86500" y="5337026"/>
            <a:ext cx="114300" cy="114300"/>
          </a:xfrm>
          <a:prstGeom prst="rect">
            <a:avLst/>
          </a:prstGeom>
        </p:spPr>
      </p:pic>
      <p:sp>
        <p:nvSpPr>
          <p:cNvPr id="98" name="Text 59"/>
          <p:cNvSpPr/>
          <p:nvPr/>
        </p:nvSpPr>
        <p:spPr>
          <a:xfrm>
            <a:off x="6483350" y="5295156"/>
            <a:ext cx="1320879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 and re-run</a:t>
            </a:r>
            <a:endParaRPr lang="en-US" sz="1300" dirty="0"/>
          </a:p>
        </p:txBody>
      </p:sp>
      <p:pic>
        <p:nvPicPr>
          <p:cNvPr id="99" name="Image 37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86500" y="5560516"/>
            <a:ext cx="114300" cy="114300"/>
          </a:xfrm>
          <a:prstGeom prst="rect">
            <a:avLst/>
          </a:prstGeom>
        </p:spPr>
      </p:pic>
      <p:sp>
        <p:nvSpPr>
          <p:cNvPr id="100" name="Text 60"/>
          <p:cNvSpPr/>
          <p:nvPr/>
        </p:nvSpPr>
        <p:spPr>
          <a:xfrm>
            <a:off x="6483350" y="5518646"/>
            <a:ext cx="1379518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 time</a:t>
            </a:r>
            <a:endParaRPr lang="en-US" sz="1300" dirty="0"/>
          </a:p>
        </p:txBody>
      </p:sp>
      <p:sp>
        <p:nvSpPr>
          <p:cNvPr id="101" name="Shape 61"/>
          <p:cNvSpPr/>
          <p:nvPr/>
        </p:nvSpPr>
        <p:spPr>
          <a:xfrm>
            <a:off x="8816975" y="3779589"/>
            <a:ext cx="2559050" cy="2059236"/>
          </a:xfrm>
          <a:prstGeom prst="roundRect">
            <a:avLst>
              <a:gd name="adj" fmla="val 5396"/>
            </a:avLst>
          </a:prstGeom>
          <a:gradFill rotWithShape="1">
            <a:gsLst>
              <a:gs pos="0">
                <a:srgbClr val="173452"/>
              </a:gs>
              <a:gs pos="52000">
                <a:srgbClr val="102235"/>
              </a:gs>
              <a:gs pos="100000">
                <a:srgbClr val="0F2A35"/>
              </a:gs>
            </a:gsLst>
            <a:lin ang="3900000" scaled="0"/>
          </a:gradFill>
          <a:ln w="6350">
            <a:solidFill>
              <a:srgbClr val="4ED9E6">
                <a:alpha val="34000"/>
              </a:srgbClr>
            </a:solidFill>
            <a:prstDash val="solid"/>
          </a:ln>
          <a:effectLst>
            <a:outerShdw blurRad="406400" dist="152400" dir="5400000" algn="bl" rotWithShape="0">
              <a:srgbClr val="030912">
                <a:alpha val="4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2" name="Text 62"/>
          <p:cNvSpPr/>
          <p:nvPr/>
        </p:nvSpPr>
        <p:spPr>
          <a:xfrm>
            <a:off x="8934450" y="3865314"/>
            <a:ext cx="7208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</a:t>
            </a:r>
            <a:endParaRPr lang="en-US" sz="1400" dirty="0"/>
          </a:p>
        </p:txBody>
      </p:sp>
      <p:sp>
        <p:nvSpPr>
          <p:cNvPr id="103" name="Text 63"/>
          <p:cNvSpPr/>
          <p:nvPr/>
        </p:nvSpPr>
        <p:spPr>
          <a:xfrm>
            <a:off x="10744795" y="3881189"/>
            <a:ext cx="51375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ED9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of 4</a:t>
            </a:r>
            <a:endParaRPr lang="en-US" sz="1300" dirty="0"/>
          </a:p>
        </p:txBody>
      </p:sp>
      <p:pic>
        <p:nvPicPr>
          <p:cNvPr id="104" name="Image 38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34450" y="4200525"/>
            <a:ext cx="152400" cy="152400"/>
          </a:xfrm>
          <a:prstGeom prst="rect">
            <a:avLst/>
          </a:prstGeom>
        </p:spPr>
      </p:pic>
      <p:sp>
        <p:nvSpPr>
          <p:cNvPr id="105" name="Text 64"/>
          <p:cNvSpPr/>
          <p:nvPr/>
        </p:nvSpPr>
        <p:spPr>
          <a:xfrm>
            <a:off x="9150350" y="4177705"/>
            <a:ext cx="200007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code, README</a:t>
            </a:r>
            <a:endParaRPr lang="en-US" sz="1300" dirty="0"/>
          </a:p>
        </p:txBody>
      </p:sp>
      <p:pic>
        <p:nvPicPr>
          <p:cNvPr id="106" name="Image 39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953500" y="4443065"/>
            <a:ext cx="114300" cy="114300"/>
          </a:xfrm>
          <a:prstGeom prst="rect">
            <a:avLst/>
          </a:prstGeom>
        </p:spPr>
      </p:pic>
      <p:sp>
        <p:nvSpPr>
          <p:cNvPr id="107" name="Text 65"/>
          <p:cNvSpPr/>
          <p:nvPr/>
        </p:nvSpPr>
        <p:spPr>
          <a:xfrm>
            <a:off x="9150350" y="4401195"/>
            <a:ext cx="143196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 Cloud</a:t>
            </a:r>
            <a:endParaRPr lang="en-US" sz="1300" dirty="0"/>
          </a:p>
        </p:txBody>
      </p:sp>
      <p:pic>
        <p:nvPicPr>
          <p:cNvPr id="108" name="Image 40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953500" y="4666555"/>
            <a:ext cx="114300" cy="114300"/>
          </a:xfrm>
          <a:prstGeom prst="rect">
            <a:avLst/>
          </a:prstGeom>
        </p:spPr>
      </p:pic>
      <p:sp>
        <p:nvSpPr>
          <p:cNvPr id="109" name="Text 66"/>
          <p:cNvSpPr/>
          <p:nvPr/>
        </p:nvSpPr>
        <p:spPr>
          <a:xfrm>
            <a:off x="9150350" y="4624685"/>
            <a:ext cx="127617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GitHub</a:t>
            </a:r>
            <a:endParaRPr lang="en-US" sz="1300" dirty="0"/>
          </a:p>
        </p:txBody>
      </p:sp>
      <p:pic>
        <p:nvPicPr>
          <p:cNvPr id="110" name="Image 41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953500" y="4890046"/>
            <a:ext cx="114300" cy="114300"/>
          </a:xfrm>
          <a:prstGeom prst="rect">
            <a:avLst/>
          </a:prstGeom>
        </p:spPr>
      </p:pic>
      <p:sp>
        <p:nvSpPr>
          <p:cNvPr id="111" name="Text 67"/>
          <p:cNvSpPr/>
          <p:nvPr/>
        </p:nvSpPr>
        <p:spPr>
          <a:xfrm>
            <a:off x="9150350" y="4848175"/>
            <a:ext cx="189714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dirty="0">
                <a:solidFill>
                  <a:srgbClr val="B4C0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Clean-checkout test</a:t>
            </a:r>
            <a:endParaRPr lang="en-US" sz="1300" dirty="0"/>
          </a:p>
        </p:txBody>
      </p:sp>
      <p:sp>
        <p:nvSpPr>
          <p:cNvPr id="112" name="Text 68"/>
          <p:cNvSpPr/>
          <p:nvPr/>
        </p:nvSpPr>
        <p:spPr>
          <a:xfrm>
            <a:off x="812800" y="6236990"/>
            <a:ext cx="29650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2 · Sprint 1 · backup for Q&amp;A</a:t>
            </a:r>
            <a:endParaRPr lang="en-US" sz="1200" dirty="0"/>
          </a:p>
        </p:txBody>
      </p:sp>
      <p:pic>
        <p:nvPicPr>
          <p:cNvPr id="113" name="Image 4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98046" y="6267450"/>
            <a:ext cx="152400" cy="152400"/>
          </a:xfrm>
          <a:prstGeom prst="rect">
            <a:avLst/>
          </a:prstGeom>
        </p:spPr>
      </p:pic>
      <p:sp>
        <p:nvSpPr>
          <p:cNvPr id="114" name="Text 69"/>
          <p:cNvSpPr/>
          <p:nvPr/>
        </p:nvSpPr>
        <p:spPr>
          <a:xfrm>
            <a:off x="5626646" y="6236990"/>
            <a:ext cx="4563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Done</a:t>
            </a:r>
            <a:endParaRPr lang="en-US" sz="1200" dirty="0"/>
          </a:p>
        </p:txBody>
      </p:sp>
      <p:pic>
        <p:nvPicPr>
          <p:cNvPr id="115" name="Image 43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83102" y="6286500"/>
            <a:ext cx="114300" cy="114300"/>
          </a:xfrm>
          <a:prstGeom prst="rect">
            <a:avLst/>
          </a:prstGeom>
        </p:spPr>
      </p:pic>
      <p:sp>
        <p:nvSpPr>
          <p:cNvPr id="116" name="Text 70"/>
          <p:cNvSpPr/>
          <p:nvPr/>
        </p:nvSpPr>
        <p:spPr>
          <a:xfrm>
            <a:off x="6273602" y="6236990"/>
            <a:ext cx="6243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yet</a:t>
            </a:r>
            <a:endParaRPr lang="en-US" sz="1200" dirty="0"/>
          </a:p>
        </p:txBody>
      </p:sp>
      <p:sp>
        <p:nvSpPr>
          <p:cNvPr id="117" name="Text 71"/>
          <p:cNvSpPr/>
          <p:nvPr/>
        </p:nvSpPr>
        <p:spPr>
          <a:xfrm>
            <a:off x="10703580" y="6236990"/>
            <a:ext cx="6756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4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ick-Response Subcontracting Desk · Sprint 1">
  <a:themeElements>
    <a:clrScheme name="Quick-Response Subcontracting Desk · Sprint 1">
      <a:dk1>
        <a:srgbClr val="183660"/>
      </a:dk1>
      <a:lt1>
        <a:srgbClr val="F4F7FB"/>
      </a:lt1>
      <a:dk2>
        <a:srgbClr val="2E4970"/>
      </a:dk2>
      <a:lt2>
        <a:srgbClr val="BDC7D4"/>
      </a:lt2>
      <a:accent1>
        <a:srgbClr val="4ED9E6"/>
      </a:accent1>
      <a:accent2>
        <a:srgbClr val="142A3D"/>
      </a:accent2>
      <a:accent3>
        <a:srgbClr val="23C9A7"/>
      </a:accent3>
      <a:accent4>
        <a:srgbClr val="4AD889"/>
      </a:accent4>
      <a:accent5>
        <a:srgbClr val="6488FF"/>
      </a:accent5>
      <a:accent6>
        <a:srgbClr val="F4BB55"/>
      </a:accent6>
      <a:hlink>
        <a:srgbClr val="0563C1"/>
      </a:hlink>
      <a:folHlink>
        <a:srgbClr val="954F72"/>
      </a:folHlink>
    </a:clrScheme>
    <a:fontScheme name="Quick-Response Subcontracting Desk · Sprint 1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1627</Words>
  <Application>Microsoft Macintosh PowerPoint</Application>
  <PresentationFormat>Widescreen</PresentationFormat>
  <Paragraphs>422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Inter</vt:lpstr>
      <vt:lpstr>Quick-Response Subcontracting Desk · Sprint 1</vt:lpstr>
      <vt:lpstr>Quick-Response Subcontracting Desk</vt:lpstr>
      <vt:lpstr>Orders are sent to workshops without a system: biased, untraceable and slow</vt:lpstr>
      <vt:lpstr>A dispatcher app that turns a chat request into a checked, recorded decision</vt:lpstr>
      <vt:lpstr>How a chat request becomes a confirmed decision</vt:lpstr>
      <vt:lpstr>What the business gains</vt:lpstr>
      <vt:lpstr>The plan and core logic are in place, the app and testing come next</vt:lpstr>
      <vt:lpstr>What could go wrong, and how we handle it</vt:lpstr>
      <vt:lpstr>Five things we take as given</vt:lpstr>
      <vt:lpstr>Prove the chat side works, then put it online</vt:lpstr>
      <vt:lpstr>Sprint 2 succeeds on three fronts</vt:lpstr>
      <vt:lpstr>Thank you</vt:lpstr>
      <vt:lpstr>Every subtask behind the progress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Quick-Response Subcontracting Desk · Sprint 1</dc:title>
  <dc:subject/>
  <dc:creator/>
  <cp:lastModifiedBy>#SARANGI ANUBHAV#</cp:lastModifiedBy>
  <cp:revision>10</cp:revision>
  <dcterms:created xsi:type="dcterms:W3CDTF">2026-10-12T13:01:56Z</dcterms:created>
  <dcterms:modified xsi:type="dcterms:W3CDTF">2026-10-21T12:32:17Z</dcterms:modified>
</cp:coreProperties>
</file>
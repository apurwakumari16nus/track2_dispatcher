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We are Group [NN], Track 2. Our project is a quick-response subcontracting desk. When the factory is full, it decides which outside workshop should make a batch, explains why with real numbers, and records the decision once a person confirms. The card on the right is a real request from the course inbox and our system's actual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dispatcher picks one of 8 outside workshops within the hour, and the choice depends on who is dispatching rather than on one shared, checked method. Every allocation should answer four questions: can the workshop make the product, is it allowed to take the batch, when will it really come back given the work already waiting there, and why was it chosen. Today the first depends on what the dispatcher knows, rules like suspensions and capacity caps are easy to miss, return dates are estimated by feel rather than from live queues, and the reason is not recorded, so no one can review the choice. On a 7 to 14 day order, one wrong pick sends the batch back late and wipes out the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a dispatcher app that reads chat requests, checks every workshop against the data, estimates the delivery date and cost for each candidate, recommends one with the reasoning, and keeps an auditable record once a person confirms it. Our primary objective is minimising lateness, because urgent orders have only 7 to 14 days and a late batch misses the customer's date and loses the margin. For evaluation we add two more views. Robustness: workshops can close or fall behind without warning, so we check how much lateness changes when a workshop closes. Hybrid: always sending work to the fastest workshop can overload it, so we combine lateness with fairness and test whether spreading the work keeps orders on time. We have not fixed the weights yet; we will choose them after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 request is typed into the app. The LLM, GPT-4.1-mini, only reads it: it pulls out the order, quantity, deadline and preferences, and does no maths and makes no decisions. The Python dispatcher validates those fields against orders.csv and sets the request type. Clarify, refuse and decline go straight back to the sender, and nothing is allocated. For allocate, the dispatcher calls plain Python tools to build the eligible options with ETA and cost, the allocator picks one, the explanation is written from a template, and every number is checked against a tool output. A person reviews every option and confirms; only then is the decision written to the log. We evaluate in two ways: the same allocator runs in the course simulator on 120 orders, and the full chain runs on inbox requests against human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business gain? Faster decisions: a checked recommendation in minutes instead of searching through notes and chats. Fewer late orders, because every pick is checked against capacity, rules and queues before it goes out. Consistency and fairness: the same method whoever is dispatching, with no favourite workshops. Full traceability: every decision is saved with who asked, the options and the reason. No guessing: when a request is unclear or the data is missing, the system asks, refuses or says so. And people stay in control, because nothing is sent until a person confirms it. Dispatchers spend less time searching, managers can review any decision, and customers get their orders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project into eight areas, each with a few small subtasks. In Sprint 1 we finished the planning and the calculation tools, and started the allocator, the chat understanding and the deployment. The dispatcher app and both tests, the simulator test and the chat inbox test, are Sprint 2 work. If you would like the individual subtasks behind any number, they are on our 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risk is that the LLM misreads a chat request, so it fills a strict JSON schema and Python re-checks every field. Our evaluation could be biased because the labels are written after the system was built, so two reviewers label from the source data only, and we add ten or more unseen requests scored separately. An explanation could contain an invented number, so explanations come from templates and a number check blocks any figure that did not come from a tool. The simulator's assumptions differ from reality, so we state them, treat results as a what-if, and run the closure test. A simple earliest-finish rule may do as well as our allocator, so we compare directly and report where it wins. Finally, the live demo needs an API key and cloud hosting, so we deploy early and keep saved replies as a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we take as given. Workshop data, meaning capacity, queue, status and defect rate, is up to date on the day of the decision; if not, dates and eligibility checks are off. Delivery time is queue plus making time plus transport, with no other delays; if not, promised dates are too optimistic. The AI reads short, informal chat messages correctly; if not, Python's checks and our labelled test catch it. A person confirms every recommendation, so nothing is sent automatically. And cost is pieces times the per-piece rate, with no transport or rework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2 runs in three steps and is due on Friday 30 October. First we prove the chat side works: two reviewers label the 30 requests independently and reconcile, we write ten or more unseen requests that we never tune on, and we run all 30 through the live LLM, scoring the decision and the explanation separately. Second, we put it online: the demo on Streamlit Cloud with a public GitHub repo, and the five-minute video covering the objective, the tech and a live demo. Third, we make it easier to use: medium priority is the screen polish so key information is visible at a glance, and remembering follow-up replies; low priority is a dispatcher override with the reason logged, and measuring response time from message to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2 succeeds on three fronts. First, the chat side works: at least 26 of 30 correct responses overall, and full marks on each awkward type: asking on all 7 unclear requests, refusing all 4 unsuitable workshops with a reason and an alternative, saying so on the 3 unanswerable ones, giving the earliest date on the 3 impossible deadlines, and following and logging all 6 instructions, with no invented numbers in any explanation. All 30 are labelled by two reviewers first, and 10 or more held-out requests are reported separately. Second, the app is usable: GitHub and demo links open from any computer; the recommendation, ETA and cost are visible without scrolling or clicking; after a follow-up question the user can reply with just the missing detail, for example ORD-020, and get a recommendation; the dispatcher can pick a different workshop with the reason saved in the log; and a recommendation comes back in under ten seconds. Third, in the simulator we beat all three baselines on lateness and report robustness and the hybrid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Each card is one area from the progress slide, with every subtask listed; a tick means done, a circle means not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CEFEE"/>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34020"/>
            <a:ext cx="10972800" cy="335905"/>
          </a:xfrm>
          <a:prstGeom prst="rect">
            <a:avLst/>
          </a:prstGeom>
          <a:noFill/>
          <a:ln/>
        </p:spPr>
        <p:txBody>
          <a:bodyPr wrap="square" lIns="0" tIns="0" rIns="0" bIns="0" rtlCol="0" anchor="t"/>
          <a:lstStyle>
            <a:lvl1pPr algn="l" indent="0" marL="0">
              <a:lnSpc>
                <a:spcPct val="115000"/>
              </a:lnSpc>
              <a:buNone/>
              <a:defRPr lang="en-US" sz="2300" dirty="0">
                <a:solidFill>
                  <a:srgbClr val="161B1C"/>
                </a:solidFill>
                <a:latin typeface="Hanken Grotesk" pitchFamily="34" charset="0"/>
                <a:ea typeface="Hanken Grotesk" pitchFamily="34" charset="-122"/>
                <a:cs typeface="Hanken Grotesk" pitchFamily="34" charset="-120"/>
              </a:defRPr>
            </a:lvl1pPr>
          </a:lstStyle>
          <a:p>
            <a:pPr algn="l" indent="0" marL="0">
              <a:lnSpc>
                <a:spcPct val="115000"/>
              </a:lnSpc>
              <a:buNone/>
            </a:pPr>
            <a:endParaRPr lang="en-US" sz="2300" dirty="0"/>
          </a:p>
        </p:txBody>
      </p:sp>
      <p:sp>
        <p:nvSpPr>
          <p:cNvPr id="3" name="Text Placeholder 2"/>
          <p:cNvSpPr/>
          <p:nvPr>
            <p:ph idx="101" type="body"/>
          </p:nvPr>
        </p:nvSpPr>
        <p:spPr>
          <a:xfrm>
            <a:off x="609600" y="1374725"/>
            <a:ext cx="10769600" cy="4670475"/>
          </a:xfrm>
          <a:prstGeom prst="rect">
            <a:avLst/>
          </a:prstGeom>
          <a:noFill/>
          <a:ln/>
        </p:spPr>
        <p:txBody>
          <a:bodyPr wrap="square" lIns="0" tIns="0" rIns="0" bIns="0" rtlCol="0" anchor="t"/>
          <a:lstStyle>
            <a:lvl1pPr algn="l" indent="0" marL="0">
              <a:lnSpc>
                <a:spcPct val="140000"/>
              </a:lnSpc>
              <a:buNone/>
              <a:defRPr lang="en-US" sz="1600" dirty="0">
                <a:solidFill>
                  <a:srgbClr val="161B1C"/>
                </a:solidFill>
                <a:latin typeface="Hanken Grotesk" pitchFamily="34" charset="0"/>
                <a:ea typeface="Hanken Grotesk" pitchFamily="34" charset="-122"/>
                <a:cs typeface="Hanken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FEE"/>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34020"/>
            <a:ext cx="10972800" cy="335905"/>
          </a:xfrm>
          <a:prstGeom prst="rect">
            <a:avLst/>
          </a:prstGeom>
          <a:noFill/>
          <a:ln/>
        </p:spPr>
        <p:txBody>
          <a:bodyPr wrap="square" lIns="0" tIns="0" rIns="0" bIns="0" rtlCol="0" anchor="t"/>
          <a:lstStyle>
            <a:lvl1pPr algn="l" indent="0" marL="0">
              <a:lnSpc>
                <a:spcPct val="115000"/>
              </a:lnSpc>
              <a:buNone/>
              <a:defRPr lang="en-US" sz="2300" dirty="0">
                <a:solidFill>
                  <a:srgbClr val="161B1C"/>
                </a:solidFill>
                <a:latin typeface="Hanken Grotesk" pitchFamily="34" charset="0"/>
                <a:ea typeface="Hanken Grotesk" pitchFamily="34" charset="-122"/>
                <a:cs typeface="Hanken Grotesk" pitchFamily="34" charset="-120"/>
              </a:defRPr>
            </a:lvl1pPr>
          </a:lstStyle>
          <a:p>
            <a:pPr algn="l" indent="0" marL="0">
              <a:lnSpc>
                <a:spcPct val="115000"/>
              </a:lnSpc>
              <a:buNone/>
            </a:pPr>
            <a:endParaRPr lang="en-US" sz="2300" dirty="0"/>
          </a:p>
        </p:txBody>
      </p:sp>
      <p:sp>
        <p:nvSpPr>
          <p:cNvPr id="3" name="Text Placeholder 2"/>
          <p:cNvSpPr/>
          <p:nvPr>
            <p:ph idx="101" type="body"/>
          </p:nvPr>
        </p:nvSpPr>
        <p:spPr>
          <a:xfrm>
            <a:off x="609600" y="1374725"/>
            <a:ext cx="10769600" cy="4670475"/>
          </a:xfrm>
          <a:prstGeom prst="rect">
            <a:avLst/>
          </a:prstGeom>
          <a:noFill/>
          <a:ln/>
        </p:spPr>
        <p:txBody>
          <a:bodyPr wrap="square" lIns="0" tIns="0" rIns="0" bIns="0" rtlCol="0" anchor="t"/>
          <a:lstStyle>
            <a:lvl1pPr algn="l" indent="0" marL="0">
              <a:lnSpc>
                <a:spcPct val="140000"/>
              </a:lnSpc>
              <a:buNone/>
              <a:defRPr lang="en-US" sz="1600" dirty="0">
                <a:solidFill>
                  <a:srgbClr val="161B1C"/>
                </a:solidFill>
                <a:latin typeface="Hanken Grotesk" pitchFamily="34" charset="0"/>
                <a:ea typeface="Hanken Grotesk" pitchFamily="34" charset="-122"/>
                <a:cs typeface="Hanken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purwakumari16nus/Track2_Dispatcher"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CEF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5000"/>
          </a:blip>
          <a:srcRect l="-926" r="-926" t="0" b="0"/>
          <a:stretch/>
        </p:blipFill>
        <p:spPr>
          <a:xfrm>
            <a:off x="5207000" y="0"/>
            <a:ext cx="6985000" cy="6858000"/>
          </a:xfrm>
          <a:prstGeom prst="rect">
            <a:avLst/>
          </a:prstGeom>
        </p:spPr>
      </p:pic>
      <p:sp>
        <p:nvSpPr>
          <p:cNvPr id="3" name="Text 0"/>
          <p:cNvSpPr/>
          <p:nvPr/>
        </p:nvSpPr>
        <p:spPr>
          <a:xfrm>
            <a:off x="6927850" y="431800"/>
            <a:ext cx="45783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DSS5105 Capstone · Track 2</a:t>
            </a:r>
            <a:endParaRPr lang="en-US" sz="1200" dirty="0"/>
          </a:p>
        </p:txBody>
      </p:sp>
      <p:sp>
        <p:nvSpPr>
          <p:cNvPr id="4" name="Shape 1"/>
          <p:cNvSpPr/>
          <p:nvPr/>
        </p:nvSpPr>
        <p:spPr>
          <a:xfrm>
            <a:off x="685800" y="5607050"/>
            <a:ext cx="10820400" cy="6350"/>
          </a:xfrm>
          <a:prstGeom prst="rect">
            <a:avLst/>
          </a:prstGeom>
          <a:solidFill>
            <a:srgbClr val="C9D4D2"/>
          </a:solidFill>
          <a:ln/>
        </p:spPr>
      </p:sp>
      <p:sp>
        <p:nvSpPr>
          <p:cNvPr id="5" name="Text 2"/>
          <p:cNvSpPr/>
          <p:nvPr/>
        </p:nvSpPr>
        <p:spPr>
          <a:xfrm>
            <a:off x="685800" y="5842050"/>
            <a:ext cx="5624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Presented by</a:t>
            </a:r>
            <a:endParaRPr lang="en-US" sz="1200" dirty="0"/>
          </a:p>
        </p:txBody>
      </p:sp>
      <p:sp>
        <p:nvSpPr>
          <p:cNvPr id="6" name="Text 3"/>
          <p:cNvSpPr/>
          <p:nvPr/>
        </p:nvSpPr>
        <p:spPr>
          <a:xfrm>
            <a:off x="685800" y="6093470"/>
            <a:ext cx="679558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Aditya Vijindra Pandhari · Apurwa Kumari · Vanshika Dhamija · Yin Ning</a:t>
            </a:r>
            <a:endParaRPr lang="en-US" sz="1300" dirty="0"/>
          </a:p>
        </p:txBody>
      </p:sp>
      <p:sp>
        <p:nvSpPr>
          <p:cNvPr id="7" name="Text 4"/>
          <p:cNvSpPr/>
          <p:nvPr/>
        </p:nvSpPr>
        <p:spPr>
          <a:xfrm>
            <a:off x="9093200" y="5831880"/>
            <a:ext cx="2485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Course</a:t>
            </a:r>
            <a:endParaRPr lang="en-US" sz="1200" dirty="0"/>
          </a:p>
        </p:txBody>
      </p:sp>
      <p:sp>
        <p:nvSpPr>
          <p:cNvPr id="8" name="Text 5"/>
          <p:cNvSpPr/>
          <p:nvPr/>
        </p:nvSpPr>
        <p:spPr>
          <a:xfrm>
            <a:off x="9093200" y="6085830"/>
            <a:ext cx="248539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NUS DSS5105</a:t>
            </a:r>
            <a:endParaRPr lang="en-US" sz="1300" dirty="0"/>
          </a:p>
        </p:txBody>
      </p:sp>
      <p:sp>
        <p:nvSpPr>
          <p:cNvPr id="9" name="Text 6"/>
          <p:cNvSpPr/>
          <p:nvPr/>
        </p:nvSpPr>
        <p:spPr>
          <a:xfrm>
            <a:off x="685800" y="1270000"/>
            <a:ext cx="6697472" cy="361305"/>
          </a:xfrm>
          <a:prstGeom prst="rect">
            <a:avLst/>
          </a:prstGeom>
          <a:noFill/>
          <a:ln/>
        </p:spPr>
        <p:txBody>
          <a:bodyPr wrap="square" lIns="0" tIns="0" rIns="0" bIns="0" rtlCol="0" anchor="t">
            <a:normAutofit/>
          </a:bodyPr>
          <a:lstStyle/>
          <a:p>
            <a:pPr algn="l" indent="0" marL="0">
              <a:lnSpc>
                <a:spcPts val="2645"/>
              </a:lnSpc>
              <a:buNone/>
            </a:pPr>
            <a:r>
              <a:rPr lang="en-US" sz="2300" b="1" dirty="0">
                <a:solidFill>
                  <a:srgbClr val="161B1C"/>
                </a:solidFill>
                <a:latin typeface="Hanken Grotesk" pitchFamily="34" charset="0"/>
                <a:ea typeface="Hanken Grotesk" pitchFamily="34" charset="-122"/>
                <a:cs typeface="Hanken Grotesk" pitchFamily="34" charset="-120"/>
              </a:rPr>
              <a:t>Sprint 1</a:t>
            </a:r>
            <a:endParaRPr lang="en-US" sz="2300" dirty="0"/>
          </a:p>
        </p:txBody>
      </p:sp>
      <p:sp>
        <p:nvSpPr>
          <p:cNvPr id="10" name="Text 7"/>
          <p:cNvSpPr/>
          <p:nvPr>
            <p:ph type="title"/>
          </p:nvPr>
        </p:nvSpPr>
        <p:spPr>
          <a:xfrm>
            <a:off x="685800" y="1809105"/>
            <a:ext cx="6697472" cy="1358900"/>
          </a:xfrm>
          <a:prstGeom prst="rect">
            <a:avLst/>
          </a:prstGeom>
          <a:noFill/>
          <a:ln/>
        </p:spPr>
        <p:txBody>
          <a:bodyPr wrap="square" lIns="0" tIns="0" rIns="0" bIns="0" rtlCol="0" anchor="t">
            <a:normAutofit/>
          </a:bodyPr>
          <a:lstStyle/>
          <a:p>
            <a:pPr algn="l" indent="0" marL="0">
              <a:lnSpc>
                <a:spcPts val="5250"/>
              </a:lnSpc>
              <a:buNone/>
            </a:pPr>
            <a:r>
              <a:rPr lang="en-US" sz="5000" b="1" i="0" dirty="0">
                <a:solidFill>
                  <a:srgbClr val="49868D"/>
                </a:solidFill>
                <a:latin typeface="Hanken Grotesk" pitchFamily="34" charset="0"/>
                <a:ea typeface="Hanken Grotesk" pitchFamily="34" charset="-122"/>
                <a:cs typeface="Hanken Grotesk" pitchFamily="34" charset="-120"/>
              </a:rPr>
              <a:t>Quick-Response Subcontracting Desk</a:t>
            </a:r>
            <a:endParaRPr lang="en-US" sz="5000" dirty="0"/>
          </a:p>
        </p:txBody>
      </p:sp>
      <p:sp>
        <p:nvSpPr>
          <p:cNvPr id="11" name="Text 8"/>
          <p:cNvSpPr/>
          <p:nvPr/>
        </p:nvSpPr>
        <p:spPr>
          <a:xfrm>
            <a:off x="685800" y="3345805"/>
            <a:ext cx="669747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547"/>
                </a:solidFill>
                <a:latin typeface="Hanken Grotesk" pitchFamily="34" charset="0"/>
                <a:ea typeface="Hanken Grotesk" pitchFamily="34" charset="-122"/>
                <a:cs typeface="Hanken Grotesk" pitchFamily="34" charset="-120"/>
              </a:rPr>
              <a:t>From chat message to confirmed decision, in minutes.</a:t>
            </a:r>
            <a:endParaRPr lang="en-US" sz="1600" dirty="0"/>
          </a:p>
        </p:txBody>
      </p:sp>
      <p:sp>
        <p:nvSpPr>
          <p:cNvPr id="12" name="Shape 9"/>
          <p:cNvSpPr/>
          <p:nvPr/>
        </p:nvSpPr>
        <p:spPr>
          <a:xfrm>
            <a:off x="7699375" y="1082675"/>
            <a:ext cx="3803650" cy="4425950"/>
          </a:xfrm>
          <a:prstGeom prst="roundRect">
            <a:avLst>
              <a:gd name="adj" fmla="val 3923"/>
            </a:avLst>
          </a:prstGeom>
          <a:solidFill>
            <a:srgbClr val="F7F8F8">
              <a:alpha val="86000"/>
            </a:srgbClr>
          </a:solidFill>
          <a:ln w="6350">
            <a:solidFill>
              <a:srgbClr val="D3DCDA"/>
            </a:solidFill>
            <a:prstDash val="solid"/>
          </a:ln>
          <a:effectLst>
            <a:outerShdw sx="100000" sy="100000" kx="0" ky="0" algn="bl" rotWithShape="0" blurRad="254000" dist="76200" dir="5400000">
              <a:srgbClr val="161B1C">
                <a:alpha val="10000"/>
              </a:srgbClr>
            </a:outerShdw>
          </a:effectLst>
        </p:spPr>
      </p:sp>
      <p:sp>
        <p:nvSpPr>
          <p:cNvPr id="13" name="Text 10"/>
          <p:cNvSpPr/>
          <p:nvPr/>
        </p:nvSpPr>
        <p:spPr>
          <a:xfrm>
            <a:off x="7956550" y="1314450"/>
            <a:ext cx="338797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FROM THE GROUP CHAT</a:t>
            </a:r>
            <a:endParaRPr lang="en-US" sz="1200" dirty="0"/>
          </a:p>
        </p:txBody>
      </p:sp>
      <p:sp>
        <p:nvSpPr>
          <p:cNvPr id="14" name="Shape 11"/>
          <p:cNvSpPr/>
          <p:nvPr/>
        </p:nvSpPr>
        <p:spPr>
          <a:xfrm>
            <a:off x="7956550" y="1642070"/>
            <a:ext cx="3289300" cy="1238151"/>
          </a:xfrm>
          <a:prstGeom prst="roundRect">
            <a:avLst>
              <a:gd name="adj" fmla="val 8206"/>
            </a:avLst>
          </a:prstGeom>
          <a:solidFill>
            <a:srgbClr val="DCE6E4"/>
          </a:solidFill>
          <a:ln/>
        </p:spPr>
      </p:sp>
      <p:sp>
        <p:nvSpPr>
          <p:cNvPr id="15" name="Text 12"/>
          <p:cNvSpPr/>
          <p:nvPr/>
        </p:nvSpPr>
        <p:spPr>
          <a:xfrm>
            <a:off x="8121650" y="1781770"/>
            <a:ext cx="30478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Boss · R09</a:t>
            </a:r>
            <a:endParaRPr lang="en-US" sz="1200" dirty="0"/>
          </a:p>
        </p:txBody>
      </p:sp>
      <p:sp>
        <p:nvSpPr>
          <p:cNvPr id="16" name="Text 13"/>
          <p:cNvSpPr/>
          <p:nvPr/>
        </p:nvSpPr>
        <p:spPr>
          <a:xfrm>
            <a:off x="8121650" y="2020491"/>
            <a:ext cx="3047873"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1B1C"/>
                </a:solidFill>
                <a:latin typeface="Hanken Grotesk" pitchFamily="34" charset="0"/>
                <a:ea typeface="Hanken Grotesk" pitchFamily="34" charset="-122"/>
                <a:cs typeface="Hanken Grotesk" pitchFamily="34" charset="-120"/>
              </a:rPr>
              <a:t>ORD-045: 150 vests for Cotton Club, due Apr 09. Just the fastest turnaround.</a:t>
            </a:r>
            <a:endParaRPr lang="en-US" sz="1400" dirty="0"/>
          </a:p>
        </p:txBody>
      </p:sp>
      <p:pic>
        <p:nvPicPr>
          <p:cNvPr id="17" name="Image 1" descr="arrow-down">    </p:cNvPr>
          <p:cNvPicPr>
            <a:picLocks noChangeAspect="1"/>
          </p:cNvPicPr>
          <p:nvPr/>
        </p:nvPicPr>
        <p:blipFill>
          <a:blip r:embed="rId2"/>
          <a:srcRect l="0" r="0" t="0" b="0"/>
          <a:stretch/>
        </p:blipFill>
        <p:spPr>
          <a:xfrm>
            <a:off x="9531350" y="2994521"/>
            <a:ext cx="139700" cy="254000"/>
          </a:xfrm>
          <a:prstGeom prst="rect">
            <a:avLst/>
          </a:prstGeom>
        </p:spPr>
      </p:pic>
      <p:sp>
        <p:nvSpPr>
          <p:cNvPr id="18" name="Text 14"/>
          <p:cNvSpPr/>
          <p:nvPr/>
        </p:nvSpPr>
        <p:spPr>
          <a:xfrm>
            <a:off x="7956550" y="3362821"/>
            <a:ext cx="1215529" cy="289520"/>
          </a:xfrm>
          <a:custGeom>
            <a:avLst/>
            <a:gdLst/>
            <a:ahLst/>
            <a:cxnLst/>
            <a:rect l="l" t="t" r="r" b="b"/>
            <a:pathLst>
              <a:path w="1215529" h="289520">
                <a:moveTo>
                  <a:pt x="144760" y="0"/>
                </a:moveTo>
                <a:lnTo>
                  <a:pt x="1070769" y="0"/>
                </a:lnTo>
                <a:arcTo hR="144760" wR="144760" stAng="16200000" swAng="5400000"/>
                <a:lnTo>
                  <a:pt x="1215529" y="144760"/>
                </a:lnTo>
                <a:arcTo hR="144760" wR="144760" stAng="0" swAng="5400000"/>
                <a:lnTo>
                  <a:pt x="144760" y="289520"/>
                </a:lnTo>
                <a:arcTo hR="144760" wR="144760" stAng="5400000" swAng="5400000"/>
                <a:lnTo>
                  <a:pt x="0" y="144760"/>
                </a:lnTo>
                <a:arcTo hR="144760" wR="144760" stAng="10800000" swAng="5400000"/>
                <a:close/>
              </a:path>
            </a:pathLst>
          </a:custGeom>
          <a:solidFill>
            <a:srgbClr val="2F6268"/>
          </a:solidFill>
          <a:ln/>
        </p:spPr>
        <p:txBody>
          <a:bodyPr wrap="none" lIns="0" tIns="0" rIns="0" bIns="0" rtlCol="0" anchor="ctr">
            <a:normAutofit/>
          </a:bodyPr>
          <a:lstStyle/>
          <a:p>
            <a:pPr algn="ctr" indent="0" marL="0">
              <a:lnSpc>
                <a:spcPts val="1680"/>
              </a:lnSpc>
              <a:buNone/>
            </a:pPr>
            <a:r>
              <a:rPr lang="en-US" sz="1200" b="1" spc="150" kern="0" dirty="0">
                <a:solidFill>
                  <a:srgbClr val="F5F5F5"/>
                </a:solidFill>
                <a:latin typeface="Hanken Grotesk" pitchFamily="34" charset="0"/>
                <a:ea typeface="Hanken Grotesk" pitchFamily="34" charset="-122"/>
                <a:cs typeface="Hanken Grotesk" pitchFamily="34" charset="-120"/>
              </a:rPr>
              <a:t>ALLOCATE</a:t>
            </a:r>
            <a:endParaRPr lang="en-US" sz="1200" dirty="0"/>
          </a:p>
        </p:txBody>
      </p:sp>
      <p:sp>
        <p:nvSpPr>
          <p:cNvPr id="19" name="Text 15"/>
          <p:cNvSpPr/>
          <p:nvPr/>
        </p:nvSpPr>
        <p:spPr>
          <a:xfrm>
            <a:off x="7956550" y="3766641"/>
            <a:ext cx="3387979"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61B1C"/>
                </a:solidFill>
                <a:latin typeface="Hanken Grotesk" pitchFamily="34" charset="0"/>
                <a:ea typeface="Hanken Grotesk" pitchFamily="34" charset="-122"/>
                <a:cs typeface="Hanken Grotesk" pitchFamily="34" charset="-120"/>
              </a:rPr>
              <a:t>Nimble Needle</a:t>
            </a:r>
            <a:endParaRPr lang="en-US" sz="2400" dirty="0"/>
          </a:p>
        </p:txBody>
      </p:sp>
      <p:sp>
        <p:nvSpPr>
          <p:cNvPr id="20" name="Text 16"/>
          <p:cNvSpPr/>
          <p:nvPr/>
        </p:nvSpPr>
        <p:spPr>
          <a:xfrm>
            <a:off x="7956550" y="4216202"/>
            <a:ext cx="6176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Back</a:t>
            </a:r>
            <a:endParaRPr lang="en-US" sz="1200" dirty="0"/>
          </a:p>
        </p:txBody>
      </p:sp>
      <p:sp>
        <p:nvSpPr>
          <p:cNvPr id="21" name="Text 17"/>
          <p:cNvSpPr/>
          <p:nvPr/>
        </p:nvSpPr>
        <p:spPr>
          <a:xfrm>
            <a:off x="7956550" y="4442222"/>
            <a:ext cx="68026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1B1C"/>
                </a:solidFill>
                <a:latin typeface="Hanken Grotesk" pitchFamily="34" charset="0"/>
                <a:ea typeface="Hanken Grotesk" pitchFamily="34" charset="-122"/>
                <a:cs typeface="Hanken Grotesk" pitchFamily="34" charset="-120"/>
              </a:rPr>
              <a:t>4 Apr</a:t>
            </a:r>
            <a:endParaRPr lang="en-US" sz="1800" dirty="0"/>
          </a:p>
        </p:txBody>
      </p:sp>
      <p:sp>
        <p:nvSpPr>
          <p:cNvPr id="22" name="Text 18"/>
          <p:cNvSpPr/>
          <p:nvPr/>
        </p:nvSpPr>
        <p:spPr>
          <a:xfrm>
            <a:off x="8879036" y="4216202"/>
            <a:ext cx="7186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Spare</a:t>
            </a:r>
            <a:endParaRPr lang="en-US" sz="1200" dirty="0"/>
          </a:p>
        </p:txBody>
      </p:sp>
      <p:sp>
        <p:nvSpPr>
          <p:cNvPr id="23" name="Text 19"/>
          <p:cNvSpPr/>
          <p:nvPr/>
        </p:nvSpPr>
        <p:spPr>
          <a:xfrm>
            <a:off x="8879036" y="4442222"/>
            <a:ext cx="801469"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1B1C"/>
                </a:solidFill>
                <a:latin typeface="Hanken Grotesk" pitchFamily="34" charset="0"/>
                <a:ea typeface="Hanken Grotesk" pitchFamily="34" charset="-122"/>
                <a:cs typeface="Hanken Grotesk" pitchFamily="34" charset="-120"/>
              </a:rPr>
              <a:t>5 days</a:t>
            </a:r>
            <a:endParaRPr lang="en-US" sz="1800" dirty="0"/>
          </a:p>
        </p:txBody>
      </p:sp>
      <p:sp>
        <p:nvSpPr>
          <p:cNvPr id="24" name="Text 20"/>
          <p:cNvSpPr/>
          <p:nvPr/>
        </p:nvSpPr>
        <p:spPr>
          <a:xfrm>
            <a:off x="9902527" y="4216202"/>
            <a:ext cx="434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Cost</a:t>
            </a:r>
            <a:endParaRPr lang="en-US" sz="1200" dirty="0"/>
          </a:p>
        </p:txBody>
      </p:sp>
      <p:sp>
        <p:nvSpPr>
          <p:cNvPr id="25" name="Text 21"/>
          <p:cNvSpPr/>
          <p:nvPr/>
        </p:nvSpPr>
        <p:spPr>
          <a:xfrm>
            <a:off x="9902527" y="4442222"/>
            <a:ext cx="46089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1B1C"/>
                </a:solidFill>
                <a:latin typeface="Hanken Grotesk" pitchFamily="34" charset="0"/>
                <a:ea typeface="Hanken Grotesk" pitchFamily="34" charset="-122"/>
                <a:cs typeface="Hanken Grotesk" pitchFamily="34" charset="-120"/>
              </a:rPr>
              <a:t>180</a:t>
            </a:r>
            <a:endParaRPr lang="en-US" sz="1800" dirty="0"/>
          </a:p>
        </p:txBody>
      </p:sp>
      <p:pic>
        <p:nvPicPr>
          <p:cNvPr id="26" name="Image 2" descr="Verified">    </p:cNvPr>
          <p:cNvPicPr>
            <a:picLocks noChangeAspect="1"/>
          </p:cNvPicPr>
          <p:nvPr/>
        </p:nvPicPr>
        <p:blipFill>
          <a:blip r:embed="rId3"/>
          <a:srcRect l="-472" r="-472" t="0" b="0"/>
          <a:stretch/>
        </p:blipFill>
        <p:spPr>
          <a:xfrm>
            <a:off x="7956550" y="4966692"/>
            <a:ext cx="153839" cy="215900"/>
          </a:xfrm>
          <a:prstGeom prst="rect">
            <a:avLst/>
          </a:prstGeom>
        </p:spPr>
      </p:pic>
      <p:sp>
        <p:nvSpPr>
          <p:cNvPr id="27" name="Text 22"/>
          <p:cNvSpPr/>
          <p:nvPr/>
        </p:nvSpPr>
        <p:spPr>
          <a:xfrm>
            <a:off x="8199289" y="4876552"/>
            <a:ext cx="313795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B4547"/>
                </a:solidFill>
                <a:latin typeface="Hanken Grotesk" pitchFamily="34" charset="0"/>
                <a:ea typeface="Hanken Grotesk" pitchFamily="34" charset="-122"/>
                <a:cs typeface="Hanken Grotesk" pitchFamily="34" charset="-120"/>
              </a:rPr>
              <a:t>Numbers checked against tool outputs · saved only on Confirm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01 · PROBLEM STATEMENT</a:t>
            </a:r>
            <a:endParaRPr lang="en-US" sz="1200" dirty="0"/>
          </a:p>
        </p:txBody>
      </p:sp>
      <p:sp>
        <p:nvSpPr>
          <p:cNvPr id="3" name="Text 1"/>
          <p:cNvSpPr/>
          <p:nvPr>
            <p:ph type="title"/>
          </p:nvPr>
        </p:nvSpPr>
        <p:spPr>
          <a:xfrm>
            <a:off x="609600" y="734020"/>
            <a:ext cx="11301984"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Orders are sent to workshops without a system: biased, untraceable and slow</a:t>
            </a:r>
            <a:endParaRPr lang="en-US" sz="2300" dirty="0"/>
          </a:p>
        </p:txBody>
      </p:sp>
      <p:sp>
        <p:nvSpPr>
          <p:cNvPr id="4" name="Text 2"/>
          <p:cNvSpPr/>
          <p:nvPr/>
        </p:nvSpPr>
        <p:spPr>
          <a:xfrm>
            <a:off x="609600" y="1323925"/>
            <a:ext cx="11301984" cy="37589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161B1C"/>
                </a:solidFill>
                <a:latin typeface="Hanken Grotesk" pitchFamily="34" charset="0"/>
                <a:ea typeface="Hanken Grotesk" pitchFamily="34" charset="-122"/>
                <a:cs typeface="Hanken Grotesk" pitchFamily="34" charset="-120"/>
              </a:rPr>
              <a:t>Gut-feel picks. </a:t>
            </a:r>
            <a:r>
              <a:rPr lang="en-US" sz="2400" b="1" dirty="0">
                <a:solidFill>
                  <a:srgbClr val="49868D"/>
                </a:solidFill>
                <a:latin typeface="Hanken Grotesk" pitchFamily="34" charset="0"/>
                <a:ea typeface="Hanken Grotesk" pitchFamily="34" charset="-122"/>
                <a:cs typeface="Hanken Grotesk" pitchFamily="34" charset="-120"/>
              </a:rPr>
              <a:t>No record of why.</a:t>
            </a:r>
            <a:endParaRPr lang="en-US" sz="2400" dirty="0"/>
          </a:p>
        </p:txBody>
      </p:sp>
      <p:sp>
        <p:nvSpPr>
          <p:cNvPr id="5" name="Text 3"/>
          <p:cNvSpPr/>
          <p:nvPr/>
        </p:nvSpPr>
        <p:spPr>
          <a:xfrm>
            <a:off x="609600" y="1725216"/>
            <a:ext cx="113019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A6B"/>
                </a:solidFill>
                <a:latin typeface="Hanken Grotesk" pitchFamily="34" charset="0"/>
                <a:ea typeface="Hanken Grotesk" pitchFamily="34" charset="-122"/>
                <a:cs typeface="Hanken Grotesk" pitchFamily="34" charset="-120"/>
              </a:rPr>
              <a:t>The choice depends on who is dispatching, not on one shared, checked method.</a:t>
            </a:r>
            <a:endParaRPr lang="en-US" sz="1400" dirty="0"/>
          </a:p>
        </p:txBody>
      </p:sp>
      <p:sp>
        <p:nvSpPr>
          <p:cNvPr id="6" name="Text 4"/>
          <p:cNvSpPr/>
          <p:nvPr/>
        </p:nvSpPr>
        <p:spPr>
          <a:xfrm>
            <a:off x="609600" y="2228106"/>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9868D"/>
                </a:solidFill>
                <a:latin typeface="Hanken Grotesk" pitchFamily="34" charset="0"/>
                <a:ea typeface="Hanken Grotesk" pitchFamily="34" charset="-122"/>
                <a:cs typeface="Hanken Grotesk" pitchFamily="34" charset="-120"/>
              </a:rPr>
              <a:t>EVERY ALLOCATION MUST ANSWER</a:t>
            </a:r>
            <a:endParaRPr lang="en-US" sz="1200" dirty="0"/>
          </a:p>
        </p:txBody>
      </p:sp>
      <p:sp>
        <p:nvSpPr>
          <p:cNvPr id="7" name="Text 5"/>
          <p:cNvSpPr/>
          <p:nvPr/>
        </p:nvSpPr>
        <p:spPr>
          <a:xfrm>
            <a:off x="5435600" y="2228106"/>
            <a:ext cx="633120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3A35"/>
                </a:solidFill>
                <a:latin typeface="Hanken Grotesk" pitchFamily="34" charset="0"/>
                <a:ea typeface="Hanken Grotesk" pitchFamily="34" charset="-122"/>
                <a:cs typeface="Hanken Grotesk" pitchFamily="34" charset="-120"/>
              </a:rPr>
              <a:t>HOW IT IS ANSWERED TODAY</a:t>
            </a:r>
            <a:endParaRPr lang="en-US" sz="1200" dirty="0"/>
          </a:p>
        </p:txBody>
      </p:sp>
      <p:sp>
        <p:nvSpPr>
          <p:cNvPr id="8" name="Shape 6"/>
          <p:cNvSpPr/>
          <p:nvPr/>
        </p:nvSpPr>
        <p:spPr>
          <a:xfrm>
            <a:off x="612775" y="2533501"/>
            <a:ext cx="4819650" cy="514350"/>
          </a:xfrm>
          <a:prstGeom prst="roundRect">
            <a:avLst>
              <a:gd name="adj" fmla="val 21605"/>
            </a:avLst>
          </a:prstGeom>
          <a:solidFill>
            <a:srgbClr val="F7F8F8"/>
          </a:solidFill>
          <a:ln w="6350">
            <a:solidFill>
              <a:srgbClr val="D3DCDA"/>
            </a:solidFill>
            <a:prstDash val="solid"/>
          </a:ln>
        </p:spPr>
      </p:sp>
      <p:sp>
        <p:nvSpPr>
          <p:cNvPr id="9" name="Text 7"/>
          <p:cNvSpPr/>
          <p:nvPr/>
        </p:nvSpPr>
        <p:spPr>
          <a:xfrm>
            <a:off x="755650" y="263827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gradFill rotWithShape="1">
            <a:gsLst>
              <a:gs pos="0">
                <a:srgbClr val="9BBBB7"/>
              </a:gs>
              <a:gs pos="100000">
                <a:srgbClr val="49868D"/>
              </a:gs>
            </a:gsLst>
            <a:lin ang="2700000" scaled="0"/>
          </a:gradFill>
          <a:ln/>
        </p:spPr>
        <p:txBody>
          <a:bodyPr wrap="square" lIns="0" tIns="0" rIns="0" bIns="0" rtlCol="0" anchor="t">
            <a:normAutofit/>
          </a:bodyPr>
          <a:lstStyle/>
          <a:p>
            <a:pPr algn="ctr" indent="0" marL="0">
              <a:lnSpc>
                <a:spcPts val="2400"/>
              </a:lnSpc>
              <a:buNone/>
            </a:pPr>
            <a:r>
              <a:rPr lang="en-US" sz="1200" b="1" dirty="0">
                <a:solidFill>
                  <a:srgbClr val="F5F5F5"/>
                </a:solidFill>
                <a:latin typeface="Hanken Grotesk" pitchFamily="34" charset="0"/>
                <a:ea typeface="Hanken Grotesk" pitchFamily="34" charset="-122"/>
                <a:cs typeface="Hanken Grotesk" pitchFamily="34" charset="-120"/>
              </a:rPr>
              <a:t>1</a:t>
            </a:r>
            <a:endParaRPr lang="en-US" sz="1200" dirty="0"/>
          </a:p>
        </p:txBody>
      </p:sp>
      <p:sp>
        <p:nvSpPr>
          <p:cNvPr id="10" name="Text 8"/>
          <p:cNvSpPr/>
          <p:nvPr/>
        </p:nvSpPr>
        <p:spPr>
          <a:xfrm>
            <a:off x="1187450" y="2676376"/>
            <a:ext cx="422516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Can they make it?</a:t>
            </a:r>
            <a:endParaRPr lang="en-US" sz="1500" dirty="0"/>
          </a:p>
        </p:txBody>
      </p:sp>
      <p:pic>
        <p:nvPicPr>
          <p:cNvPr id="11" name="Image 0" descr="connector">    </p:cNvPr>
          <p:cNvPicPr>
            <a:picLocks noChangeAspect="1"/>
          </p:cNvPicPr>
          <p:nvPr/>
        </p:nvPicPr>
        <p:blipFill>
          <a:blip r:embed="rId1"/>
          <a:srcRect l="0" r="0" t="0" b="0"/>
          <a:stretch/>
        </p:blipFill>
        <p:spPr>
          <a:xfrm>
            <a:off x="5403850" y="2752576"/>
            <a:ext cx="520700" cy="76200"/>
          </a:xfrm>
          <a:prstGeom prst="rect">
            <a:avLst/>
          </a:prstGeom>
        </p:spPr>
      </p:pic>
      <p:sp>
        <p:nvSpPr>
          <p:cNvPr id="12" name="Text 9"/>
          <p:cNvSpPr/>
          <p:nvPr/>
        </p:nvSpPr>
        <p:spPr>
          <a:xfrm>
            <a:off x="5892800" y="2666206"/>
            <a:ext cx="586028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3A35"/>
                </a:solidFill>
                <a:latin typeface="Hanken Grotesk" pitchFamily="34" charset="0"/>
                <a:ea typeface="Hanken Grotesk" pitchFamily="34" charset="-122"/>
                <a:cs typeface="Hanken Grotesk" pitchFamily="34" charset="-120"/>
              </a:rPr>
              <a:t>Depends on what the dispatcher knows</a:t>
            </a:r>
            <a:endParaRPr lang="en-US" sz="1400" dirty="0"/>
          </a:p>
        </p:txBody>
      </p:sp>
      <p:sp>
        <p:nvSpPr>
          <p:cNvPr id="13" name="Shape 10"/>
          <p:cNvSpPr/>
          <p:nvPr/>
        </p:nvSpPr>
        <p:spPr>
          <a:xfrm>
            <a:off x="612775" y="3143101"/>
            <a:ext cx="4819650" cy="514350"/>
          </a:xfrm>
          <a:prstGeom prst="roundRect">
            <a:avLst>
              <a:gd name="adj" fmla="val 21605"/>
            </a:avLst>
          </a:prstGeom>
          <a:solidFill>
            <a:srgbClr val="F7F8F8"/>
          </a:solidFill>
          <a:ln w="6350">
            <a:solidFill>
              <a:srgbClr val="D3DCDA"/>
            </a:solidFill>
            <a:prstDash val="solid"/>
          </a:ln>
        </p:spPr>
      </p:sp>
      <p:sp>
        <p:nvSpPr>
          <p:cNvPr id="14" name="Text 11"/>
          <p:cNvSpPr/>
          <p:nvPr/>
        </p:nvSpPr>
        <p:spPr>
          <a:xfrm>
            <a:off x="755650" y="324787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gradFill rotWithShape="1">
            <a:gsLst>
              <a:gs pos="0">
                <a:srgbClr val="9BBBB7"/>
              </a:gs>
              <a:gs pos="100000">
                <a:srgbClr val="49868D"/>
              </a:gs>
            </a:gsLst>
            <a:lin ang="2700000" scaled="0"/>
          </a:gradFill>
          <a:ln/>
        </p:spPr>
        <p:txBody>
          <a:bodyPr wrap="square" lIns="0" tIns="0" rIns="0" bIns="0" rtlCol="0" anchor="t">
            <a:normAutofit/>
          </a:bodyPr>
          <a:lstStyle/>
          <a:p>
            <a:pPr algn="ctr" indent="0" marL="0">
              <a:lnSpc>
                <a:spcPts val="2400"/>
              </a:lnSpc>
              <a:buNone/>
            </a:pPr>
            <a:r>
              <a:rPr lang="en-US" sz="1200" b="1" dirty="0">
                <a:solidFill>
                  <a:srgbClr val="F5F5F5"/>
                </a:solidFill>
                <a:latin typeface="Hanken Grotesk" pitchFamily="34" charset="0"/>
                <a:ea typeface="Hanken Grotesk" pitchFamily="34" charset="-122"/>
                <a:cs typeface="Hanken Grotesk" pitchFamily="34" charset="-120"/>
              </a:rPr>
              <a:t>2</a:t>
            </a:r>
            <a:endParaRPr lang="en-US" sz="1200" dirty="0"/>
          </a:p>
        </p:txBody>
      </p:sp>
      <p:sp>
        <p:nvSpPr>
          <p:cNvPr id="15" name="Text 12"/>
          <p:cNvSpPr/>
          <p:nvPr/>
        </p:nvSpPr>
        <p:spPr>
          <a:xfrm>
            <a:off x="1187450" y="3285976"/>
            <a:ext cx="422516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Are they allowed to take it?</a:t>
            </a:r>
            <a:endParaRPr lang="en-US" sz="1500" dirty="0"/>
          </a:p>
        </p:txBody>
      </p:sp>
      <p:pic>
        <p:nvPicPr>
          <p:cNvPr id="16" name="Image 1" descr="connector">    </p:cNvPr>
          <p:cNvPicPr>
            <a:picLocks noChangeAspect="1"/>
          </p:cNvPicPr>
          <p:nvPr/>
        </p:nvPicPr>
        <p:blipFill>
          <a:blip r:embed="rId2"/>
          <a:srcRect l="0" r="0" t="0" b="0"/>
          <a:stretch/>
        </p:blipFill>
        <p:spPr>
          <a:xfrm>
            <a:off x="5403850" y="3362176"/>
            <a:ext cx="520700" cy="76200"/>
          </a:xfrm>
          <a:prstGeom prst="rect">
            <a:avLst/>
          </a:prstGeom>
        </p:spPr>
      </p:pic>
      <p:sp>
        <p:nvSpPr>
          <p:cNvPr id="17" name="Text 13"/>
          <p:cNvSpPr/>
          <p:nvPr/>
        </p:nvSpPr>
        <p:spPr>
          <a:xfrm>
            <a:off x="5892800" y="3275806"/>
            <a:ext cx="586028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3A35"/>
                </a:solidFill>
                <a:latin typeface="Hanken Grotesk" pitchFamily="34" charset="0"/>
                <a:ea typeface="Hanken Grotesk" pitchFamily="34" charset="-122"/>
                <a:cs typeface="Hanken Grotesk" pitchFamily="34" charset="-120"/>
              </a:rPr>
              <a:t>Suspensions and caps are easy to miss</a:t>
            </a:r>
            <a:endParaRPr lang="en-US" sz="1400" dirty="0"/>
          </a:p>
        </p:txBody>
      </p:sp>
      <p:sp>
        <p:nvSpPr>
          <p:cNvPr id="18" name="Shape 14"/>
          <p:cNvSpPr/>
          <p:nvPr/>
        </p:nvSpPr>
        <p:spPr>
          <a:xfrm>
            <a:off x="612775" y="3752701"/>
            <a:ext cx="4819650" cy="514350"/>
          </a:xfrm>
          <a:prstGeom prst="roundRect">
            <a:avLst>
              <a:gd name="adj" fmla="val 21605"/>
            </a:avLst>
          </a:prstGeom>
          <a:solidFill>
            <a:srgbClr val="F7F8F8"/>
          </a:solidFill>
          <a:ln w="6350">
            <a:solidFill>
              <a:srgbClr val="D3DCDA"/>
            </a:solidFill>
            <a:prstDash val="solid"/>
          </a:ln>
        </p:spPr>
      </p:sp>
      <p:sp>
        <p:nvSpPr>
          <p:cNvPr id="19" name="Text 15"/>
          <p:cNvSpPr/>
          <p:nvPr/>
        </p:nvSpPr>
        <p:spPr>
          <a:xfrm>
            <a:off x="755650" y="385747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gradFill rotWithShape="1">
            <a:gsLst>
              <a:gs pos="0">
                <a:srgbClr val="9BBBB7"/>
              </a:gs>
              <a:gs pos="100000">
                <a:srgbClr val="49868D"/>
              </a:gs>
            </a:gsLst>
            <a:lin ang="2700000" scaled="0"/>
          </a:gradFill>
          <a:ln/>
        </p:spPr>
        <p:txBody>
          <a:bodyPr wrap="square" lIns="0" tIns="0" rIns="0" bIns="0" rtlCol="0" anchor="t">
            <a:normAutofit/>
          </a:bodyPr>
          <a:lstStyle/>
          <a:p>
            <a:pPr algn="ctr" indent="0" marL="0">
              <a:lnSpc>
                <a:spcPts val="2400"/>
              </a:lnSpc>
              <a:buNone/>
            </a:pPr>
            <a:r>
              <a:rPr lang="en-US" sz="1200" b="1" dirty="0">
                <a:solidFill>
                  <a:srgbClr val="F5F5F5"/>
                </a:solidFill>
                <a:latin typeface="Hanken Grotesk" pitchFamily="34" charset="0"/>
                <a:ea typeface="Hanken Grotesk" pitchFamily="34" charset="-122"/>
                <a:cs typeface="Hanken Grotesk" pitchFamily="34" charset="-120"/>
              </a:rPr>
              <a:t>3</a:t>
            </a:r>
            <a:endParaRPr lang="en-US" sz="1200" dirty="0"/>
          </a:p>
        </p:txBody>
      </p:sp>
      <p:sp>
        <p:nvSpPr>
          <p:cNvPr id="20" name="Text 16"/>
          <p:cNvSpPr/>
          <p:nvPr/>
        </p:nvSpPr>
        <p:spPr>
          <a:xfrm>
            <a:off x="1187450" y="3895576"/>
            <a:ext cx="422516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When will it really be back?</a:t>
            </a:r>
            <a:endParaRPr lang="en-US" sz="1500" dirty="0"/>
          </a:p>
        </p:txBody>
      </p:sp>
      <p:pic>
        <p:nvPicPr>
          <p:cNvPr id="21" name="Image 2" descr="connector">    </p:cNvPr>
          <p:cNvPicPr>
            <a:picLocks noChangeAspect="1"/>
          </p:cNvPicPr>
          <p:nvPr/>
        </p:nvPicPr>
        <p:blipFill>
          <a:blip r:embed="rId3"/>
          <a:srcRect l="0" r="0" t="0" b="0"/>
          <a:stretch/>
        </p:blipFill>
        <p:spPr>
          <a:xfrm>
            <a:off x="5403850" y="3971776"/>
            <a:ext cx="520700" cy="76200"/>
          </a:xfrm>
          <a:prstGeom prst="rect">
            <a:avLst/>
          </a:prstGeom>
        </p:spPr>
      </p:pic>
      <p:sp>
        <p:nvSpPr>
          <p:cNvPr id="22" name="Text 17"/>
          <p:cNvSpPr/>
          <p:nvPr/>
        </p:nvSpPr>
        <p:spPr>
          <a:xfrm>
            <a:off x="5892800" y="3885406"/>
            <a:ext cx="586028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3A35"/>
                </a:solidFill>
                <a:latin typeface="Hanken Grotesk" pitchFamily="34" charset="0"/>
                <a:ea typeface="Hanken Grotesk" pitchFamily="34" charset="-122"/>
                <a:cs typeface="Hanken Grotesk" pitchFamily="34" charset="-120"/>
              </a:rPr>
              <a:t>Estimated by feel, not from live queues</a:t>
            </a:r>
            <a:endParaRPr lang="en-US" sz="1400" dirty="0"/>
          </a:p>
        </p:txBody>
      </p:sp>
      <p:sp>
        <p:nvSpPr>
          <p:cNvPr id="23" name="Shape 18"/>
          <p:cNvSpPr/>
          <p:nvPr/>
        </p:nvSpPr>
        <p:spPr>
          <a:xfrm>
            <a:off x="612775" y="4362301"/>
            <a:ext cx="4819650" cy="514350"/>
          </a:xfrm>
          <a:prstGeom prst="roundRect">
            <a:avLst>
              <a:gd name="adj" fmla="val 21605"/>
            </a:avLst>
          </a:prstGeom>
          <a:solidFill>
            <a:srgbClr val="F7F8F8"/>
          </a:solidFill>
          <a:ln w="6350">
            <a:solidFill>
              <a:srgbClr val="D3DCDA"/>
            </a:solidFill>
            <a:prstDash val="solid"/>
          </a:ln>
        </p:spPr>
      </p:sp>
      <p:sp>
        <p:nvSpPr>
          <p:cNvPr id="24" name="Text 19"/>
          <p:cNvSpPr/>
          <p:nvPr/>
        </p:nvSpPr>
        <p:spPr>
          <a:xfrm>
            <a:off x="755650" y="446707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gradFill rotWithShape="1">
            <a:gsLst>
              <a:gs pos="0">
                <a:srgbClr val="9BBBB7"/>
              </a:gs>
              <a:gs pos="100000">
                <a:srgbClr val="49868D"/>
              </a:gs>
            </a:gsLst>
            <a:lin ang="2700000" scaled="0"/>
          </a:gradFill>
          <a:ln/>
        </p:spPr>
        <p:txBody>
          <a:bodyPr wrap="square" lIns="0" tIns="0" rIns="0" bIns="0" rtlCol="0" anchor="t">
            <a:normAutofit/>
          </a:bodyPr>
          <a:lstStyle/>
          <a:p>
            <a:pPr algn="ctr" indent="0" marL="0">
              <a:lnSpc>
                <a:spcPts val="2400"/>
              </a:lnSpc>
              <a:buNone/>
            </a:pPr>
            <a:r>
              <a:rPr lang="en-US" sz="1200" b="1" dirty="0">
                <a:solidFill>
                  <a:srgbClr val="F5F5F5"/>
                </a:solidFill>
                <a:latin typeface="Hanken Grotesk" pitchFamily="34" charset="0"/>
                <a:ea typeface="Hanken Grotesk" pitchFamily="34" charset="-122"/>
                <a:cs typeface="Hanken Grotesk" pitchFamily="34" charset="-120"/>
              </a:rPr>
              <a:t>4</a:t>
            </a:r>
            <a:endParaRPr lang="en-US" sz="1200" dirty="0"/>
          </a:p>
        </p:txBody>
      </p:sp>
      <p:sp>
        <p:nvSpPr>
          <p:cNvPr id="25" name="Text 20"/>
          <p:cNvSpPr/>
          <p:nvPr/>
        </p:nvSpPr>
        <p:spPr>
          <a:xfrm>
            <a:off x="1187450" y="4505176"/>
            <a:ext cx="422516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Why this workshop?</a:t>
            </a:r>
            <a:endParaRPr lang="en-US" sz="1500" dirty="0"/>
          </a:p>
        </p:txBody>
      </p:sp>
      <p:pic>
        <p:nvPicPr>
          <p:cNvPr id="26" name="Image 3" descr="connector">    </p:cNvPr>
          <p:cNvPicPr>
            <a:picLocks noChangeAspect="1"/>
          </p:cNvPicPr>
          <p:nvPr/>
        </p:nvPicPr>
        <p:blipFill>
          <a:blip r:embed="rId4"/>
          <a:srcRect l="0" r="0" t="0" b="0"/>
          <a:stretch/>
        </p:blipFill>
        <p:spPr>
          <a:xfrm>
            <a:off x="5403850" y="4581376"/>
            <a:ext cx="520700" cy="76200"/>
          </a:xfrm>
          <a:prstGeom prst="rect">
            <a:avLst/>
          </a:prstGeom>
        </p:spPr>
      </p:pic>
      <p:sp>
        <p:nvSpPr>
          <p:cNvPr id="27" name="Text 21"/>
          <p:cNvSpPr/>
          <p:nvPr/>
        </p:nvSpPr>
        <p:spPr>
          <a:xfrm>
            <a:off x="5892800" y="4495006"/>
            <a:ext cx="586028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A3A35"/>
                </a:solidFill>
                <a:latin typeface="Hanken Grotesk" pitchFamily="34" charset="0"/>
                <a:ea typeface="Hanken Grotesk" pitchFamily="34" charset="-122"/>
                <a:cs typeface="Hanken Grotesk" pitchFamily="34" charset="-120"/>
              </a:rPr>
              <a:t>Not recorded, so no one can review it</a:t>
            </a:r>
            <a:endParaRPr lang="en-US" sz="1400" dirty="0"/>
          </a:p>
        </p:txBody>
      </p:sp>
      <p:sp>
        <p:nvSpPr>
          <p:cNvPr id="28" name="Shape 22"/>
          <p:cNvSpPr/>
          <p:nvPr/>
        </p:nvSpPr>
        <p:spPr>
          <a:xfrm>
            <a:off x="609600" y="5471170"/>
            <a:ext cx="10972800" cy="434330"/>
          </a:xfrm>
          <a:prstGeom prst="roundRect">
            <a:avLst>
              <a:gd name="adj" fmla="val 26316"/>
            </a:avLst>
          </a:prstGeom>
          <a:solidFill>
            <a:srgbClr val="F2DEDB"/>
          </a:solidFill>
          <a:ln/>
        </p:spPr>
      </p:sp>
      <p:pic>
        <p:nvPicPr>
          <p:cNvPr id="29" name="Image 4" descr="Clock">    </p:cNvPr>
          <p:cNvPicPr>
            <a:picLocks noChangeAspect="1"/>
          </p:cNvPicPr>
          <p:nvPr/>
        </p:nvPicPr>
        <p:blipFill>
          <a:blip r:embed="rId5"/>
          <a:srcRect l="0" r="0" t="0" b="0"/>
          <a:stretch/>
        </p:blipFill>
        <p:spPr>
          <a:xfrm>
            <a:off x="774700" y="5586710"/>
            <a:ext cx="203200" cy="203200"/>
          </a:xfrm>
          <a:prstGeom prst="rect">
            <a:avLst/>
          </a:prstGeom>
        </p:spPr>
      </p:pic>
      <p:sp>
        <p:nvSpPr>
          <p:cNvPr id="30" name="Text 23"/>
          <p:cNvSpPr/>
          <p:nvPr/>
        </p:nvSpPr>
        <p:spPr>
          <a:xfrm>
            <a:off x="1092200" y="5572770"/>
            <a:ext cx="1063485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The cost:</a:t>
            </a:r>
            <a:r>
              <a:rPr lang="en-US" sz="1300" dirty="0">
                <a:solidFill>
                  <a:srgbClr val="161B1C"/>
                </a:solidFill>
                <a:latin typeface="Hanken Grotesk" pitchFamily="34" charset="0"/>
                <a:ea typeface="Hanken Grotesk" pitchFamily="34" charset="-122"/>
                <a:cs typeface="Hanken Grotesk" pitchFamily="34" charset="-120"/>
              </a:rPr>
              <a:t> one wrong pick returns a 7–14 day order late and wipes out the margin.</a:t>
            </a:r>
            <a:endParaRPr lang="en-US" sz="1300" dirty="0"/>
          </a:p>
        </p:txBody>
      </p:sp>
      <p:sp>
        <p:nvSpPr>
          <p:cNvPr id="31" name="Shape 24"/>
          <p:cNvSpPr/>
          <p:nvPr/>
        </p:nvSpPr>
        <p:spPr>
          <a:xfrm>
            <a:off x="609600" y="6140450"/>
            <a:ext cx="10972800" cy="6350"/>
          </a:xfrm>
          <a:prstGeom prst="rect">
            <a:avLst/>
          </a:prstGeom>
          <a:solidFill>
            <a:srgbClr val="C9D4D2"/>
          </a:solidFill>
          <a:ln/>
        </p:spPr>
      </p:sp>
      <p:sp>
        <p:nvSpPr>
          <p:cNvPr id="32" name="Text 25"/>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33" name="Text 26"/>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EE"/>
        </a:solidFill>
      </p:bgPr>
    </p:bg>
    <p:spTree>
      <p:nvGrpSpPr>
        <p:cNvPr id="1" name=""/>
        <p:cNvGrpSpPr/>
        <p:nvPr/>
      </p:nvGrpSpPr>
      <p:grpSpPr>
        <a:xfrm>
          <a:off x="0" y="0"/>
          <a:ext cx="0" cy="0"/>
          <a:chOff x="0" y="0"/>
          <a:chExt cx="0" cy="0"/>
        </a:xfrm>
      </p:grpSpPr>
      <p:sp>
        <p:nvSpPr>
          <p:cNvPr id="2" name="Shape 0"/>
          <p:cNvSpPr/>
          <p:nvPr/>
        </p:nvSpPr>
        <p:spPr>
          <a:xfrm>
            <a:off x="609600" y="6140450"/>
            <a:ext cx="10972800" cy="6350"/>
          </a:xfrm>
          <a:prstGeom prst="rect">
            <a:avLst/>
          </a:prstGeom>
          <a:solidFill>
            <a:srgbClr val="C9D4D2"/>
          </a:solidFill>
          <a:ln/>
        </p:spPr>
      </p:sp>
      <p:sp>
        <p:nvSpPr>
          <p:cNvPr id="3" name="Text 1"/>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4" name="Text 2"/>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03</a:t>
            </a:r>
            <a:endParaRPr lang="en-US" sz="1200" dirty="0"/>
          </a:p>
        </p:txBody>
      </p:sp>
      <p:sp>
        <p:nvSpPr>
          <p:cNvPr id="5" name="Text 3"/>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02 · GOAL AND OBJECTIVES</a:t>
            </a:r>
            <a:endParaRPr lang="en-US" sz="1200" dirty="0"/>
          </a:p>
        </p:txBody>
      </p:sp>
      <p:sp>
        <p:nvSpPr>
          <p:cNvPr id="6" name="Text 4"/>
          <p:cNvSpPr/>
          <p:nvPr>
            <p:ph type="title"/>
          </p:nvPr>
        </p:nvSpPr>
        <p:spPr>
          <a:xfrm>
            <a:off x="609600" y="734020"/>
            <a:ext cx="11301984"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A dispatcher app that turns a chat request into a checked, recorded decision</a:t>
            </a:r>
            <a:endParaRPr lang="en-US" sz="2300" dirty="0"/>
          </a:p>
        </p:txBody>
      </p:sp>
      <p:sp>
        <p:nvSpPr>
          <p:cNvPr id="7" name="Shape 5"/>
          <p:cNvSpPr/>
          <p:nvPr/>
        </p:nvSpPr>
        <p:spPr>
          <a:xfrm>
            <a:off x="609600" y="3295650"/>
            <a:ext cx="3564434" cy="2616200"/>
          </a:xfrm>
          <a:prstGeom prst="roundRect">
            <a:avLst>
              <a:gd name="adj" fmla="val 4854"/>
            </a:avLst>
          </a:prstGeom>
          <a:gradFill rotWithShape="1">
            <a:gsLst>
              <a:gs pos="0">
                <a:srgbClr val="2F6268"/>
              </a:gs>
              <a:gs pos="65000">
                <a:srgbClr val="3E777E"/>
              </a:gs>
              <a:gs pos="100000">
                <a:srgbClr val="49868D"/>
              </a:gs>
            </a:gsLst>
            <a:lin ang="3000000" scaled="0"/>
          </a:gradFill>
          <a:ln/>
        </p:spPr>
      </p:sp>
      <p:sp>
        <p:nvSpPr>
          <p:cNvPr id="8" name="Text 6"/>
          <p:cNvSpPr/>
          <p:nvPr/>
        </p:nvSpPr>
        <p:spPr>
          <a:xfrm>
            <a:off x="863600" y="3498850"/>
            <a:ext cx="3148127"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DDDA"/>
                </a:solidFill>
                <a:latin typeface="Hanken Grotesk" pitchFamily="34" charset="0"/>
                <a:ea typeface="Hanken Grotesk" pitchFamily="34" charset="-122"/>
                <a:cs typeface="Hanken Grotesk" pitchFamily="34" charset="-120"/>
              </a:rPr>
              <a:t>PRIMARY OBJECTIVE</a:t>
            </a:r>
            <a:endParaRPr lang="en-US" sz="1200" dirty="0"/>
          </a:p>
        </p:txBody>
      </p:sp>
      <p:sp>
        <p:nvSpPr>
          <p:cNvPr id="9" name="Text 7"/>
          <p:cNvSpPr/>
          <p:nvPr/>
        </p:nvSpPr>
        <p:spPr>
          <a:xfrm>
            <a:off x="863600" y="3775670"/>
            <a:ext cx="314812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5F5F5"/>
                </a:solidFill>
                <a:latin typeface="Hanken Grotesk" pitchFamily="34" charset="0"/>
                <a:ea typeface="Hanken Grotesk" pitchFamily="34" charset="-122"/>
                <a:cs typeface="Hanken Grotesk" pitchFamily="34" charset="-120"/>
              </a:rPr>
              <a:t>Minimise lateness</a:t>
            </a:r>
            <a:endParaRPr lang="en-US" sz="2800" dirty="0"/>
          </a:p>
        </p:txBody>
      </p:sp>
      <p:sp>
        <p:nvSpPr>
          <p:cNvPr id="10" name="Text 8"/>
          <p:cNvSpPr/>
          <p:nvPr/>
        </p:nvSpPr>
        <p:spPr>
          <a:xfrm>
            <a:off x="863600" y="4230291"/>
            <a:ext cx="3148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E7E5"/>
                </a:solidFill>
                <a:latin typeface="Hanken Grotesk" pitchFamily="34" charset="0"/>
                <a:ea typeface="Hanken Grotesk" pitchFamily="34" charset="-122"/>
                <a:cs typeface="Hanken Grotesk" pitchFamily="34" charset="-120"/>
              </a:rPr>
              <a:t>% of batches late + average days late</a:t>
            </a:r>
            <a:endParaRPr lang="en-US" sz="1200" dirty="0"/>
          </a:p>
        </p:txBody>
      </p:sp>
      <p:sp>
        <p:nvSpPr>
          <p:cNvPr id="11" name="Text 9"/>
          <p:cNvSpPr/>
          <p:nvPr/>
        </p:nvSpPr>
        <p:spPr>
          <a:xfrm>
            <a:off x="863600" y="4817269"/>
            <a:ext cx="3148127" cy="91678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5F5F5"/>
                </a:solidFill>
                <a:latin typeface="Hanken Grotesk" pitchFamily="34" charset="0"/>
                <a:ea typeface="Hanken Grotesk" pitchFamily="34" charset="-122"/>
                <a:cs typeface="Hanken Grotesk" pitchFamily="34" charset="-120"/>
              </a:rPr>
              <a:t>Why:</a:t>
            </a:r>
            <a:r>
              <a:rPr lang="en-US" sz="1300" dirty="0">
                <a:solidFill>
                  <a:srgbClr val="F5F5F5"/>
                </a:solidFill>
                <a:latin typeface="Hanken Grotesk" pitchFamily="34" charset="0"/>
                <a:ea typeface="Hanken Grotesk" pitchFamily="34" charset="-122"/>
                <a:cs typeface="Hanken Grotesk" pitchFamily="34" charset="-120"/>
              </a:rPr>
              <a:t> urgent orders have only 7–14 days, so a late batch is the most costly mistake. It misses the customer's date and loses the margin.</a:t>
            </a:r>
            <a:endParaRPr lang="en-US" sz="1300" dirty="0"/>
          </a:p>
        </p:txBody>
      </p:sp>
      <p:sp>
        <p:nvSpPr>
          <p:cNvPr id="12" name="Shape 10"/>
          <p:cNvSpPr/>
          <p:nvPr/>
        </p:nvSpPr>
        <p:spPr>
          <a:xfrm>
            <a:off x="4355009" y="3298825"/>
            <a:ext cx="3520033" cy="2609850"/>
          </a:xfrm>
          <a:prstGeom prst="roundRect">
            <a:avLst>
              <a:gd name="adj" fmla="val 4745"/>
            </a:avLst>
          </a:prstGeom>
          <a:solidFill>
            <a:srgbClr val="F7F8F8"/>
          </a:solidFill>
          <a:ln w="6350">
            <a:solidFill>
              <a:srgbClr val="D3DCDA"/>
            </a:solidFill>
            <a:prstDash val="solid"/>
          </a:ln>
        </p:spPr>
      </p:sp>
      <p:sp>
        <p:nvSpPr>
          <p:cNvPr id="13" name="Text 11"/>
          <p:cNvSpPr/>
          <p:nvPr/>
        </p:nvSpPr>
        <p:spPr>
          <a:xfrm>
            <a:off x="4586784" y="3517900"/>
            <a:ext cx="1185218"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SECONDARY</a:t>
            </a:r>
            <a:endParaRPr lang="en-US" sz="1200" dirty="0"/>
          </a:p>
        </p:txBody>
      </p:sp>
      <p:sp>
        <p:nvSpPr>
          <p:cNvPr id="14" name="Text 12"/>
          <p:cNvSpPr/>
          <p:nvPr/>
        </p:nvSpPr>
        <p:spPr>
          <a:xfrm>
            <a:off x="5772001" y="3505200"/>
            <a:ext cx="1134963" cy="238720"/>
          </a:xfrm>
          <a:custGeom>
            <a:avLst/>
            <a:gdLst/>
            <a:ahLst/>
            <a:cxnLst/>
            <a:rect l="l" t="t" r="r" b="b"/>
            <a:pathLst>
              <a:path w="1134963" h="238720">
                <a:moveTo>
                  <a:pt x="119360" y="0"/>
                </a:moveTo>
                <a:lnTo>
                  <a:pt x="1015603" y="0"/>
                </a:lnTo>
                <a:arcTo hR="119360" wR="119360" stAng="16200000" swAng="5400000"/>
                <a:lnTo>
                  <a:pt x="1134963" y="119360"/>
                </a:lnTo>
                <a:arcTo hR="119360" wR="119360" stAng="0" swAng="5400000"/>
                <a:lnTo>
                  <a:pt x="119360" y="238720"/>
                </a:lnTo>
                <a:arcTo hR="119360" wR="119360" stAng="5400000" swAng="5400000"/>
                <a:lnTo>
                  <a:pt x="0" y="119360"/>
                </a:lnTo>
                <a:arcTo hR="119360" wR="119360" stAng="10800000" swAng="5400000"/>
                <a:close/>
              </a:path>
            </a:pathLst>
          </a:cu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for evaluation</a:t>
            </a:r>
            <a:endParaRPr lang="en-US" sz="1200" dirty="0"/>
          </a:p>
        </p:txBody>
      </p:sp>
      <p:sp>
        <p:nvSpPr>
          <p:cNvPr id="15" name="Text 13"/>
          <p:cNvSpPr/>
          <p:nvPr/>
        </p:nvSpPr>
        <p:spPr>
          <a:xfrm>
            <a:off x="4586784" y="3807420"/>
            <a:ext cx="3148178"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61B1C"/>
                </a:solidFill>
                <a:latin typeface="Hanken Grotesk" pitchFamily="34" charset="0"/>
                <a:ea typeface="Hanken Grotesk" pitchFamily="34" charset="-122"/>
                <a:cs typeface="Hanken Grotesk" pitchFamily="34" charset="-120"/>
              </a:rPr>
              <a:t>Robustness</a:t>
            </a:r>
            <a:endParaRPr lang="en-US" sz="2200" dirty="0"/>
          </a:p>
        </p:txBody>
      </p:sp>
      <p:sp>
        <p:nvSpPr>
          <p:cNvPr id="16" name="Text 14"/>
          <p:cNvSpPr/>
          <p:nvPr/>
        </p:nvSpPr>
        <p:spPr>
          <a:xfrm>
            <a:off x="4586784" y="4178250"/>
            <a:ext cx="3285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Change in lateness when a workshop closes</a:t>
            </a:r>
            <a:endParaRPr lang="en-US" sz="1200" dirty="0"/>
          </a:p>
        </p:txBody>
      </p:sp>
      <p:sp>
        <p:nvSpPr>
          <p:cNvPr id="17" name="Text 15"/>
          <p:cNvSpPr/>
          <p:nvPr/>
        </p:nvSpPr>
        <p:spPr>
          <a:xfrm>
            <a:off x="4586784" y="4857750"/>
            <a:ext cx="3145981" cy="86995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B1C"/>
                </a:solidFill>
                <a:latin typeface="Hanken Grotesk" pitchFamily="34" charset="0"/>
                <a:ea typeface="Hanken Grotesk" pitchFamily="34" charset="-122"/>
                <a:cs typeface="Hanken Grotesk" pitchFamily="34" charset="-120"/>
              </a:rPr>
              <a:t>Why:</a:t>
            </a:r>
            <a:r>
              <a:rPr lang="en-US" sz="1300" dirty="0">
                <a:solidFill>
                  <a:srgbClr val="161B1C"/>
                </a:solidFill>
                <a:latin typeface="Hanken Grotesk" pitchFamily="34" charset="0"/>
                <a:ea typeface="Hanken Grotesk" pitchFamily="34" charset="-122"/>
                <a:cs typeface="Hanken Grotesk" pitchFamily="34" charset="-120"/>
              </a:rPr>
              <a:t> workshops can close or fall behind without warning, so a good pick must stay good when things change.</a:t>
            </a:r>
            <a:endParaRPr lang="en-US" sz="1300" dirty="0"/>
          </a:p>
        </p:txBody>
      </p:sp>
      <p:sp>
        <p:nvSpPr>
          <p:cNvPr id="18" name="Shape 16"/>
          <p:cNvSpPr/>
          <p:nvPr/>
        </p:nvSpPr>
        <p:spPr>
          <a:xfrm>
            <a:off x="8059192" y="3298825"/>
            <a:ext cx="3520033" cy="2609850"/>
          </a:xfrm>
          <a:prstGeom prst="roundRect">
            <a:avLst>
              <a:gd name="adj" fmla="val 4745"/>
            </a:avLst>
          </a:prstGeom>
          <a:solidFill>
            <a:srgbClr val="F7F8F8"/>
          </a:solidFill>
          <a:ln w="6350">
            <a:solidFill>
              <a:srgbClr val="D3DCDA"/>
            </a:solidFill>
            <a:prstDash val="solid"/>
          </a:ln>
        </p:spPr>
      </p:sp>
      <p:sp>
        <p:nvSpPr>
          <p:cNvPr id="19" name="Text 17"/>
          <p:cNvSpPr/>
          <p:nvPr/>
        </p:nvSpPr>
        <p:spPr>
          <a:xfrm>
            <a:off x="8290967" y="3517900"/>
            <a:ext cx="75450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HYBRID</a:t>
            </a:r>
            <a:endParaRPr lang="en-US" sz="1200" dirty="0"/>
          </a:p>
        </p:txBody>
      </p:sp>
      <p:sp>
        <p:nvSpPr>
          <p:cNvPr id="20" name="Text 18"/>
          <p:cNvSpPr/>
          <p:nvPr/>
        </p:nvSpPr>
        <p:spPr>
          <a:xfrm>
            <a:off x="9045476" y="3505200"/>
            <a:ext cx="1134963" cy="238720"/>
          </a:xfrm>
          <a:custGeom>
            <a:avLst/>
            <a:gdLst/>
            <a:ahLst/>
            <a:cxnLst/>
            <a:rect l="l" t="t" r="r" b="b"/>
            <a:pathLst>
              <a:path w="1134963" h="238720">
                <a:moveTo>
                  <a:pt x="119360" y="0"/>
                </a:moveTo>
                <a:lnTo>
                  <a:pt x="1015603" y="0"/>
                </a:lnTo>
                <a:arcTo hR="119360" wR="119360" stAng="16200000" swAng="5400000"/>
                <a:lnTo>
                  <a:pt x="1134963" y="119360"/>
                </a:lnTo>
                <a:arcTo hR="119360" wR="119360" stAng="0" swAng="5400000"/>
                <a:lnTo>
                  <a:pt x="119360" y="238720"/>
                </a:lnTo>
                <a:arcTo hR="119360" wR="119360" stAng="5400000" swAng="5400000"/>
                <a:lnTo>
                  <a:pt x="0" y="119360"/>
                </a:lnTo>
                <a:arcTo hR="119360" wR="119360" stAng="10800000" swAng="5400000"/>
                <a:close/>
              </a:path>
            </a:pathLst>
          </a:cu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for evaluation</a:t>
            </a:r>
            <a:endParaRPr lang="en-US" sz="1200" dirty="0"/>
          </a:p>
        </p:txBody>
      </p:sp>
      <p:sp>
        <p:nvSpPr>
          <p:cNvPr id="21" name="Text 19"/>
          <p:cNvSpPr/>
          <p:nvPr/>
        </p:nvSpPr>
        <p:spPr>
          <a:xfrm>
            <a:off x="8290967" y="3807420"/>
            <a:ext cx="3148178"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61B1C"/>
                </a:solidFill>
                <a:latin typeface="Hanken Grotesk" pitchFamily="34" charset="0"/>
                <a:ea typeface="Hanken Grotesk" pitchFamily="34" charset="-122"/>
                <a:cs typeface="Hanken Grotesk" pitchFamily="34" charset="-120"/>
              </a:rPr>
              <a:t>Lateness + fairness</a:t>
            </a:r>
            <a:endParaRPr lang="en-US" sz="2200" dirty="0"/>
          </a:p>
        </p:txBody>
      </p:sp>
      <p:sp>
        <p:nvSpPr>
          <p:cNvPr id="22" name="Text 20"/>
          <p:cNvSpPr/>
          <p:nvPr/>
        </p:nvSpPr>
        <p:spPr>
          <a:xfrm>
            <a:off x="8290967" y="4178250"/>
            <a:ext cx="3148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Weights not fixed yet; set after testing</a:t>
            </a:r>
            <a:endParaRPr lang="en-US" sz="1200" dirty="0"/>
          </a:p>
        </p:txBody>
      </p:sp>
      <p:sp>
        <p:nvSpPr>
          <p:cNvPr id="23" name="Text 21"/>
          <p:cNvSpPr/>
          <p:nvPr/>
        </p:nvSpPr>
        <p:spPr>
          <a:xfrm>
            <a:off x="8290967" y="4810919"/>
            <a:ext cx="3148178" cy="91678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B1C"/>
                </a:solidFill>
                <a:latin typeface="Hanken Grotesk" pitchFamily="34" charset="0"/>
                <a:ea typeface="Hanken Grotesk" pitchFamily="34" charset="-122"/>
                <a:cs typeface="Hanken Grotesk" pitchFamily="34" charset="-120"/>
              </a:rPr>
              <a:t>Why:</a:t>
            </a:r>
            <a:r>
              <a:rPr lang="en-US" sz="1300" dirty="0">
                <a:solidFill>
                  <a:srgbClr val="161B1C"/>
                </a:solidFill>
                <a:latin typeface="Hanken Grotesk" pitchFamily="34" charset="0"/>
                <a:ea typeface="Hanken Grotesk" pitchFamily="34" charset="-122"/>
                <a:cs typeface="Hanken Grotesk" pitchFamily="34" charset="-120"/>
              </a:rPr>
              <a:t> always sending work to the fastest workshop can overload it. We test whether spreading work keeps orders on time.</a:t>
            </a:r>
            <a:endParaRPr lang="en-US" sz="1300" dirty="0"/>
          </a:p>
        </p:txBody>
      </p:sp>
      <p:sp>
        <p:nvSpPr>
          <p:cNvPr id="24" name="Text 22"/>
          <p:cNvSpPr/>
          <p:nvPr/>
        </p:nvSpPr>
        <p:spPr>
          <a:xfrm>
            <a:off x="609600" y="13208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9868D"/>
                </a:solidFill>
                <a:latin typeface="Hanken Grotesk" pitchFamily="34" charset="0"/>
                <a:ea typeface="Hanken Grotesk" pitchFamily="34" charset="-122"/>
                <a:cs typeface="Hanken Grotesk" pitchFamily="34" charset="-120"/>
              </a:rPr>
              <a:t>WHAT IT DOES</a:t>
            </a:r>
            <a:endParaRPr lang="en-US" sz="1200" dirty="0"/>
          </a:p>
        </p:txBody>
      </p:sp>
      <p:sp>
        <p:nvSpPr>
          <p:cNvPr id="25" name="Shape 23"/>
          <p:cNvSpPr/>
          <p:nvPr/>
        </p:nvSpPr>
        <p:spPr>
          <a:xfrm>
            <a:off x="612775" y="1743075"/>
            <a:ext cx="1968500" cy="1187450"/>
          </a:xfrm>
          <a:prstGeom prst="roundRect">
            <a:avLst>
              <a:gd name="adj" fmla="val 10428"/>
            </a:avLst>
          </a:prstGeom>
          <a:solidFill>
            <a:srgbClr val="F7F8F8"/>
          </a:solidFill>
          <a:ln w="6350">
            <a:solidFill>
              <a:srgbClr val="D3DCDA"/>
            </a:solidFill>
            <a:prstDash val="solid"/>
          </a:ln>
        </p:spPr>
      </p:sp>
      <p:sp>
        <p:nvSpPr>
          <p:cNvPr id="26" name="Shape 24"/>
          <p:cNvSpPr/>
          <p:nvPr/>
        </p:nvSpPr>
        <p:spPr>
          <a:xfrm>
            <a:off x="768350" y="1898650"/>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27" name="Image 0" descr="Chat">    </p:cNvPr>
          <p:cNvPicPr>
            <a:picLocks noChangeAspect="1"/>
          </p:cNvPicPr>
          <p:nvPr/>
        </p:nvPicPr>
        <p:blipFill>
          <a:blip r:embed="rId1"/>
          <a:srcRect l="0" r="0" t="0" b="0"/>
          <a:stretch/>
        </p:blipFill>
        <p:spPr>
          <a:xfrm>
            <a:off x="857250" y="1987550"/>
            <a:ext cx="177800" cy="177800"/>
          </a:xfrm>
          <a:prstGeom prst="rect">
            <a:avLst/>
          </a:prstGeom>
        </p:spPr>
      </p:pic>
      <p:sp>
        <p:nvSpPr>
          <p:cNvPr id="28" name="Text 25"/>
          <p:cNvSpPr/>
          <p:nvPr/>
        </p:nvSpPr>
        <p:spPr>
          <a:xfrm>
            <a:off x="768350" y="2343150"/>
            <a:ext cx="170815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B1C"/>
                </a:solidFill>
                <a:latin typeface="Hanken Grotesk" pitchFamily="34" charset="0"/>
                <a:ea typeface="Hanken Grotesk" pitchFamily="34" charset="-122"/>
                <a:cs typeface="Hanken Grotesk" pitchFamily="34" charset="-120"/>
              </a:rPr>
              <a:t>Reads the chat request</a:t>
            </a:r>
            <a:endParaRPr lang="en-US" sz="1400" dirty="0"/>
          </a:p>
        </p:txBody>
      </p:sp>
      <p:pic>
        <p:nvPicPr>
          <p:cNvPr id="29" name="Image 1" descr="connector">    </p:cNvPr>
          <p:cNvPicPr>
            <a:picLocks noChangeAspect="1"/>
          </p:cNvPicPr>
          <p:nvPr/>
        </p:nvPicPr>
        <p:blipFill>
          <a:blip r:embed="rId2"/>
          <a:srcRect l="0" r="0" t="0" b="0"/>
          <a:stretch/>
        </p:blipFill>
        <p:spPr>
          <a:xfrm>
            <a:off x="2628900" y="2298700"/>
            <a:ext cx="177800" cy="76200"/>
          </a:xfrm>
          <a:prstGeom prst="rect">
            <a:avLst/>
          </a:prstGeom>
        </p:spPr>
      </p:pic>
      <p:sp>
        <p:nvSpPr>
          <p:cNvPr id="30" name="Shape 26"/>
          <p:cNvSpPr/>
          <p:nvPr/>
        </p:nvSpPr>
        <p:spPr>
          <a:xfrm>
            <a:off x="2809875" y="1748135"/>
            <a:ext cx="2070100" cy="1182390"/>
          </a:xfrm>
          <a:prstGeom prst="roundRect">
            <a:avLst>
              <a:gd name="adj" fmla="val 10472"/>
            </a:avLst>
          </a:prstGeom>
          <a:solidFill>
            <a:srgbClr val="F7F8F8"/>
          </a:solidFill>
          <a:ln w="6350">
            <a:solidFill>
              <a:srgbClr val="D3DCDA"/>
            </a:solidFill>
            <a:prstDash val="solid"/>
          </a:ln>
        </p:spPr>
      </p:sp>
      <p:sp>
        <p:nvSpPr>
          <p:cNvPr id="31" name="Shape 27"/>
          <p:cNvSpPr/>
          <p:nvPr/>
        </p:nvSpPr>
        <p:spPr>
          <a:xfrm>
            <a:off x="2965450" y="1903710"/>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32" name="Image 2" descr="Check">    </p:cNvPr>
          <p:cNvPicPr>
            <a:picLocks noChangeAspect="1"/>
          </p:cNvPicPr>
          <p:nvPr/>
        </p:nvPicPr>
        <p:blipFill>
          <a:blip r:embed="rId3"/>
          <a:srcRect l="0" r="0" t="0" b="0"/>
          <a:stretch/>
        </p:blipFill>
        <p:spPr>
          <a:xfrm>
            <a:off x="3054350" y="1992610"/>
            <a:ext cx="177800" cy="177800"/>
          </a:xfrm>
          <a:prstGeom prst="rect">
            <a:avLst/>
          </a:prstGeom>
        </p:spPr>
      </p:pic>
      <p:sp>
        <p:nvSpPr>
          <p:cNvPr id="33" name="Text 28"/>
          <p:cNvSpPr/>
          <p:nvPr/>
        </p:nvSpPr>
        <p:spPr>
          <a:xfrm>
            <a:off x="2965450" y="2348210"/>
            <a:ext cx="1811719" cy="452140"/>
          </a:xfrm>
          <a:prstGeom prst="rect">
            <a:avLst/>
          </a:prstGeom>
          <a:noFill/>
          <a:ln/>
        </p:spPr>
        <p:txBody>
          <a:bodyPr wrap="square" lIns="0" tIns="0" rIns="0" bIns="0" rtlCol="0" anchor="t">
            <a:normAutofit/>
          </a:bodyPr>
          <a:lstStyle/>
          <a:p>
            <a:pPr algn="l" indent="0" marL="0">
              <a:lnSpc>
                <a:spcPts val="1517"/>
              </a:lnSpc>
              <a:buNone/>
            </a:pPr>
            <a:r>
              <a:rPr lang="en-US" sz="1264" b="1" dirty="0">
                <a:solidFill>
                  <a:srgbClr val="161B1C"/>
                </a:solidFill>
                <a:latin typeface="Hanken Grotesk" pitchFamily="34" charset="0"/>
                <a:ea typeface="Hanken Grotesk" pitchFamily="34" charset="-122"/>
                <a:cs typeface="Hanken Grotesk" pitchFamily="34" charset="-120"/>
              </a:rPr>
              <a:t>Checks every workshop against the data</a:t>
            </a:r>
            <a:endParaRPr lang="en-US" sz="1264" dirty="0"/>
          </a:p>
        </p:txBody>
      </p:sp>
      <p:pic>
        <p:nvPicPr>
          <p:cNvPr id="34" name="Image 3" descr="connector">    </p:cNvPr>
          <p:cNvPicPr>
            <a:picLocks noChangeAspect="1"/>
          </p:cNvPicPr>
          <p:nvPr/>
        </p:nvPicPr>
        <p:blipFill>
          <a:blip r:embed="rId4"/>
          <a:srcRect l="0" r="0" t="0" b="0"/>
          <a:stretch/>
        </p:blipFill>
        <p:spPr>
          <a:xfrm>
            <a:off x="4883150" y="2298700"/>
            <a:ext cx="177800" cy="76200"/>
          </a:xfrm>
          <a:prstGeom prst="rect">
            <a:avLst/>
          </a:prstGeom>
        </p:spPr>
      </p:pic>
      <p:sp>
        <p:nvSpPr>
          <p:cNvPr id="35" name="Shape 29"/>
          <p:cNvSpPr/>
          <p:nvPr/>
        </p:nvSpPr>
        <p:spPr>
          <a:xfrm>
            <a:off x="5114925" y="1743075"/>
            <a:ext cx="1968500" cy="1187450"/>
          </a:xfrm>
          <a:prstGeom prst="roundRect">
            <a:avLst>
              <a:gd name="adj" fmla="val 10428"/>
            </a:avLst>
          </a:prstGeom>
          <a:solidFill>
            <a:srgbClr val="F7F8F8"/>
          </a:solidFill>
          <a:ln w="6350">
            <a:solidFill>
              <a:srgbClr val="D3DCDA"/>
            </a:solidFill>
            <a:prstDash val="solid"/>
          </a:ln>
        </p:spPr>
      </p:sp>
      <p:sp>
        <p:nvSpPr>
          <p:cNvPr id="36" name="Shape 30"/>
          <p:cNvSpPr/>
          <p:nvPr/>
        </p:nvSpPr>
        <p:spPr>
          <a:xfrm>
            <a:off x="5270500" y="1898650"/>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37" name="Image 4" descr="Clock">    </p:cNvPr>
          <p:cNvPicPr>
            <a:picLocks noChangeAspect="1"/>
          </p:cNvPicPr>
          <p:nvPr/>
        </p:nvPicPr>
        <p:blipFill>
          <a:blip r:embed="rId5"/>
          <a:srcRect l="0" r="0" t="0" b="0"/>
          <a:stretch/>
        </p:blipFill>
        <p:spPr>
          <a:xfrm>
            <a:off x="5359400" y="1987550"/>
            <a:ext cx="177800" cy="177800"/>
          </a:xfrm>
          <a:prstGeom prst="rect">
            <a:avLst/>
          </a:prstGeom>
        </p:spPr>
      </p:pic>
      <p:sp>
        <p:nvSpPr>
          <p:cNvPr id="38" name="Text 31"/>
          <p:cNvSpPr/>
          <p:nvPr/>
        </p:nvSpPr>
        <p:spPr>
          <a:xfrm>
            <a:off x="5270500" y="2343150"/>
            <a:ext cx="170815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B1C"/>
                </a:solidFill>
                <a:latin typeface="Hanken Grotesk" pitchFamily="34" charset="0"/>
                <a:ea typeface="Hanken Grotesk" pitchFamily="34" charset="-122"/>
                <a:cs typeface="Hanken Grotesk" pitchFamily="34" charset="-120"/>
              </a:rPr>
              <a:t>Estimates delivery date and cost</a:t>
            </a:r>
            <a:endParaRPr lang="en-US" sz="1400" dirty="0"/>
          </a:p>
        </p:txBody>
      </p:sp>
      <p:pic>
        <p:nvPicPr>
          <p:cNvPr id="39" name="Image 5" descr="connector">    </p:cNvPr>
          <p:cNvPicPr>
            <a:picLocks noChangeAspect="1"/>
          </p:cNvPicPr>
          <p:nvPr/>
        </p:nvPicPr>
        <p:blipFill>
          <a:blip r:embed="rId6"/>
          <a:srcRect l="0" r="0" t="0" b="0"/>
          <a:stretch/>
        </p:blipFill>
        <p:spPr>
          <a:xfrm>
            <a:off x="7131050" y="2298700"/>
            <a:ext cx="177800" cy="76200"/>
          </a:xfrm>
          <a:prstGeom prst="rect">
            <a:avLst/>
          </a:prstGeom>
        </p:spPr>
      </p:pic>
      <p:sp>
        <p:nvSpPr>
          <p:cNvPr id="40" name="Shape 32"/>
          <p:cNvSpPr/>
          <p:nvPr/>
        </p:nvSpPr>
        <p:spPr>
          <a:xfrm>
            <a:off x="7362825" y="1743075"/>
            <a:ext cx="1968500" cy="1187450"/>
          </a:xfrm>
          <a:prstGeom prst="roundRect">
            <a:avLst>
              <a:gd name="adj" fmla="val 10428"/>
            </a:avLst>
          </a:prstGeom>
          <a:solidFill>
            <a:srgbClr val="F7F8F8"/>
          </a:solidFill>
          <a:ln w="6350">
            <a:solidFill>
              <a:srgbClr val="D3DCDA"/>
            </a:solidFill>
            <a:prstDash val="solid"/>
          </a:ln>
        </p:spPr>
      </p:sp>
      <p:sp>
        <p:nvSpPr>
          <p:cNvPr id="41" name="Shape 33"/>
          <p:cNvSpPr/>
          <p:nvPr/>
        </p:nvSpPr>
        <p:spPr>
          <a:xfrm>
            <a:off x="7518400" y="1898650"/>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42" name="Image 6" descr="Lightbulb">    </p:cNvPr>
          <p:cNvPicPr>
            <a:picLocks noChangeAspect="1"/>
          </p:cNvPicPr>
          <p:nvPr/>
        </p:nvPicPr>
        <p:blipFill>
          <a:blip r:embed="rId7"/>
          <a:srcRect l="0" r="0" t="0" b="0"/>
          <a:stretch/>
        </p:blipFill>
        <p:spPr>
          <a:xfrm>
            <a:off x="7607300" y="1987550"/>
            <a:ext cx="177800" cy="177800"/>
          </a:xfrm>
          <a:prstGeom prst="rect">
            <a:avLst/>
          </a:prstGeom>
        </p:spPr>
      </p:pic>
      <p:sp>
        <p:nvSpPr>
          <p:cNvPr id="43" name="Text 34"/>
          <p:cNvSpPr/>
          <p:nvPr/>
        </p:nvSpPr>
        <p:spPr>
          <a:xfrm>
            <a:off x="7518400" y="2343150"/>
            <a:ext cx="170815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B1C"/>
                </a:solidFill>
                <a:latin typeface="Hanken Grotesk" pitchFamily="34" charset="0"/>
                <a:ea typeface="Hanken Grotesk" pitchFamily="34" charset="-122"/>
                <a:cs typeface="Hanken Grotesk" pitchFamily="34" charset="-120"/>
              </a:rPr>
              <a:t>Recommends one, with the reasoning</a:t>
            </a:r>
            <a:endParaRPr lang="en-US" sz="1400" dirty="0"/>
          </a:p>
        </p:txBody>
      </p:sp>
      <p:pic>
        <p:nvPicPr>
          <p:cNvPr id="44" name="Image 7" descr="connector">    </p:cNvPr>
          <p:cNvPicPr>
            <a:picLocks noChangeAspect="1"/>
          </p:cNvPicPr>
          <p:nvPr/>
        </p:nvPicPr>
        <p:blipFill>
          <a:blip r:embed="rId8"/>
          <a:srcRect l="0" r="0" t="0" b="0"/>
          <a:stretch/>
        </p:blipFill>
        <p:spPr>
          <a:xfrm>
            <a:off x="9385300" y="2298700"/>
            <a:ext cx="177800" cy="76200"/>
          </a:xfrm>
          <a:prstGeom prst="rect">
            <a:avLst/>
          </a:prstGeom>
        </p:spPr>
      </p:pic>
      <p:sp>
        <p:nvSpPr>
          <p:cNvPr id="45" name="Shape 35"/>
          <p:cNvSpPr/>
          <p:nvPr/>
        </p:nvSpPr>
        <p:spPr>
          <a:xfrm>
            <a:off x="9617075" y="1743075"/>
            <a:ext cx="1968500" cy="1187450"/>
          </a:xfrm>
          <a:prstGeom prst="roundRect">
            <a:avLst>
              <a:gd name="adj" fmla="val 10428"/>
            </a:avLst>
          </a:prstGeom>
          <a:solidFill>
            <a:srgbClr val="F3E7D3"/>
          </a:solidFill>
          <a:ln w="6350">
            <a:solidFill>
              <a:srgbClr val="E2CDA8"/>
            </a:solidFill>
            <a:prstDash val="solid"/>
          </a:ln>
        </p:spPr>
      </p:sp>
      <p:sp>
        <p:nvSpPr>
          <p:cNvPr id="46" name="Shape 36"/>
          <p:cNvSpPr/>
          <p:nvPr/>
        </p:nvSpPr>
        <p:spPr>
          <a:xfrm>
            <a:off x="9772650" y="1898650"/>
            <a:ext cx="355600" cy="355600"/>
          </a:xfrm>
          <a:prstGeom prst="roundRect">
            <a:avLst>
              <a:gd name="adj" fmla="val 50000"/>
            </a:avLst>
          </a:prstGeom>
          <a:solidFill>
            <a:srgbClr val="8F6118"/>
          </a:solidFill>
          <a:ln/>
        </p:spPr>
      </p:sp>
      <p:pic>
        <p:nvPicPr>
          <p:cNvPr id="47" name="Image 8" descr="Book">    </p:cNvPr>
          <p:cNvPicPr>
            <a:picLocks noChangeAspect="1"/>
          </p:cNvPicPr>
          <p:nvPr/>
        </p:nvPicPr>
        <p:blipFill>
          <a:blip r:embed="rId9"/>
          <a:srcRect l="0" r="0" t="0" b="0"/>
          <a:stretch/>
        </p:blipFill>
        <p:spPr>
          <a:xfrm>
            <a:off x="9861550" y="1987550"/>
            <a:ext cx="177800" cy="177800"/>
          </a:xfrm>
          <a:prstGeom prst="rect">
            <a:avLst/>
          </a:prstGeom>
        </p:spPr>
      </p:pic>
      <p:sp>
        <p:nvSpPr>
          <p:cNvPr id="48" name="Text 37"/>
          <p:cNvSpPr/>
          <p:nvPr/>
        </p:nvSpPr>
        <p:spPr>
          <a:xfrm>
            <a:off x="9772650" y="2343150"/>
            <a:ext cx="170815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1B1C"/>
                </a:solidFill>
                <a:latin typeface="Hanken Grotesk" pitchFamily="34" charset="0"/>
                <a:ea typeface="Hanken Grotesk" pitchFamily="34" charset="-122"/>
                <a:cs typeface="Hanken Grotesk" pitchFamily="34" charset="-120"/>
              </a:rPr>
              <a:t>Records it after a person confirms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850265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03 · ARCHITECTURE</a:t>
            </a:r>
            <a:endParaRPr lang="en-US" sz="1200" dirty="0"/>
          </a:p>
        </p:txBody>
      </p:sp>
      <p:sp>
        <p:nvSpPr>
          <p:cNvPr id="3" name="Text 1"/>
          <p:cNvSpPr/>
          <p:nvPr>
            <p:ph type="title"/>
          </p:nvPr>
        </p:nvSpPr>
        <p:spPr>
          <a:xfrm>
            <a:off x="609600" y="734020"/>
            <a:ext cx="8502650"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How a chat request becomes a confirmed decision</a:t>
            </a:r>
            <a:endParaRPr lang="en-US" sz="2300" dirty="0"/>
          </a:p>
        </p:txBody>
      </p:sp>
      <p:sp>
        <p:nvSpPr>
          <p:cNvPr id="4" name="Shape 2"/>
          <p:cNvSpPr/>
          <p:nvPr/>
        </p:nvSpPr>
        <p:spPr>
          <a:xfrm>
            <a:off x="6783586" y="474960"/>
            <a:ext cx="127000" cy="127000"/>
          </a:xfrm>
          <a:prstGeom prst="roundRect">
            <a:avLst>
              <a:gd name="adj" fmla="val 25000"/>
            </a:avLst>
          </a:prstGeom>
          <a:solidFill>
            <a:srgbClr val="E1E4EA"/>
          </a:solidFill>
          <a:ln w="12700">
            <a:solidFill>
              <a:srgbClr val="4E5A6B"/>
            </a:solidFill>
            <a:prstDash val="solid"/>
          </a:ln>
        </p:spPr>
      </p:sp>
      <p:sp>
        <p:nvSpPr>
          <p:cNvPr id="5" name="Text 3"/>
          <p:cNvSpPr/>
          <p:nvPr/>
        </p:nvSpPr>
        <p:spPr>
          <a:xfrm>
            <a:off x="6980436" y="431800"/>
            <a:ext cx="1246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LLM: reads only</a:t>
            </a:r>
            <a:endParaRPr lang="en-US" sz="1200" dirty="0"/>
          </a:p>
        </p:txBody>
      </p:sp>
      <p:sp>
        <p:nvSpPr>
          <p:cNvPr id="6" name="Shape 4"/>
          <p:cNvSpPr/>
          <p:nvPr/>
        </p:nvSpPr>
        <p:spPr>
          <a:xfrm>
            <a:off x="8233718" y="474960"/>
            <a:ext cx="127000" cy="127000"/>
          </a:xfrm>
          <a:prstGeom prst="roundRect">
            <a:avLst>
              <a:gd name="adj" fmla="val 25000"/>
            </a:avLst>
          </a:prstGeom>
          <a:solidFill>
            <a:srgbClr val="DCE6E4"/>
          </a:solidFill>
          <a:ln w="12700">
            <a:solidFill>
              <a:srgbClr val="49868D"/>
            </a:solidFill>
            <a:prstDash val="solid"/>
          </a:ln>
        </p:spPr>
      </p:sp>
      <p:sp>
        <p:nvSpPr>
          <p:cNvPr id="7" name="Text 5"/>
          <p:cNvSpPr/>
          <p:nvPr/>
        </p:nvSpPr>
        <p:spPr>
          <a:xfrm>
            <a:off x="8430568" y="431800"/>
            <a:ext cx="1806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Python: checks, decides</a:t>
            </a:r>
            <a:endParaRPr lang="en-US" sz="1200" dirty="0"/>
          </a:p>
        </p:txBody>
      </p:sp>
      <p:sp>
        <p:nvSpPr>
          <p:cNvPr id="8" name="Shape 6"/>
          <p:cNvSpPr/>
          <p:nvPr/>
        </p:nvSpPr>
        <p:spPr>
          <a:xfrm>
            <a:off x="10243145" y="474960"/>
            <a:ext cx="127000" cy="127000"/>
          </a:xfrm>
          <a:prstGeom prst="roundRect">
            <a:avLst>
              <a:gd name="adj" fmla="val 25000"/>
            </a:avLst>
          </a:prstGeom>
          <a:solidFill>
            <a:srgbClr val="F3E7D3"/>
          </a:solidFill>
          <a:ln w="12700">
            <a:solidFill>
              <a:srgbClr val="8F6118"/>
            </a:solidFill>
            <a:prstDash val="solid"/>
          </a:ln>
        </p:spPr>
      </p:sp>
      <p:sp>
        <p:nvSpPr>
          <p:cNvPr id="9" name="Text 7"/>
          <p:cNvSpPr/>
          <p:nvPr/>
        </p:nvSpPr>
        <p:spPr>
          <a:xfrm>
            <a:off x="10439995" y="431800"/>
            <a:ext cx="13708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Human: confirms</a:t>
            </a:r>
            <a:endParaRPr lang="en-US" sz="1200" dirty="0"/>
          </a:p>
        </p:txBody>
      </p:sp>
      <p:sp>
        <p:nvSpPr>
          <p:cNvPr id="10" name="Shape 8"/>
          <p:cNvSpPr/>
          <p:nvPr/>
        </p:nvSpPr>
        <p:spPr>
          <a:xfrm>
            <a:off x="3092450" y="1250950"/>
            <a:ext cx="5702300" cy="1147961"/>
          </a:xfrm>
          <a:prstGeom prst="roundRect">
            <a:avLst>
              <a:gd name="adj" fmla="val 9404"/>
            </a:avLst>
          </a:prstGeom>
          <a:solidFill>
            <a:srgbClr val="F7F8F8"/>
          </a:solidFill>
          <a:ln w="12700">
            <a:solidFill>
              <a:srgbClr val="9BBBB7"/>
            </a:solidFill>
            <a:prstDash val="dash"/>
          </a:ln>
        </p:spPr>
      </p:sp>
      <p:sp>
        <p:nvSpPr>
          <p:cNvPr id="11" name="Text 9"/>
          <p:cNvSpPr/>
          <p:nvPr/>
        </p:nvSpPr>
        <p:spPr>
          <a:xfrm>
            <a:off x="3238500" y="1371600"/>
            <a:ext cx="557250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268"/>
                </a:solidFill>
                <a:latin typeface="Hanken Grotesk" pitchFamily="34" charset="0"/>
                <a:ea typeface="Hanken Grotesk" pitchFamily="34" charset="-122"/>
                <a:cs typeface="Hanken Grotesk" pitchFamily="34" charset="-120"/>
              </a:rPr>
              <a:t>TOOLS · PLAIN PYTHON FUNCTIONS</a:t>
            </a:r>
            <a:endParaRPr lang="en-US" sz="1200" dirty="0"/>
          </a:p>
        </p:txBody>
      </p:sp>
      <p:sp>
        <p:nvSpPr>
          <p:cNvPr id="12" name="Text 10"/>
          <p:cNvSpPr/>
          <p:nvPr/>
        </p:nvSpPr>
        <p:spPr>
          <a:xfrm>
            <a:off x="3238500" y="1648420"/>
            <a:ext cx="1124198" cy="289520"/>
          </a:xfrm>
          <a:prstGeom prst="roundRect">
            <a:avLst>
              <a:gd name="adj" fmla="val 21933"/>
            </a:avLst>
          </a:pr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Order lookup</a:t>
            </a:r>
            <a:endParaRPr lang="en-US" sz="1200" dirty="0"/>
          </a:p>
        </p:txBody>
      </p:sp>
      <p:sp>
        <p:nvSpPr>
          <p:cNvPr id="13" name="Text 11"/>
          <p:cNvSpPr/>
          <p:nvPr/>
        </p:nvSpPr>
        <p:spPr>
          <a:xfrm>
            <a:off x="4413498" y="1648420"/>
            <a:ext cx="823565" cy="289520"/>
          </a:xfrm>
          <a:prstGeom prst="roundRect">
            <a:avLst>
              <a:gd name="adj" fmla="val 21933"/>
            </a:avLst>
          </a:pr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Eligibility</a:t>
            </a:r>
            <a:endParaRPr lang="en-US" sz="1200" dirty="0"/>
          </a:p>
        </p:txBody>
      </p:sp>
      <p:sp>
        <p:nvSpPr>
          <p:cNvPr id="14" name="Text 12"/>
          <p:cNvSpPr/>
          <p:nvPr/>
        </p:nvSpPr>
        <p:spPr>
          <a:xfrm>
            <a:off x="5287863" y="1648420"/>
            <a:ext cx="1098748" cy="289520"/>
          </a:xfrm>
          <a:prstGeom prst="roundRect">
            <a:avLst>
              <a:gd name="adj" fmla="val 21933"/>
            </a:avLst>
          </a:pr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ETA estimate</a:t>
            </a:r>
            <a:endParaRPr lang="en-US" sz="1200" dirty="0"/>
          </a:p>
        </p:txBody>
      </p:sp>
      <p:sp>
        <p:nvSpPr>
          <p:cNvPr id="15" name="Text 13"/>
          <p:cNvSpPr/>
          <p:nvPr/>
        </p:nvSpPr>
        <p:spPr>
          <a:xfrm>
            <a:off x="6437412" y="1648420"/>
            <a:ext cx="1156692" cy="289520"/>
          </a:xfrm>
          <a:prstGeom prst="roundRect">
            <a:avLst>
              <a:gd name="adj" fmla="val 21933"/>
            </a:avLst>
          </a:pr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Cost estimate</a:t>
            </a:r>
            <a:endParaRPr lang="en-US" sz="1200" dirty="0"/>
          </a:p>
        </p:txBody>
      </p:sp>
      <p:sp>
        <p:nvSpPr>
          <p:cNvPr id="16" name="Text 14"/>
          <p:cNvSpPr/>
          <p:nvPr/>
        </p:nvSpPr>
        <p:spPr>
          <a:xfrm>
            <a:off x="3238500" y="1988741"/>
            <a:ext cx="1107232" cy="289520"/>
          </a:xfrm>
          <a:prstGeom prst="roundRect">
            <a:avLst>
              <a:gd name="adj" fmla="val 21933"/>
            </a:avLst>
          </a:pr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Queue check</a:t>
            </a:r>
            <a:endParaRPr lang="en-US" sz="1200" dirty="0"/>
          </a:p>
        </p:txBody>
      </p:sp>
      <p:sp>
        <p:nvSpPr>
          <p:cNvPr id="17" name="Text 15"/>
          <p:cNvSpPr/>
          <p:nvPr/>
        </p:nvSpPr>
        <p:spPr>
          <a:xfrm>
            <a:off x="4396532" y="1988741"/>
            <a:ext cx="1284734" cy="289520"/>
          </a:xfrm>
          <a:prstGeom prst="roundRect">
            <a:avLst>
              <a:gd name="adj" fmla="val 21933"/>
            </a:avLst>
          </a:pr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Overload probe</a:t>
            </a:r>
            <a:endParaRPr lang="en-US" sz="1200" dirty="0"/>
          </a:p>
        </p:txBody>
      </p:sp>
      <p:sp>
        <p:nvSpPr>
          <p:cNvPr id="18" name="Text 16"/>
          <p:cNvSpPr/>
          <p:nvPr/>
        </p:nvSpPr>
        <p:spPr>
          <a:xfrm>
            <a:off x="5732066" y="1988741"/>
            <a:ext cx="1142901" cy="289520"/>
          </a:xfrm>
          <a:prstGeom prst="roundRect">
            <a:avLst>
              <a:gd name="adj" fmla="val 21933"/>
            </a:avLst>
          </a:pr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Split estimate</a:t>
            </a:r>
            <a:endParaRPr lang="en-US" sz="1200" dirty="0"/>
          </a:p>
        </p:txBody>
      </p:sp>
      <p:sp>
        <p:nvSpPr>
          <p:cNvPr id="19" name="Text 17"/>
          <p:cNvSpPr/>
          <p:nvPr/>
        </p:nvSpPr>
        <p:spPr>
          <a:xfrm>
            <a:off x="6925766" y="1988741"/>
            <a:ext cx="840631" cy="289520"/>
          </a:xfrm>
          <a:prstGeom prst="roundRect">
            <a:avLst>
              <a:gd name="adj" fmla="val 21933"/>
            </a:avLst>
          </a:prstGeom>
          <a:solidFill>
            <a:srgbClr val="DCE6E4"/>
          </a:solidFill>
          <a:ln/>
        </p:spPr>
        <p:txBody>
          <a:bodyPr wrap="none" lIns="0" tIns="0" rIns="0" bIns="0" rtlCol="0" anchor="ctr">
            <a:normAutofit/>
          </a:bodyPr>
          <a:lstStyle/>
          <a:p>
            <a:pPr algn="ct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Allocator</a:t>
            </a:r>
            <a:endParaRPr lang="en-US" sz="1200" dirty="0"/>
          </a:p>
        </p:txBody>
      </p:sp>
      <p:sp>
        <p:nvSpPr>
          <p:cNvPr id="20" name="Shape 18"/>
          <p:cNvSpPr/>
          <p:nvPr/>
        </p:nvSpPr>
        <p:spPr>
          <a:xfrm>
            <a:off x="615950" y="2863850"/>
            <a:ext cx="1320800" cy="1828800"/>
          </a:xfrm>
          <a:prstGeom prst="roundRect">
            <a:avLst>
              <a:gd name="adj" fmla="val 8173"/>
            </a:avLst>
          </a:prstGeom>
          <a:solidFill>
            <a:srgbClr val="F7F8F8"/>
          </a:solidFill>
          <a:ln w="12700">
            <a:solidFill>
              <a:srgbClr val="D3DCDA"/>
            </a:solidFill>
            <a:prstDash val="solid"/>
          </a:ln>
        </p:spPr>
      </p:sp>
      <p:sp>
        <p:nvSpPr>
          <p:cNvPr id="21" name="Text 19"/>
          <p:cNvSpPr/>
          <p:nvPr/>
        </p:nvSpPr>
        <p:spPr>
          <a:xfrm>
            <a:off x="749300" y="2997200"/>
            <a:ext cx="110490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Chat request</a:t>
            </a:r>
            <a:endParaRPr lang="en-US" sz="1300" dirty="0"/>
          </a:p>
        </p:txBody>
      </p:sp>
      <p:sp>
        <p:nvSpPr>
          <p:cNvPr id="22" name="Text 20"/>
          <p:cNvSpPr/>
          <p:nvPr/>
        </p:nvSpPr>
        <p:spPr>
          <a:xfrm>
            <a:off x="749300" y="3246090"/>
            <a:ext cx="1104900"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6B"/>
                </a:solidFill>
                <a:latin typeface="Hanken Grotesk" pitchFamily="34" charset="0"/>
                <a:ea typeface="Hanken Grotesk" pitchFamily="34" charset="-122"/>
                <a:cs typeface="Hanken Grotesk" pitchFamily="34" charset="-120"/>
              </a:rPr>
              <a:t>Group-chat message, typed into the Streamlit app</a:t>
            </a:r>
            <a:endParaRPr lang="en-US" sz="1200" dirty="0"/>
          </a:p>
        </p:txBody>
      </p:sp>
      <p:sp>
        <p:nvSpPr>
          <p:cNvPr id="23" name="Shape 21"/>
          <p:cNvSpPr/>
          <p:nvPr/>
        </p:nvSpPr>
        <p:spPr>
          <a:xfrm>
            <a:off x="2330450" y="2863850"/>
            <a:ext cx="1828800" cy="1828800"/>
          </a:xfrm>
          <a:prstGeom prst="roundRect">
            <a:avLst>
              <a:gd name="adj" fmla="val 5903"/>
            </a:avLst>
          </a:prstGeom>
          <a:solidFill>
            <a:srgbClr val="E1E4EA"/>
          </a:solidFill>
          <a:ln w="12700">
            <a:solidFill>
              <a:srgbClr val="4E5A6B"/>
            </a:solidFill>
            <a:prstDash val="solid"/>
          </a:ln>
        </p:spPr>
      </p:sp>
      <p:sp>
        <p:nvSpPr>
          <p:cNvPr id="24" name="Text 22"/>
          <p:cNvSpPr/>
          <p:nvPr/>
        </p:nvSpPr>
        <p:spPr>
          <a:xfrm>
            <a:off x="2463800" y="2997200"/>
            <a:ext cx="161290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LLM intake</a:t>
            </a:r>
            <a:endParaRPr lang="en-US" sz="1300" dirty="0"/>
          </a:p>
        </p:txBody>
      </p:sp>
      <p:sp>
        <p:nvSpPr>
          <p:cNvPr id="25" name="Text 23"/>
          <p:cNvSpPr/>
          <p:nvPr/>
        </p:nvSpPr>
        <p:spPr>
          <a:xfrm>
            <a:off x="2463800" y="3246090"/>
            <a:ext cx="1612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E5A6B"/>
                </a:solidFill>
                <a:latin typeface="Hanken Grotesk" pitchFamily="34" charset="0"/>
                <a:ea typeface="Hanken Grotesk" pitchFamily="34" charset="-122"/>
                <a:cs typeface="Hanken Grotesk" pitchFamily="34" charset="-120"/>
              </a:rPr>
              <a:t>Claude Sonnet 5.5</a:t>
            </a:r>
            <a:endParaRPr lang="en-US" sz="1200" dirty="0"/>
          </a:p>
        </p:txBody>
      </p:sp>
      <p:sp>
        <p:nvSpPr>
          <p:cNvPr id="26" name="Text 24"/>
          <p:cNvSpPr/>
          <p:nvPr/>
        </p:nvSpPr>
        <p:spPr>
          <a:xfrm>
            <a:off x="2463800" y="3510211"/>
            <a:ext cx="16129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B1C"/>
                </a:solidFill>
                <a:latin typeface="Hanken Grotesk" pitchFamily="34" charset="0"/>
                <a:ea typeface="Hanken Grotesk" pitchFamily="34" charset="-122"/>
                <a:cs typeface="Hanken Grotesk" pitchFamily="34" charset="-120"/>
              </a:rPr>
              <a:t>Pulls out order, qty, deadline, preferences</a:t>
            </a:r>
            <a:endParaRPr lang="en-US" sz="1200" dirty="0"/>
          </a:p>
        </p:txBody>
      </p:sp>
      <p:sp>
        <p:nvSpPr>
          <p:cNvPr id="27" name="Text 25"/>
          <p:cNvSpPr/>
          <p:nvPr/>
        </p:nvSpPr>
        <p:spPr>
          <a:xfrm>
            <a:off x="2463800" y="3957191"/>
            <a:ext cx="16129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4E5A6B"/>
                </a:solidFill>
                <a:latin typeface="Hanken Grotesk" pitchFamily="34" charset="0"/>
                <a:ea typeface="Hanken Grotesk" pitchFamily="34" charset="-122"/>
                <a:cs typeface="Hanken Grotesk" pitchFamily="34" charset="-120"/>
              </a:rPr>
              <a:t>No maths, no decisions</a:t>
            </a:r>
            <a:endParaRPr lang="en-US" sz="1200" dirty="0"/>
          </a:p>
        </p:txBody>
      </p:sp>
      <p:sp>
        <p:nvSpPr>
          <p:cNvPr id="28" name="Shape 26"/>
          <p:cNvSpPr/>
          <p:nvPr/>
        </p:nvSpPr>
        <p:spPr>
          <a:xfrm>
            <a:off x="4552950" y="2673350"/>
            <a:ext cx="2781300" cy="2247900"/>
          </a:xfrm>
          <a:prstGeom prst="roundRect">
            <a:avLst>
              <a:gd name="adj" fmla="val 4802"/>
            </a:avLst>
          </a:prstGeom>
          <a:solidFill>
            <a:srgbClr val="DCE6E4"/>
          </a:solidFill>
          <a:ln w="12700">
            <a:solidFill>
              <a:srgbClr val="49868D"/>
            </a:solidFill>
            <a:prstDash val="solid"/>
          </a:ln>
        </p:spPr>
      </p:sp>
      <p:sp>
        <p:nvSpPr>
          <p:cNvPr id="29" name="Text 27"/>
          <p:cNvSpPr/>
          <p:nvPr/>
        </p:nvSpPr>
        <p:spPr>
          <a:xfrm>
            <a:off x="4699000" y="2806700"/>
            <a:ext cx="2563876" cy="225772"/>
          </a:xfrm>
          <a:prstGeom prst="rect">
            <a:avLst/>
          </a:prstGeom>
          <a:noFill/>
          <a:ln/>
        </p:spPr>
        <p:txBody>
          <a:bodyPr wrap="square" lIns="0" tIns="0" rIns="0" bIns="0" rtlCol="0" anchor="t">
            <a:normAutofit/>
          </a:bodyPr>
          <a:lstStyle/>
          <a:p>
            <a:pPr algn="l" indent="0" marL="0">
              <a:lnSpc>
                <a:spcPts val="1622"/>
              </a:lnSpc>
              <a:buNone/>
            </a:pPr>
            <a:r>
              <a:rPr lang="en-US" sz="1352" b="1" dirty="0">
                <a:solidFill>
                  <a:srgbClr val="161B1C"/>
                </a:solidFill>
                <a:latin typeface="Hanken Grotesk" pitchFamily="34" charset="0"/>
                <a:ea typeface="Hanken Grotesk" pitchFamily="34" charset="-122"/>
                <a:cs typeface="Hanken Grotesk" pitchFamily="34" charset="-120"/>
              </a:rPr>
              <a:t>Dispatcher · Python</a:t>
            </a:r>
            <a:endParaRPr lang="en-US" sz="1352" dirty="0"/>
          </a:p>
        </p:txBody>
      </p:sp>
      <p:sp>
        <p:nvSpPr>
          <p:cNvPr id="30" name="Text 28"/>
          <p:cNvSpPr/>
          <p:nvPr/>
        </p:nvSpPr>
        <p:spPr>
          <a:xfrm>
            <a:off x="4699000" y="3070572"/>
            <a:ext cx="2563876" cy="224532"/>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61B1C"/>
                </a:solidFill>
                <a:latin typeface="Hanken Grotesk" pitchFamily="34" charset="0"/>
                <a:ea typeface="Hanken Grotesk" pitchFamily="34" charset="-122"/>
                <a:cs typeface="Hanken Grotesk" pitchFamily="34" charset="-120"/>
              </a:rPr>
              <a:t>1</a:t>
            </a:r>
            <a:r>
              <a:rPr lang="en-US" sz="1121" dirty="0">
                <a:solidFill>
                  <a:srgbClr val="161B1C"/>
                </a:solidFill>
                <a:latin typeface="Hanken Grotesk" pitchFamily="34" charset="0"/>
                <a:ea typeface="Hanken Grotesk" pitchFamily="34" charset="-122"/>
                <a:cs typeface="Hanken Grotesk" pitchFamily="34" charset="-120"/>
              </a:rPr>
              <a:t> Validate against orders.csv</a:t>
            </a:r>
            <a:endParaRPr lang="en-US" sz="1121" dirty="0"/>
          </a:p>
        </p:txBody>
      </p:sp>
      <p:sp>
        <p:nvSpPr>
          <p:cNvPr id="31" name="Text 29"/>
          <p:cNvSpPr/>
          <p:nvPr/>
        </p:nvSpPr>
        <p:spPr>
          <a:xfrm>
            <a:off x="4699000" y="3295104"/>
            <a:ext cx="2563876" cy="224532"/>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61B1C"/>
                </a:solidFill>
                <a:latin typeface="Hanken Grotesk" pitchFamily="34" charset="0"/>
                <a:ea typeface="Hanken Grotesk" pitchFamily="34" charset="-122"/>
                <a:cs typeface="Hanken Grotesk" pitchFamily="34" charset="-120"/>
              </a:rPr>
              <a:t>2</a:t>
            </a:r>
            <a:r>
              <a:rPr lang="en-US" sz="1121" dirty="0">
                <a:solidFill>
                  <a:srgbClr val="161B1C"/>
                </a:solidFill>
                <a:latin typeface="Hanken Grotesk" pitchFamily="34" charset="0"/>
                <a:ea typeface="Hanken Grotesk" pitchFamily="34" charset="-122"/>
                <a:cs typeface="Hanken Grotesk" pitchFamily="34" charset="-120"/>
              </a:rPr>
              <a:t> Set the request type</a:t>
            </a:r>
            <a:endParaRPr lang="en-US" sz="1121" dirty="0"/>
          </a:p>
        </p:txBody>
      </p:sp>
      <p:sp>
        <p:nvSpPr>
          <p:cNvPr id="32" name="Text 30"/>
          <p:cNvSpPr/>
          <p:nvPr/>
        </p:nvSpPr>
        <p:spPr>
          <a:xfrm>
            <a:off x="4699000" y="3519636"/>
            <a:ext cx="2563876" cy="224532"/>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61B1C"/>
                </a:solidFill>
                <a:latin typeface="Hanken Grotesk" pitchFamily="34" charset="0"/>
                <a:ea typeface="Hanken Grotesk" pitchFamily="34" charset="-122"/>
                <a:cs typeface="Hanken Grotesk" pitchFamily="34" charset="-120"/>
              </a:rPr>
              <a:t>3</a:t>
            </a:r>
            <a:r>
              <a:rPr lang="en-US" sz="1121" dirty="0">
                <a:solidFill>
                  <a:srgbClr val="161B1C"/>
                </a:solidFill>
                <a:latin typeface="Hanken Grotesk" pitchFamily="34" charset="0"/>
                <a:ea typeface="Hanken Grotesk" pitchFamily="34" charset="-122"/>
                <a:cs typeface="Hanken Grotesk" pitchFamily="34" charset="-120"/>
              </a:rPr>
              <a:t> Build options, score, pick</a:t>
            </a:r>
            <a:endParaRPr lang="en-US" sz="1121" dirty="0"/>
          </a:p>
        </p:txBody>
      </p:sp>
      <p:sp>
        <p:nvSpPr>
          <p:cNvPr id="33" name="Text 31"/>
          <p:cNvSpPr/>
          <p:nvPr/>
        </p:nvSpPr>
        <p:spPr>
          <a:xfrm>
            <a:off x="4699000" y="3744168"/>
            <a:ext cx="2563876" cy="224532"/>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61B1C"/>
                </a:solidFill>
                <a:latin typeface="Hanken Grotesk" pitchFamily="34" charset="0"/>
                <a:ea typeface="Hanken Grotesk" pitchFamily="34" charset="-122"/>
                <a:cs typeface="Hanken Grotesk" pitchFamily="34" charset="-120"/>
              </a:rPr>
              <a:t>4</a:t>
            </a:r>
            <a:r>
              <a:rPr lang="en-US" sz="1121" dirty="0">
                <a:solidFill>
                  <a:srgbClr val="161B1C"/>
                </a:solidFill>
                <a:latin typeface="Hanken Grotesk" pitchFamily="34" charset="0"/>
                <a:ea typeface="Hanken Grotesk" pitchFamily="34" charset="-122"/>
                <a:cs typeface="Hanken Grotesk" pitchFamily="34" charset="-120"/>
              </a:rPr>
              <a:t> Explain using a template</a:t>
            </a:r>
            <a:endParaRPr lang="en-US" sz="1121" dirty="0"/>
          </a:p>
        </p:txBody>
      </p:sp>
      <p:sp>
        <p:nvSpPr>
          <p:cNvPr id="34" name="Text 32"/>
          <p:cNvSpPr/>
          <p:nvPr/>
        </p:nvSpPr>
        <p:spPr>
          <a:xfrm>
            <a:off x="4699000" y="3968700"/>
            <a:ext cx="2563876" cy="224532"/>
          </a:xfrm>
          <a:prstGeom prst="rect">
            <a:avLst/>
          </a:prstGeom>
          <a:noFill/>
          <a:ln/>
        </p:spPr>
        <p:txBody>
          <a:bodyPr wrap="square" lIns="0" tIns="0" rIns="0" bIns="0" rtlCol="0" anchor="t">
            <a:normAutofit/>
          </a:bodyPr>
          <a:lstStyle/>
          <a:p>
            <a:pPr algn="l" indent="0" marL="0">
              <a:lnSpc>
                <a:spcPts val="1570"/>
              </a:lnSpc>
              <a:buNone/>
            </a:pPr>
            <a:r>
              <a:rPr lang="en-US" sz="1121" b="1" dirty="0">
                <a:solidFill>
                  <a:srgbClr val="161B1C"/>
                </a:solidFill>
                <a:latin typeface="Hanken Grotesk" pitchFamily="34" charset="0"/>
                <a:ea typeface="Hanken Grotesk" pitchFamily="34" charset="-122"/>
                <a:cs typeface="Hanken Grotesk" pitchFamily="34" charset="-120"/>
              </a:rPr>
              <a:t>5</a:t>
            </a:r>
            <a:r>
              <a:rPr lang="en-US" sz="1121" dirty="0">
                <a:solidFill>
                  <a:srgbClr val="161B1C"/>
                </a:solidFill>
                <a:latin typeface="Hanken Grotesk" pitchFamily="34" charset="0"/>
                <a:ea typeface="Hanken Grotesk" pitchFamily="34" charset="-122"/>
                <a:cs typeface="Hanken Grotesk" pitchFamily="34" charset="-120"/>
              </a:rPr>
              <a:t> Check every number vs tools</a:t>
            </a:r>
            <a:endParaRPr lang="en-US" sz="1121" dirty="0"/>
          </a:p>
        </p:txBody>
      </p:sp>
      <p:sp>
        <p:nvSpPr>
          <p:cNvPr id="35" name="Shape 33"/>
          <p:cNvSpPr/>
          <p:nvPr/>
        </p:nvSpPr>
        <p:spPr>
          <a:xfrm>
            <a:off x="4699000" y="4244032"/>
            <a:ext cx="1219200" cy="246509"/>
          </a:xfrm>
          <a:prstGeom prst="roundRect">
            <a:avLst>
              <a:gd name="adj" fmla="val 25760"/>
            </a:avLst>
          </a:prstGeom>
          <a:solidFill>
            <a:srgbClr val="2F6268"/>
          </a:solidFill>
          <a:ln/>
        </p:spPr>
      </p:sp>
      <p:sp>
        <p:nvSpPr>
          <p:cNvPr id="36" name="Text 34"/>
          <p:cNvSpPr/>
          <p:nvPr/>
        </p:nvSpPr>
        <p:spPr>
          <a:xfrm>
            <a:off x="4762500" y="4269432"/>
            <a:ext cx="1092200" cy="221109"/>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5F5F5"/>
                </a:solidFill>
                <a:latin typeface="Hanken Grotesk" pitchFamily="34" charset="0"/>
                <a:ea typeface="Hanken Grotesk" pitchFamily="34" charset="-122"/>
                <a:cs typeface="Hanken Grotesk" pitchFamily="34" charset="-120"/>
              </a:rPr>
              <a:t>Allocate</a:t>
            </a:r>
            <a:endParaRPr lang="en-US" sz="1200" dirty="0"/>
          </a:p>
        </p:txBody>
      </p:sp>
      <p:sp>
        <p:nvSpPr>
          <p:cNvPr id="37" name="Shape 35"/>
          <p:cNvSpPr/>
          <p:nvPr/>
        </p:nvSpPr>
        <p:spPr>
          <a:xfrm>
            <a:off x="5969000" y="4244032"/>
            <a:ext cx="1219200" cy="246509"/>
          </a:xfrm>
          <a:prstGeom prst="roundRect">
            <a:avLst>
              <a:gd name="adj" fmla="val 25760"/>
            </a:avLst>
          </a:prstGeom>
          <a:solidFill>
            <a:srgbClr val="8F6118"/>
          </a:solidFill>
          <a:ln/>
        </p:spPr>
      </p:sp>
      <p:sp>
        <p:nvSpPr>
          <p:cNvPr id="38" name="Text 36"/>
          <p:cNvSpPr/>
          <p:nvPr/>
        </p:nvSpPr>
        <p:spPr>
          <a:xfrm>
            <a:off x="6032500" y="4269432"/>
            <a:ext cx="1092200" cy="221109"/>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5F5F5"/>
                </a:solidFill>
                <a:latin typeface="Hanken Grotesk" pitchFamily="34" charset="0"/>
                <a:ea typeface="Hanken Grotesk" pitchFamily="34" charset="-122"/>
                <a:cs typeface="Hanken Grotesk" pitchFamily="34" charset="-120"/>
              </a:rPr>
              <a:t>Clarify</a:t>
            </a:r>
            <a:endParaRPr lang="en-US" sz="1200" dirty="0"/>
          </a:p>
        </p:txBody>
      </p:sp>
      <p:sp>
        <p:nvSpPr>
          <p:cNvPr id="39" name="Shape 37"/>
          <p:cNvSpPr/>
          <p:nvPr/>
        </p:nvSpPr>
        <p:spPr>
          <a:xfrm>
            <a:off x="4699000" y="4541341"/>
            <a:ext cx="1219200" cy="246559"/>
          </a:xfrm>
          <a:prstGeom prst="roundRect">
            <a:avLst>
              <a:gd name="adj" fmla="val 25754"/>
            </a:avLst>
          </a:prstGeom>
          <a:solidFill>
            <a:srgbClr val="A3443F"/>
          </a:solidFill>
          <a:ln/>
        </p:spPr>
      </p:sp>
      <p:sp>
        <p:nvSpPr>
          <p:cNvPr id="40" name="Text 38"/>
          <p:cNvSpPr/>
          <p:nvPr/>
        </p:nvSpPr>
        <p:spPr>
          <a:xfrm>
            <a:off x="4762500" y="4566741"/>
            <a:ext cx="1092200" cy="221159"/>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5F5F5"/>
                </a:solidFill>
                <a:latin typeface="Hanken Grotesk" pitchFamily="34" charset="0"/>
                <a:ea typeface="Hanken Grotesk" pitchFamily="34" charset="-122"/>
                <a:cs typeface="Hanken Grotesk" pitchFamily="34" charset="-120"/>
              </a:rPr>
              <a:t>Refuse</a:t>
            </a:r>
            <a:endParaRPr lang="en-US" sz="1200" dirty="0"/>
          </a:p>
        </p:txBody>
      </p:sp>
      <p:sp>
        <p:nvSpPr>
          <p:cNvPr id="41" name="Shape 39"/>
          <p:cNvSpPr/>
          <p:nvPr/>
        </p:nvSpPr>
        <p:spPr>
          <a:xfrm>
            <a:off x="5969000" y="4541341"/>
            <a:ext cx="1219200" cy="246559"/>
          </a:xfrm>
          <a:prstGeom prst="roundRect">
            <a:avLst>
              <a:gd name="adj" fmla="val 25754"/>
            </a:avLst>
          </a:prstGeom>
          <a:solidFill>
            <a:srgbClr val="4E5A6B"/>
          </a:solidFill>
          <a:ln/>
        </p:spPr>
      </p:sp>
      <p:sp>
        <p:nvSpPr>
          <p:cNvPr id="42" name="Text 40"/>
          <p:cNvSpPr/>
          <p:nvPr/>
        </p:nvSpPr>
        <p:spPr>
          <a:xfrm>
            <a:off x="6032500" y="4566741"/>
            <a:ext cx="1092200" cy="221159"/>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5F5F5"/>
                </a:solidFill>
                <a:latin typeface="Hanken Grotesk" pitchFamily="34" charset="0"/>
                <a:ea typeface="Hanken Grotesk" pitchFamily="34" charset="-122"/>
                <a:cs typeface="Hanken Grotesk" pitchFamily="34" charset="-120"/>
              </a:rPr>
              <a:t>Decline</a:t>
            </a:r>
            <a:endParaRPr lang="en-US" sz="1200" dirty="0"/>
          </a:p>
        </p:txBody>
      </p:sp>
      <p:sp>
        <p:nvSpPr>
          <p:cNvPr id="43" name="Shape 41"/>
          <p:cNvSpPr/>
          <p:nvPr/>
        </p:nvSpPr>
        <p:spPr>
          <a:xfrm>
            <a:off x="7727950" y="2863850"/>
            <a:ext cx="1892300" cy="1828800"/>
          </a:xfrm>
          <a:prstGeom prst="roundRect">
            <a:avLst>
              <a:gd name="adj" fmla="val 5903"/>
            </a:avLst>
          </a:prstGeom>
          <a:solidFill>
            <a:srgbClr val="F3E7D3"/>
          </a:solidFill>
          <a:ln w="12700">
            <a:solidFill>
              <a:srgbClr val="8F6118"/>
            </a:solidFill>
            <a:prstDash val="solid"/>
          </a:ln>
        </p:spPr>
      </p:sp>
      <p:sp>
        <p:nvSpPr>
          <p:cNvPr id="44" name="Text 42"/>
          <p:cNvSpPr/>
          <p:nvPr/>
        </p:nvSpPr>
        <p:spPr>
          <a:xfrm>
            <a:off x="7861300" y="2997200"/>
            <a:ext cx="167640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Human review</a:t>
            </a:r>
            <a:endParaRPr lang="en-US" sz="1300" dirty="0"/>
          </a:p>
        </p:txBody>
      </p:sp>
      <p:sp>
        <p:nvSpPr>
          <p:cNvPr id="45" name="Text 43"/>
          <p:cNvSpPr/>
          <p:nvPr/>
        </p:nvSpPr>
        <p:spPr>
          <a:xfrm>
            <a:off x="7861300" y="3246090"/>
            <a:ext cx="16764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B1C"/>
                </a:solidFill>
                <a:latin typeface="Hanken Grotesk" pitchFamily="34" charset="0"/>
                <a:ea typeface="Hanken Grotesk" pitchFamily="34" charset="-122"/>
                <a:cs typeface="Hanken Grotesk" pitchFamily="34" charset="-120"/>
              </a:rPr>
              <a:t>Sees every option, warning and reason</a:t>
            </a:r>
            <a:endParaRPr lang="en-US" sz="1200" dirty="0"/>
          </a:p>
        </p:txBody>
      </p:sp>
      <p:sp>
        <p:nvSpPr>
          <p:cNvPr id="46" name="Text 44"/>
          <p:cNvSpPr/>
          <p:nvPr/>
        </p:nvSpPr>
        <p:spPr>
          <a:xfrm>
            <a:off x="7861300" y="3693071"/>
            <a:ext cx="1676400"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8A5A14"/>
                </a:solidFill>
                <a:latin typeface="Hanken Grotesk" pitchFamily="34" charset="0"/>
                <a:ea typeface="Hanken Grotesk" pitchFamily="34" charset="-122"/>
                <a:cs typeface="Hanken Grotesk" pitchFamily="34" charset="-120"/>
              </a:rPr>
              <a:t>Confirms. Never auto-dispatches.</a:t>
            </a:r>
            <a:endParaRPr lang="en-US" sz="1200" dirty="0"/>
          </a:p>
        </p:txBody>
      </p:sp>
      <p:sp>
        <p:nvSpPr>
          <p:cNvPr id="47" name="Shape 45"/>
          <p:cNvSpPr/>
          <p:nvPr/>
        </p:nvSpPr>
        <p:spPr>
          <a:xfrm>
            <a:off x="10013950" y="2863850"/>
            <a:ext cx="1562100" cy="1828800"/>
          </a:xfrm>
          <a:prstGeom prst="roundRect">
            <a:avLst>
              <a:gd name="adj" fmla="val 6911"/>
            </a:avLst>
          </a:prstGeom>
          <a:solidFill>
            <a:srgbClr val="F7F8F8"/>
          </a:solidFill>
          <a:ln w="12700">
            <a:solidFill>
              <a:srgbClr val="D3DCDA"/>
            </a:solidFill>
            <a:prstDash val="solid"/>
          </a:ln>
        </p:spPr>
      </p:sp>
      <p:sp>
        <p:nvSpPr>
          <p:cNvPr id="48" name="Text 46"/>
          <p:cNvSpPr/>
          <p:nvPr/>
        </p:nvSpPr>
        <p:spPr>
          <a:xfrm>
            <a:off x="10147300" y="2997200"/>
            <a:ext cx="134620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Decision log</a:t>
            </a:r>
            <a:endParaRPr lang="en-US" sz="1300" dirty="0"/>
          </a:p>
        </p:txBody>
      </p:sp>
      <p:sp>
        <p:nvSpPr>
          <p:cNvPr id="49" name="Text 47"/>
          <p:cNvSpPr/>
          <p:nvPr/>
        </p:nvSpPr>
        <p:spPr>
          <a:xfrm>
            <a:off x="10147300" y="3246090"/>
            <a:ext cx="13462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61B1C"/>
                </a:solidFill>
                <a:latin typeface="Hanken Grotesk" pitchFamily="34" charset="0"/>
                <a:ea typeface="Hanken Grotesk" pitchFamily="34" charset="-122"/>
                <a:cs typeface="Hanken Grotesk" pitchFamily="34" charset="-120"/>
              </a:rPr>
              <a:t>JSONL, saved only on Confirm</a:t>
            </a:r>
            <a:endParaRPr lang="en-US" sz="1200" dirty="0"/>
          </a:p>
        </p:txBody>
      </p:sp>
      <p:sp>
        <p:nvSpPr>
          <p:cNvPr id="50" name="Text 48"/>
          <p:cNvSpPr/>
          <p:nvPr/>
        </p:nvSpPr>
        <p:spPr>
          <a:xfrm>
            <a:off x="10147300" y="3693071"/>
            <a:ext cx="134620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6B"/>
                </a:solidFill>
                <a:latin typeface="Hanken Grotesk" pitchFamily="34" charset="0"/>
                <a:ea typeface="Hanken Grotesk" pitchFamily="34" charset="-122"/>
                <a:cs typeface="Hanken Grotesk" pitchFamily="34" charset="-120"/>
              </a:rPr>
              <a:t>Who asked, options, why it won, when</a:t>
            </a:r>
            <a:endParaRPr lang="en-US" sz="1200" dirty="0"/>
          </a:p>
        </p:txBody>
      </p:sp>
      <p:sp>
        <p:nvSpPr>
          <p:cNvPr id="51" name="Shape 49"/>
          <p:cNvSpPr/>
          <p:nvPr/>
        </p:nvSpPr>
        <p:spPr>
          <a:xfrm>
            <a:off x="4552950" y="5276850"/>
            <a:ext cx="2781300" cy="561280"/>
          </a:xfrm>
          <a:prstGeom prst="roundRect">
            <a:avLst>
              <a:gd name="adj" fmla="val 19233"/>
            </a:avLst>
          </a:prstGeom>
          <a:solidFill>
            <a:srgbClr val="F7F8F8"/>
          </a:solidFill>
          <a:ln w="12700">
            <a:solidFill>
              <a:srgbClr val="D3DCDA"/>
            </a:solidFill>
            <a:prstDash val="solid"/>
          </a:ln>
        </p:spPr>
      </p:sp>
      <p:pic>
        <p:nvPicPr>
          <p:cNvPr id="52" name="Image 0" descr="Database">    </p:cNvPr>
          <p:cNvPicPr>
            <a:picLocks noChangeAspect="1"/>
          </p:cNvPicPr>
          <p:nvPr/>
        </p:nvPicPr>
        <p:blipFill>
          <a:blip r:embed="rId1"/>
          <a:srcRect l="0" r="0" t="0" b="0"/>
          <a:stretch/>
        </p:blipFill>
        <p:spPr>
          <a:xfrm>
            <a:off x="4686300" y="5455890"/>
            <a:ext cx="203200" cy="203200"/>
          </a:xfrm>
          <a:prstGeom prst="rect">
            <a:avLst/>
          </a:prstGeom>
        </p:spPr>
      </p:pic>
      <p:sp>
        <p:nvSpPr>
          <p:cNvPr id="53" name="Text 50"/>
          <p:cNvSpPr/>
          <p:nvPr/>
        </p:nvSpPr>
        <p:spPr>
          <a:xfrm>
            <a:off x="4978400" y="5359400"/>
            <a:ext cx="2289175"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61B1C"/>
                </a:solidFill>
                <a:latin typeface="Hanken Grotesk" pitchFamily="34" charset="0"/>
                <a:ea typeface="Hanken Grotesk" pitchFamily="34" charset="-122"/>
                <a:cs typeface="Hanken Grotesk" pitchFamily="34" charset="-120"/>
              </a:rPr>
              <a:t>Data:</a:t>
            </a:r>
            <a:r>
              <a:rPr lang="en-US" sz="1200" dirty="0">
                <a:solidFill>
                  <a:srgbClr val="161B1C"/>
                </a:solidFill>
                <a:latin typeface="Hanken Grotesk" pitchFamily="34" charset="0"/>
                <a:ea typeface="Hanken Grotesk" pitchFamily="34" charset="-122"/>
                <a:cs typeface="Hanken Grotesk" pitchFamily="34" charset="-120"/>
              </a:rPr>
              <a:t> orders.csv · workshops.csv · session history</a:t>
            </a:r>
            <a:endParaRPr lang="en-US" sz="1200" dirty="0"/>
          </a:p>
        </p:txBody>
      </p:sp>
      <p:sp>
        <p:nvSpPr>
          <p:cNvPr id="54" name="Shape 51"/>
          <p:cNvSpPr/>
          <p:nvPr/>
        </p:nvSpPr>
        <p:spPr>
          <a:xfrm>
            <a:off x="7727950" y="4908550"/>
            <a:ext cx="3848100" cy="957461"/>
          </a:xfrm>
          <a:prstGeom prst="roundRect">
            <a:avLst>
              <a:gd name="adj" fmla="val 11275"/>
            </a:avLst>
          </a:prstGeom>
          <a:solidFill>
            <a:srgbClr val="F7F8F8"/>
          </a:solidFill>
          <a:ln w="12700">
            <a:solidFill>
              <a:srgbClr val="9BBBB7"/>
            </a:solidFill>
            <a:prstDash val="dash"/>
          </a:ln>
        </p:spPr>
      </p:sp>
      <p:sp>
        <p:nvSpPr>
          <p:cNvPr id="55" name="Text 52"/>
          <p:cNvSpPr/>
          <p:nvPr/>
        </p:nvSpPr>
        <p:spPr>
          <a:xfrm>
            <a:off x="7874000" y="50165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268"/>
                </a:solidFill>
                <a:latin typeface="Hanken Grotesk" pitchFamily="34" charset="0"/>
                <a:ea typeface="Hanken Grotesk" pitchFamily="34" charset="-122"/>
                <a:cs typeface="Hanken Grotesk" pitchFamily="34" charset="-120"/>
              </a:rPr>
              <a:t>EVALUATION</a:t>
            </a:r>
            <a:endParaRPr lang="en-US" sz="1200" dirty="0"/>
          </a:p>
        </p:txBody>
      </p:sp>
      <p:sp>
        <p:nvSpPr>
          <p:cNvPr id="56" name="Text 53"/>
          <p:cNvSpPr/>
          <p:nvPr/>
        </p:nvSpPr>
        <p:spPr>
          <a:xfrm>
            <a:off x="7874000" y="528062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A · Simulator:</a:t>
            </a:r>
            <a:r>
              <a:rPr lang="en-US" sz="1200" dirty="0">
                <a:solidFill>
                  <a:srgbClr val="161B1C"/>
                </a:solidFill>
                <a:latin typeface="Hanken Grotesk" pitchFamily="34" charset="0"/>
                <a:ea typeface="Hanken Grotesk" pitchFamily="34" charset="-122"/>
                <a:cs typeface="Hanken Grotesk" pitchFamily="34" charset="-120"/>
              </a:rPr>
              <a:t> allocator, 120 orders</a:t>
            </a:r>
            <a:endParaRPr lang="en-US" sz="1200" dirty="0"/>
          </a:p>
        </p:txBody>
      </p:sp>
      <p:sp>
        <p:nvSpPr>
          <p:cNvPr id="57" name="Text 54"/>
          <p:cNvSpPr/>
          <p:nvPr/>
        </p:nvSpPr>
        <p:spPr>
          <a:xfrm>
            <a:off x="7874000" y="5544741"/>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B · Inbox:</a:t>
            </a:r>
            <a:r>
              <a:rPr lang="en-US" sz="1200" dirty="0">
                <a:solidFill>
                  <a:srgbClr val="161B1C"/>
                </a:solidFill>
                <a:latin typeface="Hanken Grotesk" pitchFamily="34" charset="0"/>
                <a:ea typeface="Hanken Grotesk" pitchFamily="34" charset="-122"/>
                <a:cs typeface="Hanken Grotesk" pitchFamily="34" charset="-120"/>
              </a:rPr>
              <a:t> full chain vs human labels</a:t>
            </a:r>
            <a:endParaRPr lang="en-US" sz="1200" dirty="0"/>
          </a:p>
        </p:txBody>
      </p:sp>
      <p:pic>
        <p:nvPicPr>
          <p:cNvPr id="58" name="Image 1" descr="connector">    </p:cNvPr>
          <p:cNvPicPr>
            <a:picLocks noChangeAspect="1"/>
          </p:cNvPicPr>
          <p:nvPr/>
        </p:nvPicPr>
        <p:blipFill>
          <a:blip r:embed="rId2"/>
          <a:srcRect l="0" r="0" t="0" b="0"/>
          <a:stretch/>
        </p:blipFill>
        <p:spPr>
          <a:xfrm>
            <a:off x="1892300" y="3727450"/>
            <a:ext cx="482600" cy="101600"/>
          </a:xfrm>
          <a:prstGeom prst="rect">
            <a:avLst/>
          </a:prstGeom>
        </p:spPr>
      </p:pic>
      <p:pic>
        <p:nvPicPr>
          <p:cNvPr id="59" name="Image 2" descr="connector">    </p:cNvPr>
          <p:cNvPicPr>
            <a:picLocks noChangeAspect="1"/>
          </p:cNvPicPr>
          <p:nvPr/>
        </p:nvPicPr>
        <p:blipFill>
          <a:blip r:embed="rId3"/>
          <a:srcRect l="0" r="0" t="0" b="0"/>
          <a:stretch/>
        </p:blipFill>
        <p:spPr>
          <a:xfrm>
            <a:off x="4114800" y="3727450"/>
            <a:ext cx="482600" cy="101600"/>
          </a:xfrm>
          <a:prstGeom prst="rect">
            <a:avLst/>
          </a:prstGeom>
        </p:spPr>
      </p:pic>
      <p:pic>
        <p:nvPicPr>
          <p:cNvPr id="60" name="Image 3" descr="connector">    </p:cNvPr>
          <p:cNvPicPr>
            <a:picLocks noChangeAspect="1"/>
          </p:cNvPicPr>
          <p:nvPr/>
        </p:nvPicPr>
        <p:blipFill>
          <a:blip r:embed="rId4"/>
          <a:srcRect l="0" r="0" t="0" b="0"/>
          <a:stretch/>
        </p:blipFill>
        <p:spPr>
          <a:xfrm>
            <a:off x="7289800" y="3727450"/>
            <a:ext cx="482600" cy="101600"/>
          </a:xfrm>
          <a:prstGeom prst="rect">
            <a:avLst/>
          </a:prstGeom>
        </p:spPr>
      </p:pic>
      <p:pic>
        <p:nvPicPr>
          <p:cNvPr id="61" name="Image 4" descr="connector">    </p:cNvPr>
          <p:cNvPicPr>
            <a:picLocks noChangeAspect="1"/>
          </p:cNvPicPr>
          <p:nvPr/>
        </p:nvPicPr>
        <p:blipFill>
          <a:blip r:embed="rId5"/>
          <a:srcRect l="0" r="0" t="0" b="0"/>
          <a:stretch/>
        </p:blipFill>
        <p:spPr>
          <a:xfrm>
            <a:off x="9575800" y="3727450"/>
            <a:ext cx="482600" cy="101600"/>
          </a:xfrm>
          <a:prstGeom prst="rect">
            <a:avLst/>
          </a:prstGeom>
        </p:spPr>
      </p:pic>
      <p:pic>
        <p:nvPicPr>
          <p:cNvPr id="62" name="Image 5" descr="connector">    </p:cNvPr>
          <p:cNvPicPr>
            <a:picLocks noChangeAspect="1"/>
          </p:cNvPicPr>
          <p:nvPr/>
        </p:nvPicPr>
        <p:blipFill>
          <a:blip r:embed="rId6"/>
          <a:srcRect l="0" r="0" t="0" b="0"/>
          <a:stretch/>
        </p:blipFill>
        <p:spPr>
          <a:xfrm>
            <a:off x="5892800" y="2311400"/>
            <a:ext cx="101600" cy="406400"/>
          </a:xfrm>
          <a:prstGeom prst="rect">
            <a:avLst/>
          </a:prstGeom>
        </p:spPr>
      </p:pic>
      <p:sp>
        <p:nvSpPr>
          <p:cNvPr id="63" name="Text 55"/>
          <p:cNvSpPr/>
          <p:nvPr/>
        </p:nvSpPr>
        <p:spPr>
          <a:xfrm>
            <a:off x="6070600" y="24130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calls tools</a:t>
            </a:r>
            <a:endParaRPr lang="en-US" sz="1200" dirty="0"/>
          </a:p>
        </p:txBody>
      </p:sp>
      <p:pic>
        <p:nvPicPr>
          <p:cNvPr id="64" name="Image 6" descr="connector">    </p:cNvPr>
          <p:cNvPicPr>
            <a:picLocks noChangeAspect="1"/>
          </p:cNvPicPr>
          <p:nvPr/>
        </p:nvPicPr>
        <p:blipFill>
          <a:blip r:embed="rId7"/>
          <a:srcRect l="0" r="0" t="0" b="0"/>
          <a:stretch/>
        </p:blipFill>
        <p:spPr>
          <a:xfrm>
            <a:off x="5892800" y="4876800"/>
            <a:ext cx="101600" cy="444500"/>
          </a:xfrm>
          <a:prstGeom prst="rect">
            <a:avLst/>
          </a:prstGeom>
        </p:spPr>
      </p:pic>
      <p:pic>
        <p:nvPicPr>
          <p:cNvPr id="65" name="Image 7" descr="connector">    </p:cNvPr>
          <p:cNvPicPr>
            <a:picLocks noChangeAspect="1"/>
          </p:cNvPicPr>
          <p:nvPr/>
        </p:nvPicPr>
        <p:blipFill>
          <a:blip r:embed="rId8"/>
          <a:srcRect l="0" r="0" t="0" b="0"/>
          <a:stretch/>
        </p:blipFill>
        <p:spPr>
          <a:xfrm>
            <a:off x="4775200" y="4876800"/>
            <a:ext cx="101600" cy="254000"/>
          </a:xfrm>
          <a:prstGeom prst="rect">
            <a:avLst/>
          </a:prstGeom>
        </p:spPr>
      </p:pic>
      <p:pic>
        <p:nvPicPr>
          <p:cNvPr id="66" name="Image 8" descr="connector">    </p:cNvPr>
          <p:cNvPicPr>
            <a:picLocks noChangeAspect="1"/>
          </p:cNvPicPr>
          <p:nvPr/>
        </p:nvPicPr>
        <p:blipFill>
          <a:blip r:embed="rId9"/>
          <a:srcRect l="0" r="0" t="0" b="0"/>
          <a:stretch/>
        </p:blipFill>
        <p:spPr>
          <a:xfrm>
            <a:off x="1225550" y="5029200"/>
            <a:ext cx="3651250" cy="101600"/>
          </a:xfrm>
          <a:prstGeom prst="rect">
            <a:avLst/>
          </a:prstGeom>
        </p:spPr>
      </p:pic>
      <p:pic>
        <p:nvPicPr>
          <p:cNvPr id="67" name="Image 9" descr="connector">    </p:cNvPr>
          <p:cNvPicPr>
            <a:picLocks noChangeAspect="1"/>
          </p:cNvPicPr>
          <p:nvPr/>
        </p:nvPicPr>
        <p:blipFill>
          <a:blip r:embed="rId10"/>
          <a:srcRect l="0" r="0" t="0" b="0"/>
          <a:stretch/>
        </p:blipFill>
        <p:spPr>
          <a:xfrm>
            <a:off x="1225550" y="4660900"/>
            <a:ext cx="101600" cy="469900"/>
          </a:xfrm>
          <a:prstGeom prst="rect">
            <a:avLst/>
          </a:prstGeom>
        </p:spPr>
      </p:pic>
      <p:sp>
        <p:nvSpPr>
          <p:cNvPr id="68" name="Text 56"/>
          <p:cNvSpPr/>
          <p:nvPr/>
        </p:nvSpPr>
        <p:spPr>
          <a:xfrm>
            <a:off x="1435100" y="51181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3A35"/>
                </a:solidFill>
                <a:latin typeface="Hanken Grotesk" pitchFamily="34" charset="0"/>
                <a:ea typeface="Hanken Grotesk" pitchFamily="34" charset="-122"/>
                <a:cs typeface="Hanken Grotesk" pitchFamily="34" charset="-120"/>
              </a:rPr>
              <a:t>Clarify · Refuse · Decline: reply to sender</a:t>
            </a:r>
            <a:endParaRPr lang="en-US" sz="1200" dirty="0"/>
          </a:p>
        </p:txBody>
      </p:sp>
      <p:sp>
        <p:nvSpPr>
          <p:cNvPr id="69" name="Shape 57"/>
          <p:cNvSpPr/>
          <p:nvPr/>
        </p:nvSpPr>
        <p:spPr>
          <a:xfrm>
            <a:off x="609600" y="6140450"/>
            <a:ext cx="10972800" cy="6350"/>
          </a:xfrm>
          <a:prstGeom prst="rect">
            <a:avLst/>
          </a:prstGeom>
          <a:solidFill>
            <a:srgbClr val="C9D4D2"/>
          </a:solidFill>
          <a:ln/>
        </p:spPr>
      </p:sp>
      <p:sp>
        <p:nvSpPr>
          <p:cNvPr id="70" name="Text 58"/>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71" name="Text 59"/>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04 · BUSINESS VALUE</a:t>
            </a:r>
            <a:endParaRPr lang="en-US" sz="1200" dirty="0"/>
          </a:p>
        </p:txBody>
      </p:sp>
      <p:sp>
        <p:nvSpPr>
          <p:cNvPr id="3" name="Text 1"/>
          <p:cNvSpPr/>
          <p:nvPr>
            <p:ph type="title"/>
          </p:nvPr>
        </p:nvSpPr>
        <p:spPr>
          <a:xfrm>
            <a:off x="609600" y="734020"/>
            <a:ext cx="11301984"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What the business gains</a:t>
            </a:r>
            <a:endParaRPr lang="en-US" sz="2300" dirty="0"/>
          </a:p>
        </p:txBody>
      </p:sp>
      <p:sp>
        <p:nvSpPr>
          <p:cNvPr id="4" name="Shape 2"/>
          <p:cNvSpPr/>
          <p:nvPr/>
        </p:nvSpPr>
        <p:spPr>
          <a:xfrm>
            <a:off x="612775" y="1327100"/>
            <a:ext cx="3549650" cy="1574701"/>
          </a:xfrm>
          <a:prstGeom prst="roundRect">
            <a:avLst>
              <a:gd name="adj" fmla="val 7863"/>
            </a:avLst>
          </a:prstGeom>
          <a:solidFill>
            <a:srgbClr val="F7F8F8"/>
          </a:solidFill>
          <a:ln w="6350">
            <a:solidFill>
              <a:srgbClr val="D3DCDA"/>
            </a:solidFill>
            <a:prstDash val="solid"/>
          </a:ln>
        </p:spPr>
      </p:sp>
      <p:sp>
        <p:nvSpPr>
          <p:cNvPr id="5" name="Shape 3"/>
          <p:cNvSpPr/>
          <p:nvPr/>
        </p:nvSpPr>
        <p:spPr>
          <a:xfrm>
            <a:off x="819150" y="1508075"/>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6" name="Image 0" descr="Lightning">    </p:cNvPr>
          <p:cNvPicPr>
            <a:picLocks noChangeAspect="1"/>
          </p:cNvPicPr>
          <p:nvPr/>
        </p:nvPicPr>
        <p:blipFill>
          <a:blip r:embed="rId1"/>
          <a:srcRect l="0" r="0" t="0" b="0"/>
          <a:stretch/>
        </p:blipFill>
        <p:spPr>
          <a:xfrm>
            <a:off x="908050" y="1596975"/>
            <a:ext cx="177800" cy="177800"/>
          </a:xfrm>
          <a:prstGeom prst="rect">
            <a:avLst/>
          </a:prstGeom>
        </p:spPr>
      </p:pic>
      <p:sp>
        <p:nvSpPr>
          <p:cNvPr id="7" name="Text 4"/>
          <p:cNvSpPr/>
          <p:nvPr/>
        </p:nvSpPr>
        <p:spPr>
          <a:xfrm>
            <a:off x="819150" y="1939875"/>
            <a:ext cx="32310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B1C"/>
                </a:solidFill>
                <a:latin typeface="Hanken Grotesk" pitchFamily="34" charset="0"/>
                <a:ea typeface="Hanken Grotesk" pitchFamily="34" charset="-122"/>
                <a:cs typeface="Hanken Grotesk" pitchFamily="34" charset="-120"/>
              </a:rPr>
              <a:t>Faster decisions</a:t>
            </a:r>
            <a:endParaRPr lang="en-US" sz="1700" dirty="0"/>
          </a:p>
        </p:txBody>
      </p:sp>
      <p:sp>
        <p:nvSpPr>
          <p:cNvPr id="8" name="Text 5"/>
          <p:cNvSpPr/>
          <p:nvPr/>
        </p:nvSpPr>
        <p:spPr>
          <a:xfrm>
            <a:off x="819150" y="2275136"/>
            <a:ext cx="323100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47"/>
                </a:solidFill>
                <a:latin typeface="Hanken Grotesk" pitchFamily="34" charset="0"/>
                <a:ea typeface="Hanken Grotesk" pitchFamily="34" charset="-122"/>
                <a:cs typeface="Hanken Grotesk" pitchFamily="34" charset="-120"/>
              </a:rPr>
              <a:t>A checked recommendation in minutes, not a search through notes and chats</a:t>
            </a:r>
            <a:endParaRPr lang="en-US" sz="1300" dirty="0"/>
          </a:p>
        </p:txBody>
      </p:sp>
      <p:sp>
        <p:nvSpPr>
          <p:cNvPr id="9" name="Shape 6"/>
          <p:cNvSpPr/>
          <p:nvPr/>
        </p:nvSpPr>
        <p:spPr>
          <a:xfrm>
            <a:off x="4321175" y="1327100"/>
            <a:ext cx="3549650" cy="1574701"/>
          </a:xfrm>
          <a:prstGeom prst="roundRect">
            <a:avLst>
              <a:gd name="adj" fmla="val 7863"/>
            </a:avLst>
          </a:prstGeom>
          <a:solidFill>
            <a:srgbClr val="F7F8F8"/>
          </a:solidFill>
          <a:ln w="6350">
            <a:solidFill>
              <a:srgbClr val="D3DCDA"/>
            </a:solidFill>
            <a:prstDash val="solid"/>
          </a:ln>
        </p:spPr>
      </p:sp>
      <p:sp>
        <p:nvSpPr>
          <p:cNvPr id="10" name="Shape 7"/>
          <p:cNvSpPr/>
          <p:nvPr/>
        </p:nvSpPr>
        <p:spPr>
          <a:xfrm>
            <a:off x="4527550" y="1508075"/>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11" name="Image 1" descr="Clock">    </p:cNvPr>
          <p:cNvPicPr>
            <a:picLocks noChangeAspect="1"/>
          </p:cNvPicPr>
          <p:nvPr/>
        </p:nvPicPr>
        <p:blipFill>
          <a:blip r:embed="rId2"/>
          <a:srcRect l="0" r="0" t="0" b="0"/>
          <a:stretch/>
        </p:blipFill>
        <p:spPr>
          <a:xfrm>
            <a:off x="4616450" y="1596975"/>
            <a:ext cx="177800" cy="177800"/>
          </a:xfrm>
          <a:prstGeom prst="rect">
            <a:avLst/>
          </a:prstGeom>
        </p:spPr>
      </p:pic>
      <p:sp>
        <p:nvSpPr>
          <p:cNvPr id="12" name="Text 8"/>
          <p:cNvSpPr/>
          <p:nvPr/>
        </p:nvSpPr>
        <p:spPr>
          <a:xfrm>
            <a:off x="4527550" y="1939875"/>
            <a:ext cx="32310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B1C"/>
                </a:solidFill>
                <a:latin typeface="Hanken Grotesk" pitchFamily="34" charset="0"/>
                <a:ea typeface="Hanken Grotesk" pitchFamily="34" charset="-122"/>
                <a:cs typeface="Hanken Grotesk" pitchFamily="34" charset="-120"/>
              </a:rPr>
              <a:t>Fewer late orders</a:t>
            </a:r>
            <a:endParaRPr lang="en-US" sz="1700" dirty="0"/>
          </a:p>
        </p:txBody>
      </p:sp>
      <p:sp>
        <p:nvSpPr>
          <p:cNvPr id="13" name="Text 9"/>
          <p:cNvSpPr/>
          <p:nvPr/>
        </p:nvSpPr>
        <p:spPr>
          <a:xfrm>
            <a:off x="4527550" y="2275136"/>
            <a:ext cx="323100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47"/>
                </a:solidFill>
                <a:latin typeface="Hanken Grotesk" pitchFamily="34" charset="0"/>
                <a:ea typeface="Hanken Grotesk" pitchFamily="34" charset="-122"/>
                <a:cs typeface="Hanken Grotesk" pitchFamily="34" charset="-120"/>
              </a:rPr>
              <a:t>Every pick is checked against capacity, rules and queues before it goes out</a:t>
            </a:r>
            <a:endParaRPr lang="en-US" sz="1300" dirty="0"/>
          </a:p>
        </p:txBody>
      </p:sp>
      <p:sp>
        <p:nvSpPr>
          <p:cNvPr id="14" name="Shape 10"/>
          <p:cNvSpPr/>
          <p:nvPr/>
        </p:nvSpPr>
        <p:spPr>
          <a:xfrm>
            <a:off x="8029575" y="1327100"/>
            <a:ext cx="3549650" cy="1574701"/>
          </a:xfrm>
          <a:prstGeom prst="roundRect">
            <a:avLst>
              <a:gd name="adj" fmla="val 7863"/>
            </a:avLst>
          </a:prstGeom>
          <a:solidFill>
            <a:srgbClr val="F7F8F8"/>
          </a:solidFill>
          <a:ln w="6350">
            <a:solidFill>
              <a:srgbClr val="D3DCDA"/>
            </a:solidFill>
            <a:prstDash val="solid"/>
          </a:ln>
        </p:spPr>
      </p:sp>
      <p:sp>
        <p:nvSpPr>
          <p:cNvPr id="15" name="Shape 11"/>
          <p:cNvSpPr/>
          <p:nvPr/>
        </p:nvSpPr>
        <p:spPr>
          <a:xfrm>
            <a:off x="8235950" y="1508075"/>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16" name="Image 2" descr="Users">    </p:cNvPr>
          <p:cNvPicPr>
            <a:picLocks noChangeAspect="1"/>
          </p:cNvPicPr>
          <p:nvPr/>
        </p:nvPicPr>
        <p:blipFill>
          <a:blip r:embed="rId3"/>
          <a:srcRect l="0" r="0" t="0" b="0"/>
          <a:stretch/>
        </p:blipFill>
        <p:spPr>
          <a:xfrm>
            <a:off x="8324850" y="1596975"/>
            <a:ext cx="177800" cy="177800"/>
          </a:xfrm>
          <a:prstGeom prst="rect">
            <a:avLst/>
          </a:prstGeom>
        </p:spPr>
      </p:pic>
      <p:sp>
        <p:nvSpPr>
          <p:cNvPr id="17" name="Text 12"/>
          <p:cNvSpPr/>
          <p:nvPr/>
        </p:nvSpPr>
        <p:spPr>
          <a:xfrm>
            <a:off x="8235950" y="1939875"/>
            <a:ext cx="32310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B1C"/>
                </a:solidFill>
                <a:latin typeface="Hanken Grotesk" pitchFamily="34" charset="0"/>
                <a:ea typeface="Hanken Grotesk" pitchFamily="34" charset="-122"/>
                <a:cs typeface="Hanken Grotesk" pitchFamily="34" charset="-120"/>
              </a:rPr>
              <a:t>Consistent and fair</a:t>
            </a:r>
            <a:endParaRPr lang="en-US" sz="1700" dirty="0"/>
          </a:p>
        </p:txBody>
      </p:sp>
      <p:sp>
        <p:nvSpPr>
          <p:cNvPr id="18" name="Text 13"/>
          <p:cNvSpPr/>
          <p:nvPr/>
        </p:nvSpPr>
        <p:spPr>
          <a:xfrm>
            <a:off x="8235950" y="2275136"/>
            <a:ext cx="323100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47"/>
                </a:solidFill>
                <a:latin typeface="Hanken Grotesk" pitchFamily="34" charset="0"/>
                <a:ea typeface="Hanken Grotesk" pitchFamily="34" charset="-122"/>
                <a:cs typeface="Hanken Grotesk" pitchFamily="34" charset="-120"/>
              </a:rPr>
              <a:t>Same method whoever is dispatching; no favourite workshops</a:t>
            </a:r>
            <a:endParaRPr lang="en-US" sz="1300" dirty="0"/>
          </a:p>
        </p:txBody>
      </p:sp>
      <p:sp>
        <p:nvSpPr>
          <p:cNvPr id="19" name="Shape 14"/>
          <p:cNvSpPr/>
          <p:nvPr/>
        </p:nvSpPr>
        <p:spPr>
          <a:xfrm>
            <a:off x="612775" y="3060551"/>
            <a:ext cx="3549650" cy="1574701"/>
          </a:xfrm>
          <a:prstGeom prst="roundRect">
            <a:avLst>
              <a:gd name="adj" fmla="val 7863"/>
            </a:avLst>
          </a:prstGeom>
          <a:solidFill>
            <a:srgbClr val="F7F8F8"/>
          </a:solidFill>
          <a:ln w="6350">
            <a:solidFill>
              <a:srgbClr val="D3DCDA"/>
            </a:solidFill>
            <a:prstDash val="solid"/>
          </a:ln>
        </p:spPr>
      </p:sp>
      <p:sp>
        <p:nvSpPr>
          <p:cNvPr id="20" name="Shape 15"/>
          <p:cNvSpPr/>
          <p:nvPr/>
        </p:nvSpPr>
        <p:spPr>
          <a:xfrm>
            <a:off x="819150" y="3241526"/>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21" name="Image 3" descr="Book">    </p:cNvPr>
          <p:cNvPicPr>
            <a:picLocks noChangeAspect="1"/>
          </p:cNvPicPr>
          <p:nvPr/>
        </p:nvPicPr>
        <p:blipFill>
          <a:blip r:embed="rId4"/>
          <a:srcRect l="0" r="0" t="0" b="0"/>
          <a:stretch/>
        </p:blipFill>
        <p:spPr>
          <a:xfrm>
            <a:off x="908050" y="3330426"/>
            <a:ext cx="177800" cy="177800"/>
          </a:xfrm>
          <a:prstGeom prst="rect">
            <a:avLst/>
          </a:prstGeom>
        </p:spPr>
      </p:pic>
      <p:sp>
        <p:nvSpPr>
          <p:cNvPr id="22" name="Text 16"/>
          <p:cNvSpPr/>
          <p:nvPr/>
        </p:nvSpPr>
        <p:spPr>
          <a:xfrm>
            <a:off x="819150" y="3673326"/>
            <a:ext cx="32310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B1C"/>
                </a:solidFill>
                <a:latin typeface="Hanken Grotesk" pitchFamily="34" charset="0"/>
                <a:ea typeface="Hanken Grotesk" pitchFamily="34" charset="-122"/>
                <a:cs typeface="Hanken Grotesk" pitchFamily="34" charset="-120"/>
              </a:rPr>
              <a:t>Fully traceable</a:t>
            </a:r>
            <a:endParaRPr lang="en-US" sz="1700" dirty="0"/>
          </a:p>
        </p:txBody>
      </p:sp>
      <p:sp>
        <p:nvSpPr>
          <p:cNvPr id="23" name="Text 17"/>
          <p:cNvSpPr/>
          <p:nvPr/>
        </p:nvSpPr>
        <p:spPr>
          <a:xfrm>
            <a:off x="819150" y="4008586"/>
            <a:ext cx="323100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47"/>
                </a:solidFill>
                <a:latin typeface="Hanken Grotesk" pitchFamily="34" charset="0"/>
                <a:ea typeface="Hanken Grotesk" pitchFamily="34" charset="-122"/>
                <a:cs typeface="Hanken Grotesk" pitchFamily="34" charset="-120"/>
              </a:rPr>
              <a:t>Every decision saved with who asked, the options and why</a:t>
            </a:r>
            <a:endParaRPr lang="en-US" sz="1300" dirty="0"/>
          </a:p>
        </p:txBody>
      </p:sp>
      <p:sp>
        <p:nvSpPr>
          <p:cNvPr id="24" name="Shape 18"/>
          <p:cNvSpPr/>
          <p:nvPr/>
        </p:nvSpPr>
        <p:spPr>
          <a:xfrm>
            <a:off x="4321175" y="3060551"/>
            <a:ext cx="3549650" cy="1574701"/>
          </a:xfrm>
          <a:prstGeom prst="roundRect">
            <a:avLst>
              <a:gd name="adj" fmla="val 7863"/>
            </a:avLst>
          </a:prstGeom>
          <a:solidFill>
            <a:srgbClr val="F7F8F8"/>
          </a:solidFill>
          <a:ln w="6350">
            <a:solidFill>
              <a:srgbClr val="D3DCDA"/>
            </a:solidFill>
            <a:prstDash val="solid"/>
          </a:ln>
        </p:spPr>
      </p:sp>
      <p:sp>
        <p:nvSpPr>
          <p:cNvPr id="25" name="Shape 19"/>
          <p:cNvSpPr/>
          <p:nvPr/>
        </p:nvSpPr>
        <p:spPr>
          <a:xfrm>
            <a:off x="4527550" y="3241526"/>
            <a:ext cx="355600" cy="355600"/>
          </a:xfrm>
          <a:prstGeom prst="roundRect">
            <a:avLst>
              <a:gd name="adj" fmla="val 50000"/>
            </a:avLst>
          </a:prstGeom>
          <a:gradFill rotWithShape="1">
            <a:gsLst>
              <a:gs pos="0">
                <a:srgbClr val="9BBBB7"/>
              </a:gs>
              <a:gs pos="100000">
                <a:srgbClr val="49868D"/>
              </a:gs>
            </a:gsLst>
            <a:lin ang="2700000" scaled="0"/>
          </a:gradFill>
          <a:ln/>
        </p:spPr>
      </p:sp>
      <p:pic>
        <p:nvPicPr>
          <p:cNvPr id="26" name="Image 4" descr="Trust">    </p:cNvPr>
          <p:cNvPicPr>
            <a:picLocks noChangeAspect="1"/>
          </p:cNvPicPr>
          <p:nvPr/>
        </p:nvPicPr>
        <p:blipFill>
          <a:blip r:embed="rId5"/>
          <a:srcRect l="0" r="0" t="0" b="0"/>
          <a:stretch/>
        </p:blipFill>
        <p:spPr>
          <a:xfrm>
            <a:off x="4616450" y="3330426"/>
            <a:ext cx="177800" cy="177800"/>
          </a:xfrm>
          <a:prstGeom prst="rect">
            <a:avLst/>
          </a:prstGeom>
        </p:spPr>
      </p:pic>
      <p:sp>
        <p:nvSpPr>
          <p:cNvPr id="27" name="Text 20"/>
          <p:cNvSpPr/>
          <p:nvPr/>
        </p:nvSpPr>
        <p:spPr>
          <a:xfrm>
            <a:off x="4527550" y="3673326"/>
            <a:ext cx="32310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B1C"/>
                </a:solidFill>
                <a:latin typeface="Hanken Grotesk" pitchFamily="34" charset="0"/>
                <a:ea typeface="Hanken Grotesk" pitchFamily="34" charset="-122"/>
                <a:cs typeface="Hanken Grotesk" pitchFamily="34" charset="-120"/>
              </a:rPr>
              <a:t>No guessing</a:t>
            </a:r>
            <a:endParaRPr lang="en-US" sz="1700" dirty="0"/>
          </a:p>
        </p:txBody>
      </p:sp>
      <p:sp>
        <p:nvSpPr>
          <p:cNvPr id="28" name="Text 21"/>
          <p:cNvSpPr/>
          <p:nvPr/>
        </p:nvSpPr>
        <p:spPr>
          <a:xfrm>
            <a:off x="4527550" y="4008586"/>
            <a:ext cx="323100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47"/>
                </a:solidFill>
                <a:latin typeface="Hanken Grotesk" pitchFamily="34" charset="0"/>
                <a:ea typeface="Hanken Grotesk" pitchFamily="34" charset="-122"/>
                <a:cs typeface="Hanken Grotesk" pitchFamily="34" charset="-120"/>
              </a:rPr>
              <a:t>Asks, refuses or says "we don't know" instead of making up an answer</a:t>
            </a:r>
            <a:endParaRPr lang="en-US" sz="1300" dirty="0"/>
          </a:p>
        </p:txBody>
      </p:sp>
      <p:sp>
        <p:nvSpPr>
          <p:cNvPr id="29" name="Shape 22"/>
          <p:cNvSpPr/>
          <p:nvPr/>
        </p:nvSpPr>
        <p:spPr>
          <a:xfrm>
            <a:off x="8029575" y="3060551"/>
            <a:ext cx="3549650" cy="1574701"/>
          </a:xfrm>
          <a:prstGeom prst="roundRect">
            <a:avLst>
              <a:gd name="adj" fmla="val 7863"/>
            </a:avLst>
          </a:prstGeom>
          <a:solidFill>
            <a:srgbClr val="F3E7D3"/>
          </a:solidFill>
          <a:ln w="6350">
            <a:solidFill>
              <a:srgbClr val="E2CDA8"/>
            </a:solidFill>
            <a:prstDash val="solid"/>
          </a:ln>
        </p:spPr>
      </p:sp>
      <p:sp>
        <p:nvSpPr>
          <p:cNvPr id="30" name="Shape 23"/>
          <p:cNvSpPr/>
          <p:nvPr/>
        </p:nvSpPr>
        <p:spPr>
          <a:xfrm>
            <a:off x="8235950" y="3241526"/>
            <a:ext cx="355600" cy="355600"/>
          </a:xfrm>
          <a:prstGeom prst="roundRect">
            <a:avLst>
              <a:gd name="adj" fmla="val 50000"/>
            </a:avLst>
          </a:prstGeom>
          <a:solidFill>
            <a:srgbClr val="8F6118"/>
          </a:solidFill>
          <a:ln/>
        </p:spPr>
      </p:sp>
      <p:pic>
        <p:nvPicPr>
          <p:cNvPr id="31" name="Image 5" descr="CheckCircle">    </p:cNvPr>
          <p:cNvPicPr>
            <a:picLocks noChangeAspect="1"/>
          </p:cNvPicPr>
          <p:nvPr/>
        </p:nvPicPr>
        <p:blipFill>
          <a:blip r:embed="rId6"/>
          <a:srcRect l="0" r="0" t="0" b="0"/>
          <a:stretch/>
        </p:blipFill>
        <p:spPr>
          <a:xfrm>
            <a:off x="8324850" y="3330426"/>
            <a:ext cx="177800" cy="177800"/>
          </a:xfrm>
          <a:prstGeom prst="rect">
            <a:avLst/>
          </a:prstGeom>
        </p:spPr>
      </p:pic>
      <p:sp>
        <p:nvSpPr>
          <p:cNvPr id="32" name="Text 24"/>
          <p:cNvSpPr/>
          <p:nvPr/>
        </p:nvSpPr>
        <p:spPr>
          <a:xfrm>
            <a:off x="8235950" y="3673326"/>
            <a:ext cx="32310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B1C"/>
                </a:solidFill>
                <a:latin typeface="Hanken Grotesk" pitchFamily="34" charset="0"/>
                <a:ea typeface="Hanken Grotesk" pitchFamily="34" charset="-122"/>
                <a:cs typeface="Hanken Grotesk" pitchFamily="34" charset="-120"/>
              </a:rPr>
              <a:t>People stay in control</a:t>
            </a:r>
            <a:endParaRPr lang="en-US" sz="1700" dirty="0"/>
          </a:p>
        </p:txBody>
      </p:sp>
      <p:sp>
        <p:nvSpPr>
          <p:cNvPr id="33" name="Text 25"/>
          <p:cNvSpPr/>
          <p:nvPr/>
        </p:nvSpPr>
        <p:spPr>
          <a:xfrm>
            <a:off x="8235950" y="4008586"/>
            <a:ext cx="3231007"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547"/>
                </a:solidFill>
                <a:latin typeface="Hanken Grotesk" pitchFamily="34" charset="0"/>
                <a:ea typeface="Hanken Grotesk" pitchFamily="34" charset="-122"/>
                <a:cs typeface="Hanken Grotesk" pitchFamily="34" charset="-120"/>
              </a:rPr>
              <a:t>Nothing is sent until a person confirms it</a:t>
            </a:r>
            <a:endParaRPr lang="en-US" sz="1300" dirty="0"/>
          </a:p>
        </p:txBody>
      </p:sp>
      <p:sp>
        <p:nvSpPr>
          <p:cNvPr id="34" name="Shape 26"/>
          <p:cNvSpPr/>
          <p:nvPr/>
        </p:nvSpPr>
        <p:spPr>
          <a:xfrm>
            <a:off x="609600" y="5360690"/>
            <a:ext cx="10972800" cy="544810"/>
          </a:xfrm>
          <a:prstGeom prst="roundRect">
            <a:avLst>
              <a:gd name="adj" fmla="val 23311"/>
            </a:avLst>
          </a:prstGeom>
          <a:gradFill rotWithShape="1">
            <a:gsLst>
              <a:gs pos="0">
                <a:srgbClr val="2F6268"/>
              </a:gs>
              <a:gs pos="70000">
                <a:srgbClr val="3E777E"/>
              </a:gs>
              <a:gs pos="100000">
                <a:srgbClr val="49868D"/>
              </a:gs>
            </a:gsLst>
            <a:lin ang="1200000" scaled="0"/>
          </a:gradFill>
          <a:ln/>
        </p:spPr>
      </p:sp>
      <p:sp>
        <p:nvSpPr>
          <p:cNvPr id="35" name="Text 27"/>
          <p:cNvSpPr/>
          <p:nvPr/>
        </p:nvSpPr>
        <p:spPr>
          <a:xfrm>
            <a:off x="838200" y="5526435"/>
            <a:ext cx="1438424" cy="238720"/>
          </a:xfrm>
          <a:prstGeom prst="rect">
            <a:avLst/>
          </a:prstGeom>
          <a:noFill/>
          <a:ln/>
        </p:spPr>
        <p:txBody>
          <a:bodyPr wrap="none" lIns="0" tIns="0" rIns="0" bIns="0" rtlCol="0" anchor="t">
            <a:normAutofit/>
          </a:bodyPr>
          <a:lstStyle/>
          <a:p>
            <a:pPr algn="l" indent="0" marL="0">
              <a:lnSpc>
                <a:spcPts val="1680"/>
              </a:lnSpc>
              <a:buNone/>
            </a:pPr>
            <a:r>
              <a:rPr lang="en-US" sz="1200" b="1" spc="200" kern="0" dirty="0">
                <a:solidFill>
                  <a:srgbClr val="C9DDDA"/>
                </a:solidFill>
                <a:latin typeface="Hanken Grotesk" pitchFamily="34" charset="0"/>
                <a:ea typeface="Hanken Grotesk" pitchFamily="34" charset="-122"/>
                <a:cs typeface="Hanken Grotesk" pitchFamily="34" charset="-120"/>
              </a:rPr>
              <a:t>WHO BENEFITS</a:t>
            </a:r>
            <a:endParaRPr lang="en-US" sz="1200" dirty="0"/>
          </a:p>
        </p:txBody>
      </p:sp>
      <p:sp>
        <p:nvSpPr>
          <p:cNvPr id="36" name="Text 28"/>
          <p:cNvSpPr/>
          <p:nvPr/>
        </p:nvSpPr>
        <p:spPr>
          <a:xfrm>
            <a:off x="2403624" y="5513090"/>
            <a:ext cx="9218681"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5F5F5"/>
                </a:solidFill>
                <a:latin typeface="Hanken Grotesk" pitchFamily="34" charset="0"/>
                <a:ea typeface="Hanken Grotesk" pitchFamily="34" charset="-122"/>
                <a:cs typeface="Hanken Grotesk" pitchFamily="34" charset="-120"/>
              </a:rPr>
              <a:t>Dispatchers</a:t>
            </a:r>
            <a:r>
              <a:rPr lang="en-US" sz="1400" dirty="0">
                <a:solidFill>
                  <a:srgbClr val="F5F5F5"/>
                </a:solidFill>
                <a:latin typeface="Hanken Grotesk" pitchFamily="34" charset="0"/>
                <a:ea typeface="Hanken Grotesk" pitchFamily="34" charset="-122"/>
                <a:cs typeface="Hanken Grotesk" pitchFamily="34" charset="-120"/>
              </a:rPr>
              <a:t> spend less time searching · </a:t>
            </a:r>
            <a:r>
              <a:rPr lang="en-US" sz="1400" b="1" dirty="0">
                <a:solidFill>
                  <a:srgbClr val="F5F5F5"/>
                </a:solidFill>
                <a:latin typeface="Hanken Grotesk" pitchFamily="34" charset="0"/>
                <a:ea typeface="Hanken Grotesk" pitchFamily="34" charset="-122"/>
                <a:cs typeface="Hanken Grotesk" pitchFamily="34" charset="-120"/>
              </a:rPr>
              <a:t>Managers</a:t>
            </a:r>
            <a:r>
              <a:rPr lang="en-US" sz="1400" dirty="0">
                <a:solidFill>
                  <a:srgbClr val="F5F5F5"/>
                </a:solidFill>
                <a:latin typeface="Hanken Grotesk" pitchFamily="34" charset="0"/>
                <a:ea typeface="Hanken Grotesk" pitchFamily="34" charset="-122"/>
                <a:cs typeface="Hanken Grotesk" pitchFamily="34" charset="-120"/>
              </a:rPr>
              <a:t> can review any decision · </a:t>
            </a:r>
            <a:r>
              <a:rPr lang="en-US" sz="1400" b="1" dirty="0">
                <a:solidFill>
                  <a:srgbClr val="F5F5F5"/>
                </a:solidFill>
                <a:latin typeface="Hanken Grotesk" pitchFamily="34" charset="0"/>
                <a:ea typeface="Hanken Grotesk" pitchFamily="34" charset="-122"/>
                <a:cs typeface="Hanken Grotesk" pitchFamily="34" charset="-120"/>
              </a:rPr>
              <a:t>Customers</a:t>
            </a:r>
            <a:r>
              <a:rPr lang="en-US" sz="1400" dirty="0">
                <a:solidFill>
                  <a:srgbClr val="F5F5F5"/>
                </a:solidFill>
                <a:latin typeface="Hanken Grotesk" pitchFamily="34" charset="0"/>
                <a:ea typeface="Hanken Grotesk" pitchFamily="34" charset="-122"/>
                <a:cs typeface="Hanken Grotesk" pitchFamily="34" charset="-120"/>
              </a:rPr>
              <a:t> get orders on time</a:t>
            </a:r>
            <a:endParaRPr lang="en-US" sz="1400" dirty="0"/>
          </a:p>
        </p:txBody>
      </p:sp>
      <p:sp>
        <p:nvSpPr>
          <p:cNvPr id="37" name="Shape 29"/>
          <p:cNvSpPr/>
          <p:nvPr/>
        </p:nvSpPr>
        <p:spPr>
          <a:xfrm>
            <a:off x="609600" y="6140450"/>
            <a:ext cx="10972800" cy="6350"/>
          </a:xfrm>
          <a:prstGeom prst="rect">
            <a:avLst/>
          </a:prstGeom>
          <a:solidFill>
            <a:srgbClr val="C9D4D2"/>
          </a:solidFill>
          <a:ln/>
        </p:spPr>
      </p:sp>
      <p:sp>
        <p:nvSpPr>
          <p:cNvPr id="38" name="Text 30"/>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39" name="Text 31"/>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05 · SPRINT 1 PROGRESS</a:t>
            </a:r>
            <a:endParaRPr lang="en-US" sz="1200" dirty="0"/>
          </a:p>
        </p:txBody>
      </p:sp>
      <p:sp>
        <p:nvSpPr>
          <p:cNvPr id="3" name="Text 1"/>
          <p:cNvSpPr/>
          <p:nvPr>
            <p:ph type="title"/>
          </p:nvPr>
        </p:nvSpPr>
        <p:spPr>
          <a:xfrm>
            <a:off x="609600" y="734020"/>
            <a:ext cx="11301984"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Plan and core logic in place; the app and testing come next</a:t>
            </a:r>
            <a:endParaRPr lang="en-US" sz="2300" dirty="0"/>
          </a:p>
        </p:txBody>
      </p:sp>
      <p:sp>
        <p:nvSpPr>
          <p:cNvPr id="4" name="Text 2"/>
          <p:cNvSpPr/>
          <p:nvPr/>
        </p:nvSpPr>
        <p:spPr>
          <a:xfrm>
            <a:off x="609600" y="1273125"/>
            <a:ext cx="559963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9868D"/>
                </a:solidFill>
                <a:latin typeface="Hanken Grotesk" pitchFamily="34" charset="0"/>
                <a:ea typeface="Hanken Grotesk" pitchFamily="34" charset="-122"/>
                <a:cs typeface="Hanken Grotesk" pitchFamily="34" charset="-120"/>
              </a:rPr>
              <a:t>SUBTASKS DONE, BY AREA</a:t>
            </a:r>
            <a:endParaRPr lang="en-US" sz="1200" dirty="0"/>
          </a:p>
        </p:txBody>
      </p:sp>
      <p:sp>
        <p:nvSpPr>
          <p:cNvPr id="5" name="Text 3"/>
          <p:cNvSpPr/>
          <p:nvPr/>
        </p:nvSpPr>
        <p:spPr>
          <a:xfrm>
            <a:off x="6046143" y="1273125"/>
            <a:ext cx="1705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Full list: backup slide</a:t>
            </a:r>
            <a:endParaRPr lang="en-US" sz="1200" dirty="0"/>
          </a:p>
        </p:txBody>
      </p:sp>
      <p:sp>
        <p:nvSpPr>
          <p:cNvPr id="6" name="Text 4"/>
          <p:cNvSpPr/>
          <p:nvPr/>
        </p:nvSpPr>
        <p:spPr>
          <a:xfrm>
            <a:off x="609600" y="1562646"/>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Understand and plan</a:t>
            </a:r>
            <a:endParaRPr lang="en-US" sz="1300" dirty="0"/>
          </a:p>
        </p:txBody>
      </p:sp>
      <p:sp>
        <p:nvSpPr>
          <p:cNvPr id="7" name="Text 5"/>
          <p:cNvSpPr/>
          <p:nvPr/>
        </p:nvSpPr>
        <p:spPr>
          <a:xfrm>
            <a:off x="609600" y="1793776"/>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Brief, data, objective, design</a:t>
            </a:r>
            <a:endParaRPr lang="en-US" sz="1200" dirty="0"/>
          </a:p>
        </p:txBody>
      </p:sp>
      <p:sp>
        <p:nvSpPr>
          <p:cNvPr id="8" name="Shape 6"/>
          <p:cNvSpPr/>
          <p:nvPr/>
        </p:nvSpPr>
        <p:spPr>
          <a:xfrm>
            <a:off x="3403600" y="1702296"/>
            <a:ext cx="3048000" cy="165100"/>
          </a:xfrm>
          <a:prstGeom prst="roundRect">
            <a:avLst>
              <a:gd name="adj" fmla="val 50000"/>
            </a:avLst>
          </a:prstGeom>
          <a:solidFill>
            <a:srgbClr val="D3DCDA"/>
          </a:solidFill>
          <a:ln/>
        </p:spPr>
      </p:sp>
      <p:sp>
        <p:nvSpPr>
          <p:cNvPr id="9" name="Shape 7"/>
          <p:cNvSpPr/>
          <p:nvPr/>
        </p:nvSpPr>
        <p:spPr>
          <a:xfrm>
            <a:off x="3403600" y="1702296"/>
            <a:ext cx="3048000" cy="165100"/>
          </a:xfrm>
          <a:prstGeom prst="roundRect">
            <a:avLst>
              <a:gd name="adj" fmla="val 50000"/>
            </a:avLst>
          </a:prstGeom>
          <a:solidFill>
            <a:srgbClr val="2F6268"/>
          </a:solidFill>
          <a:ln/>
        </p:spPr>
      </p:sp>
      <p:sp>
        <p:nvSpPr>
          <p:cNvPr id="10" name="Text 8"/>
          <p:cNvSpPr/>
          <p:nvPr/>
        </p:nvSpPr>
        <p:spPr>
          <a:xfrm>
            <a:off x="6527800" y="1678186"/>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5 of 5</a:t>
            </a:r>
            <a:endParaRPr lang="en-US" sz="1200" dirty="0"/>
          </a:p>
        </p:txBody>
      </p:sp>
      <p:sp>
        <p:nvSpPr>
          <p:cNvPr id="11" name="Text 9"/>
          <p:cNvSpPr/>
          <p:nvPr/>
        </p:nvSpPr>
        <p:spPr>
          <a:xfrm>
            <a:off x="609600" y="2083296"/>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Calculation tools</a:t>
            </a:r>
            <a:endParaRPr lang="en-US" sz="1300" dirty="0"/>
          </a:p>
        </p:txBody>
      </p:sp>
      <p:sp>
        <p:nvSpPr>
          <p:cNvPr id="12" name="Text 10"/>
          <p:cNvSpPr/>
          <p:nvPr/>
        </p:nvSpPr>
        <p:spPr>
          <a:xfrm>
            <a:off x="609600" y="2314426"/>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Eligibility, queue, date, cost</a:t>
            </a:r>
            <a:endParaRPr lang="en-US" sz="1200" dirty="0"/>
          </a:p>
        </p:txBody>
      </p:sp>
      <p:sp>
        <p:nvSpPr>
          <p:cNvPr id="13" name="Shape 11"/>
          <p:cNvSpPr/>
          <p:nvPr/>
        </p:nvSpPr>
        <p:spPr>
          <a:xfrm>
            <a:off x="3403600" y="2222946"/>
            <a:ext cx="3048000" cy="165100"/>
          </a:xfrm>
          <a:prstGeom prst="roundRect">
            <a:avLst>
              <a:gd name="adj" fmla="val 50000"/>
            </a:avLst>
          </a:prstGeom>
          <a:solidFill>
            <a:srgbClr val="D3DCDA"/>
          </a:solidFill>
          <a:ln/>
        </p:spPr>
      </p:sp>
      <p:sp>
        <p:nvSpPr>
          <p:cNvPr id="14" name="Shape 12"/>
          <p:cNvSpPr/>
          <p:nvPr/>
        </p:nvSpPr>
        <p:spPr>
          <a:xfrm>
            <a:off x="3403600" y="2222946"/>
            <a:ext cx="3048000" cy="165100"/>
          </a:xfrm>
          <a:prstGeom prst="roundRect">
            <a:avLst>
              <a:gd name="adj" fmla="val 50000"/>
            </a:avLst>
          </a:prstGeom>
          <a:solidFill>
            <a:srgbClr val="2F6268"/>
          </a:solidFill>
          <a:ln/>
        </p:spPr>
      </p:sp>
      <p:sp>
        <p:nvSpPr>
          <p:cNvPr id="15" name="Text 13"/>
          <p:cNvSpPr/>
          <p:nvPr/>
        </p:nvSpPr>
        <p:spPr>
          <a:xfrm>
            <a:off x="6527800" y="2198836"/>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5 of 5</a:t>
            </a:r>
            <a:endParaRPr lang="en-US" sz="1200" dirty="0"/>
          </a:p>
        </p:txBody>
      </p:sp>
      <p:sp>
        <p:nvSpPr>
          <p:cNvPr id="16" name="Text 14"/>
          <p:cNvSpPr/>
          <p:nvPr/>
        </p:nvSpPr>
        <p:spPr>
          <a:xfrm>
            <a:off x="609600" y="2603946"/>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Allocator</a:t>
            </a:r>
            <a:endParaRPr lang="en-US" sz="1300" dirty="0"/>
          </a:p>
        </p:txBody>
      </p:sp>
      <p:sp>
        <p:nvSpPr>
          <p:cNvPr id="17" name="Text 15"/>
          <p:cNvSpPr/>
          <p:nvPr/>
        </p:nvSpPr>
        <p:spPr>
          <a:xfrm>
            <a:off x="609600" y="2835077"/>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Picks a workshop by objective</a:t>
            </a:r>
            <a:endParaRPr lang="en-US" sz="1200" dirty="0"/>
          </a:p>
        </p:txBody>
      </p:sp>
      <p:sp>
        <p:nvSpPr>
          <p:cNvPr id="18" name="Shape 16"/>
          <p:cNvSpPr/>
          <p:nvPr/>
        </p:nvSpPr>
        <p:spPr>
          <a:xfrm>
            <a:off x="3403600" y="2743597"/>
            <a:ext cx="3048000" cy="165100"/>
          </a:xfrm>
          <a:prstGeom prst="roundRect">
            <a:avLst>
              <a:gd name="adj" fmla="val 50000"/>
            </a:avLst>
          </a:prstGeom>
          <a:solidFill>
            <a:srgbClr val="D3DCDA"/>
          </a:solidFill>
          <a:ln/>
        </p:spPr>
      </p:sp>
      <p:sp>
        <p:nvSpPr>
          <p:cNvPr id="19" name="Shape 17"/>
          <p:cNvSpPr/>
          <p:nvPr/>
        </p:nvSpPr>
        <p:spPr>
          <a:xfrm>
            <a:off x="3403600" y="2743597"/>
            <a:ext cx="2286000" cy="165100"/>
          </a:xfrm>
          <a:custGeom>
            <a:avLst/>
            <a:gdLst/>
            <a:ahLst/>
            <a:cxnLst/>
            <a:rect l="l" t="t" r="r" b="b"/>
            <a:pathLst>
              <a:path w="2286000" h="165100">
                <a:moveTo>
                  <a:pt x="0" y="82550"/>
                </a:moveTo>
                <a:arcTo hR="82550" wR="82550" stAng="10800000" swAng="5400000"/>
                <a:lnTo>
                  <a:pt x="2286000" y="0"/>
                </a:lnTo>
                <a:lnTo>
                  <a:pt x="2286000" y="165100"/>
                </a:lnTo>
                <a:lnTo>
                  <a:pt x="82550" y="165100"/>
                </a:lnTo>
                <a:arcTo hR="82550" wR="82550" stAng="5400000" swAng="5400000"/>
                <a:close/>
              </a:path>
            </a:pathLst>
          </a:custGeom>
          <a:solidFill>
            <a:srgbClr val="B07A2A"/>
          </a:solidFill>
          <a:ln/>
        </p:spPr>
      </p:sp>
      <p:sp>
        <p:nvSpPr>
          <p:cNvPr id="20" name="Text 18"/>
          <p:cNvSpPr/>
          <p:nvPr/>
        </p:nvSpPr>
        <p:spPr>
          <a:xfrm>
            <a:off x="6527800" y="2719487"/>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3 of 4</a:t>
            </a:r>
            <a:endParaRPr lang="en-US" sz="1200" dirty="0"/>
          </a:p>
        </p:txBody>
      </p:sp>
      <p:sp>
        <p:nvSpPr>
          <p:cNvPr id="21" name="Text 19"/>
          <p:cNvSpPr/>
          <p:nvPr/>
        </p:nvSpPr>
        <p:spPr>
          <a:xfrm>
            <a:off x="609600" y="3124597"/>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Chat understanding</a:t>
            </a:r>
            <a:endParaRPr lang="en-US" sz="1300" dirty="0"/>
          </a:p>
        </p:txBody>
      </p:sp>
      <p:sp>
        <p:nvSpPr>
          <p:cNvPr id="22" name="Text 20"/>
          <p:cNvSpPr/>
          <p:nvPr/>
        </p:nvSpPr>
        <p:spPr>
          <a:xfrm>
            <a:off x="609600" y="3355727"/>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LLM reads; Python checks</a:t>
            </a:r>
            <a:endParaRPr lang="en-US" sz="1200" dirty="0"/>
          </a:p>
        </p:txBody>
      </p:sp>
      <p:sp>
        <p:nvSpPr>
          <p:cNvPr id="23" name="Shape 21"/>
          <p:cNvSpPr/>
          <p:nvPr/>
        </p:nvSpPr>
        <p:spPr>
          <a:xfrm>
            <a:off x="3403600" y="3264247"/>
            <a:ext cx="3048000" cy="165100"/>
          </a:xfrm>
          <a:prstGeom prst="roundRect">
            <a:avLst>
              <a:gd name="adj" fmla="val 50000"/>
            </a:avLst>
          </a:prstGeom>
          <a:solidFill>
            <a:srgbClr val="D3DCDA"/>
          </a:solidFill>
          <a:ln/>
        </p:spPr>
      </p:sp>
      <p:sp>
        <p:nvSpPr>
          <p:cNvPr id="24" name="Shape 22"/>
          <p:cNvSpPr/>
          <p:nvPr/>
        </p:nvSpPr>
        <p:spPr>
          <a:xfrm>
            <a:off x="3403600" y="3264247"/>
            <a:ext cx="2032000" cy="165100"/>
          </a:xfrm>
          <a:custGeom>
            <a:avLst/>
            <a:gdLst/>
            <a:ahLst/>
            <a:cxnLst/>
            <a:rect l="l" t="t" r="r" b="b"/>
            <a:pathLst>
              <a:path w="2032000" h="165100">
                <a:moveTo>
                  <a:pt x="0" y="82550"/>
                </a:moveTo>
                <a:arcTo hR="82550" wR="82550" stAng="10800000" swAng="5400000"/>
                <a:lnTo>
                  <a:pt x="2032000" y="0"/>
                </a:lnTo>
                <a:lnTo>
                  <a:pt x="2032000" y="165100"/>
                </a:lnTo>
                <a:lnTo>
                  <a:pt x="82550" y="165100"/>
                </a:lnTo>
                <a:arcTo hR="82550" wR="82550" stAng="5400000" swAng="5400000"/>
                <a:close/>
              </a:path>
            </a:pathLst>
          </a:custGeom>
          <a:solidFill>
            <a:srgbClr val="B07A2A"/>
          </a:solidFill>
          <a:ln/>
        </p:spPr>
      </p:sp>
      <p:sp>
        <p:nvSpPr>
          <p:cNvPr id="25" name="Text 23"/>
          <p:cNvSpPr/>
          <p:nvPr/>
        </p:nvSpPr>
        <p:spPr>
          <a:xfrm>
            <a:off x="6527800" y="3240137"/>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4 of 6</a:t>
            </a:r>
            <a:endParaRPr lang="en-US" sz="1200" dirty="0"/>
          </a:p>
        </p:txBody>
      </p:sp>
      <p:sp>
        <p:nvSpPr>
          <p:cNvPr id="26" name="Text 24"/>
          <p:cNvSpPr/>
          <p:nvPr/>
        </p:nvSpPr>
        <p:spPr>
          <a:xfrm>
            <a:off x="609600" y="3645247"/>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Deployment</a:t>
            </a:r>
            <a:endParaRPr lang="en-US" sz="1300" dirty="0"/>
          </a:p>
        </p:txBody>
      </p:sp>
      <p:sp>
        <p:nvSpPr>
          <p:cNvPr id="27" name="Text 25"/>
          <p:cNvSpPr/>
          <p:nvPr/>
        </p:nvSpPr>
        <p:spPr>
          <a:xfrm>
            <a:off x="609600" y="3876377"/>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Public demo and GitHub</a:t>
            </a:r>
            <a:endParaRPr lang="en-US" sz="1200" dirty="0"/>
          </a:p>
        </p:txBody>
      </p:sp>
      <p:sp>
        <p:nvSpPr>
          <p:cNvPr id="28" name="Shape 26"/>
          <p:cNvSpPr/>
          <p:nvPr/>
        </p:nvSpPr>
        <p:spPr>
          <a:xfrm>
            <a:off x="3403600" y="3784898"/>
            <a:ext cx="3048000" cy="165100"/>
          </a:xfrm>
          <a:prstGeom prst="roundRect">
            <a:avLst>
              <a:gd name="adj" fmla="val 50000"/>
            </a:avLst>
          </a:prstGeom>
          <a:solidFill>
            <a:srgbClr val="D3DCDA"/>
          </a:solidFill>
          <a:ln/>
        </p:spPr>
      </p:sp>
      <p:sp>
        <p:nvSpPr>
          <p:cNvPr id="29" name="Shape 27"/>
          <p:cNvSpPr/>
          <p:nvPr/>
        </p:nvSpPr>
        <p:spPr>
          <a:xfrm>
            <a:off x="3403600" y="3784898"/>
            <a:ext cx="762000" cy="165100"/>
          </a:xfrm>
          <a:custGeom>
            <a:avLst/>
            <a:gdLst/>
            <a:ahLst/>
            <a:cxnLst/>
            <a:rect l="l" t="t" r="r" b="b"/>
            <a:pathLst>
              <a:path w="762000" h="165100">
                <a:moveTo>
                  <a:pt x="0" y="82550"/>
                </a:moveTo>
                <a:arcTo hR="82550" wR="82550" stAng="10800000" swAng="5400000"/>
                <a:lnTo>
                  <a:pt x="762000" y="0"/>
                </a:lnTo>
                <a:lnTo>
                  <a:pt x="762000" y="165100"/>
                </a:lnTo>
                <a:lnTo>
                  <a:pt x="82550" y="165100"/>
                </a:lnTo>
                <a:arcTo hR="82550" wR="82550" stAng="5400000" swAng="5400000"/>
                <a:close/>
              </a:path>
            </a:pathLst>
          </a:custGeom>
          <a:solidFill>
            <a:srgbClr val="B07A2A"/>
          </a:solidFill>
          <a:ln/>
        </p:spPr>
      </p:sp>
      <p:sp>
        <p:nvSpPr>
          <p:cNvPr id="30" name="Text 28"/>
          <p:cNvSpPr/>
          <p:nvPr/>
        </p:nvSpPr>
        <p:spPr>
          <a:xfrm>
            <a:off x="6527800" y="3760788"/>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1 of 4</a:t>
            </a:r>
            <a:endParaRPr lang="en-US" sz="1200" dirty="0"/>
          </a:p>
        </p:txBody>
      </p:sp>
      <p:sp>
        <p:nvSpPr>
          <p:cNvPr id="31" name="Text 29"/>
          <p:cNvSpPr/>
          <p:nvPr/>
        </p:nvSpPr>
        <p:spPr>
          <a:xfrm>
            <a:off x="609600" y="4165898"/>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Dispatcher app</a:t>
            </a:r>
            <a:endParaRPr lang="en-US" sz="1300" dirty="0"/>
          </a:p>
        </p:txBody>
      </p:sp>
      <p:sp>
        <p:nvSpPr>
          <p:cNvPr id="32" name="Text 30"/>
          <p:cNvSpPr/>
          <p:nvPr/>
        </p:nvSpPr>
        <p:spPr>
          <a:xfrm>
            <a:off x="609600" y="4397028"/>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The dispatcher's screen</a:t>
            </a:r>
            <a:endParaRPr lang="en-US" sz="1200" dirty="0"/>
          </a:p>
        </p:txBody>
      </p:sp>
      <p:sp>
        <p:nvSpPr>
          <p:cNvPr id="33" name="Shape 31"/>
          <p:cNvSpPr/>
          <p:nvPr/>
        </p:nvSpPr>
        <p:spPr>
          <a:xfrm>
            <a:off x="3409950" y="4311898"/>
            <a:ext cx="3035300" cy="152400"/>
          </a:xfrm>
          <a:prstGeom prst="roundRect">
            <a:avLst>
              <a:gd name="adj" fmla="val 50000"/>
            </a:avLst>
          </a:prstGeom>
          <a:solidFill>
            <a:srgbClr val="E4E9E8"/>
          </a:solidFill>
          <a:ln w="12700">
            <a:solidFill>
              <a:srgbClr val="9BBBB7"/>
            </a:solidFill>
            <a:prstDash val="dash"/>
          </a:ln>
        </p:spPr>
      </p:sp>
      <p:sp>
        <p:nvSpPr>
          <p:cNvPr id="34" name="Text 32"/>
          <p:cNvSpPr/>
          <p:nvPr/>
        </p:nvSpPr>
        <p:spPr>
          <a:xfrm>
            <a:off x="6527800" y="4281438"/>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E6A6B"/>
                </a:solidFill>
                <a:latin typeface="Hanken Grotesk" pitchFamily="34" charset="0"/>
                <a:ea typeface="Hanken Grotesk" pitchFamily="34" charset="-122"/>
                <a:cs typeface="Hanken Grotesk" pitchFamily="34" charset="-120"/>
              </a:rPr>
              <a:t>0 of 6</a:t>
            </a:r>
            <a:endParaRPr lang="en-US" sz="1200" dirty="0"/>
          </a:p>
        </p:txBody>
      </p:sp>
      <p:sp>
        <p:nvSpPr>
          <p:cNvPr id="35" name="Text 33"/>
          <p:cNvSpPr/>
          <p:nvPr/>
        </p:nvSpPr>
        <p:spPr>
          <a:xfrm>
            <a:off x="609600" y="4686548"/>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Test A · simulator</a:t>
            </a:r>
            <a:endParaRPr lang="en-US" sz="1300" dirty="0"/>
          </a:p>
        </p:txBody>
      </p:sp>
      <p:sp>
        <p:nvSpPr>
          <p:cNvPr id="36" name="Text 34"/>
          <p:cNvSpPr/>
          <p:nvPr/>
        </p:nvSpPr>
        <p:spPr>
          <a:xfrm>
            <a:off x="609600" y="4917678"/>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Are the decisions good?</a:t>
            </a:r>
            <a:endParaRPr lang="en-US" sz="1200" dirty="0"/>
          </a:p>
        </p:txBody>
      </p:sp>
      <p:sp>
        <p:nvSpPr>
          <p:cNvPr id="37" name="Shape 35"/>
          <p:cNvSpPr/>
          <p:nvPr/>
        </p:nvSpPr>
        <p:spPr>
          <a:xfrm>
            <a:off x="3409950" y="4832548"/>
            <a:ext cx="3035300" cy="152400"/>
          </a:xfrm>
          <a:prstGeom prst="roundRect">
            <a:avLst>
              <a:gd name="adj" fmla="val 50000"/>
            </a:avLst>
          </a:prstGeom>
          <a:solidFill>
            <a:srgbClr val="E4E9E8"/>
          </a:solidFill>
          <a:ln w="12700">
            <a:solidFill>
              <a:srgbClr val="9BBBB7"/>
            </a:solidFill>
            <a:prstDash val="dash"/>
          </a:ln>
        </p:spPr>
      </p:sp>
      <p:sp>
        <p:nvSpPr>
          <p:cNvPr id="38" name="Text 36"/>
          <p:cNvSpPr/>
          <p:nvPr/>
        </p:nvSpPr>
        <p:spPr>
          <a:xfrm>
            <a:off x="6527800" y="4802088"/>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E6A6B"/>
                </a:solidFill>
                <a:latin typeface="Hanken Grotesk" pitchFamily="34" charset="0"/>
                <a:ea typeface="Hanken Grotesk" pitchFamily="34" charset="-122"/>
                <a:cs typeface="Hanken Grotesk" pitchFamily="34" charset="-120"/>
              </a:rPr>
              <a:t>0 of 5</a:t>
            </a:r>
            <a:endParaRPr lang="en-US" sz="1200" dirty="0"/>
          </a:p>
        </p:txBody>
      </p:sp>
      <p:sp>
        <p:nvSpPr>
          <p:cNvPr id="39" name="Text 37"/>
          <p:cNvSpPr/>
          <p:nvPr/>
        </p:nvSpPr>
        <p:spPr>
          <a:xfrm>
            <a:off x="609600" y="5207198"/>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Test B · chat inbox</a:t>
            </a:r>
            <a:endParaRPr lang="en-US" sz="1300" dirty="0"/>
          </a:p>
        </p:txBody>
      </p:sp>
      <p:sp>
        <p:nvSpPr>
          <p:cNvPr id="40" name="Text 38"/>
          <p:cNvSpPr/>
          <p:nvPr/>
        </p:nvSpPr>
        <p:spPr>
          <a:xfrm>
            <a:off x="609600" y="5438329"/>
            <a:ext cx="2747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Does it understand requests?</a:t>
            </a:r>
            <a:endParaRPr lang="en-US" sz="1200" dirty="0"/>
          </a:p>
        </p:txBody>
      </p:sp>
      <p:sp>
        <p:nvSpPr>
          <p:cNvPr id="41" name="Shape 39"/>
          <p:cNvSpPr/>
          <p:nvPr/>
        </p:nvSpPr>
        <p:spPr>
          <a:xfrm>
            <a:off x="3409950" y="5353199"/>
            <a:ext cx="3035300" cy="152400"/>
          </a:xfrm>
          <a:prstGeom prst="roundRect">
            <a:avLst>
              <a:gd name="adj" fmla="val 50000"/>
            </a:avLst>
          </a:prstGeom>
          <a:solidFill>
            <a:srgbClr val="E4E9E8"/>
          </a:solidFill>
          <a:ln w="12700">
            <a:solidFill>
              <a:srgbClr val="9BBBB7"/>
            </a:solidFill>
            <a:prstDash val="dash"/>
          </a:ln>
        </p:spPr>
      </p:sp>
      <p:sp>
        <p:nvSpPr>
          <p:cNvPr id="42" name="Text 40"/>
          <p:cNvSpPr/>
          <p:nvPr/>
        </p:nvSpPr>
        <p:spPr>
          <a:xfrm>
            <a:off x="6527800" y="5322739"/>
            <a:ext cx="939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E6A6B"/>
                </a:solidFill>
                <a:latin typeface="Hanken Grotesk" pitchFamily="34" charset="0"/>
                <a:ea typeface="Hanken Grotesk" pitchFamily="34" charset="-122"/>
                <a:cs typeface="Hanken Grotesk" pitchFamily="34" charset="-120"/>
              </a:rPr>
              <a:t>0 of 7</a:t>
            </a:r>
            <a:endParaRPr lang="en-US" sz="1200" dirty="0"/>
          </a:p>
        </p:txBody>
      </p:sp>
      <p:sp>
        <p:nvSpPr>
          <p:cNvPr id="43" name="Shape 41"/>
          <p:cNvSpPr/>
          <p:nvPr/>
        </p:nvSpPr>
        <p:spPr>
          <a:xfrm>
            <a:off x="7826375" y="1276300"/>
            <a:ext cx="3752850" cy="1001911"/>
          </a:xfrm>
          <a:prstGeom prst="roundRect">
            <a:avLst>
              <a:gd name="adj" fmla="val 9824"/>
            </a:avLst>
          </a:prstGeom>
          <a:solidFill>
            <a:srgbClr val="F7F8F8"/>
          </a:solidFill>
          <a:ln w="6350">
            <a:solidFill>
              <a:srgbClr val="D3DCDA"/>
            </a:solidFill>
            <a:prstDash val="solid"/>
          </a:ln>
        </p:spPr>
      </p:sp>
      <p:sp>
        <p:nvSpPr>
          <p:cNvPr id="44" name="Text 42"/>
          <p:cNvSpPr/>
          <p:nvPr/>
        </p:nvSpPr>
        <p:spPr>
          <a:xfrm>
            <a:off x="7969250" y="1393775"/>
            <a:ext cx="35711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268"/>
                </a:solidFill>
                <a:latin typeface="Hanken Grotesk" pitchFamily="34" charset="0"/>
                <a:ea typeface="Hanken Grotesk" pitchFamily="34" charset="-122"/>
                <a:cs typeface="Hanken Grotesk" pitchFamily="34" charset="-120"/>
              </a:rPr>
              <a:t>DONE</a:t>
            </a:r>
            <a:endParaRPr lang="en-US" sz="1200" dirty="0"/>
          </a:p>
        </p:txBody>
      </p:sp>
      <p:sp>
        <p:nvSpPr>
          <p:cNvPr id="45" name="Text 43"/>
          <p:cNvSpPr/>
          <p:nvPr/>
        </p:nvSpPr>
        <p:spPr>
          <a:xfrm>
            <a:off x="7969250" y="1670596"/>
            <a:ext cx="35711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Plan, objective and architecture</a:t>
            </a:r>
            <a:endParaRPr lang="en-US" sz="1200" dirty="0"/>
          </a:p>
        </p:txBody>
      </p:sp>
      <p:sp>
        <p:nvSpPr>
          <p:cNvPr id="46" name="Text 44"/>
          <p:cNvSpPr/>
          <p:nvPr/>
        </p:nvSpPr>
        <p:spPr>
          <a:xfrm>
            <a:off x="7969250" y="1947416"/>
            <a:ext cx="35711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Calculation tools, unit-tested</a:t>
            </a:r>
            <a:endParaRPr lang="en-US" sz="1200" dirty="0"/>
          </a:p>
        </p:txBody>
      </p:sp>
      <p:sp>
        <p:nvSpPr>
          <p:cNvPr id="47" name="Shape 45"/>
          <p:cNvSpPr/>
          <p:nvPr/>
        </p:nvSpPr>
        <p:spPr>
          <a:xfrm>
            <a:off x="7826375" y="2373461"/>
            <a:ext cx="3752850" cy="1001911"/>
          </a:xfrm>
          <a:prstGeom prst="roundRect">
            <a:avLst>
              <a:gd name="adj" fmla="val 9824"/>
            </a:avLst>
          </a:prstGeom>
          <a:solidFill>
            <a:srgbClr val="F7F8F8"/>
          </a:solidFill>
          <a:ln w="6350">
            <a:solidFill>
              <a:srgbClr val="D3DCDA"/>
            </a:solidFill>
            <a:prstDash val="solid"/>
          </a:ln>
        </p:spPr>
      </p:sp>
      <p:sp>
        <p:nvSpPr>
          <p:cNvPr id="48" name="Text 46"/>
          <p:cNvSpPr/>
          <p:nvPr/>
        </p:nvSpPr>
        <p:spPr>
          <a:xfrm>
            <a:off x="7969250" y="2490936"/>
            <a:ext cx="35711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STARTED</a:t>
            </a:r>
            <a:endParaRPr lang="en-US" sz="1200" dirty="0"/>
          </a:p>
        </p:txBody>
      </p:sp>
      <p:sp>
        <p:nvSpPr>
          <p:cNvPr id="49" name="Text 47"/>
          <p:cNvSpPr/>
          <p:nvPr/>
        </p:nvSpPr>
        <p:spPr>
          <a:xfrm>
            <a:off x="7969250" y="2767757"/>
            <a:ext cx="35711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Allocator and chat understanding</a:t>
            </a:r>
            <a:endParaRPr lang="en-US" sz="1200" dirty="0"/>
          </a:p>
        </p:txBody>
      </p:sp>
      <p:sp>
        <p:nvSpPr>
          <p:cNvPr id="50" name="Text 48"/>
          <p:cNvSpPr/>
          <p:nvPr/>
        </p:nvSpPr>
        <p:spPr>
          <a:xfrm>
            <a:off x="7969250" y="3044577"/>
            <a:ext cx="35711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Clean code and README</a:t>
            </a:r>
            <a:endParaRPr lang="en-US" sz="1200" dirty="0"/>
          </a:p>
        </p:txBody>
      </p:sp>
      <p:sp>
        <p:nvSpPr>
          <p:cNvPr id="51" name="Shape 49"/>
          <p:cNvSpPr/>
          <p:nvPr/>
        </p:nvSpPr>
        <p:spPr>
          <a:xfrm>
            <a:off x="7826375" y="3470622"/>
            <a:ext cx="3752850" cy="1001911"/>
          </a:xfrm>
          <a:prstGeom prst="roundRect">
            <a:avLst>
              <a:gd name="adj" fmla="val 9824"/>
            </a:avLst>
          </a:prstGeom>
          <a:solidFill>
            <a:srgbClr val="F7F8F8"/>
          </a:solidFill>
          <a:ln w="6350">
            <a:solidFill>
              <a:srgbClr val="9BBBB7"/>
            </a:solidFill>
            <a:prstDash val="dash"/>
          </a:ln>
        </p:spPr>
      </p:sp>
      <p:sp>
        <p:nvSpPr>
          <p:cNvPr id="52" name="Text 50"/>
          <p:cNvSpPr/>
          <p:nvPr/>
        </p:nvSpPr>
        <p:spPr>
          <a:xfrm>
            <a:off x="7969250" y="3588097"/>
            <a:ext cx="35711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A6B"/>
                </a:solidFill>
                <a:latin typeface="Hanken Grotesk" pitchFamily="34" charset="0"/>
                <a:ea typeface="Hanken Grotesk" pitchFamily="34" charset="-122"/>
                <a:cs typeface="Hanken Grotesk" pitchFamily="34" charset="-120"/>
              </a:rPr>
              <a:t>SPRINT 2</a:t>
            </a:r>
            <a:endParaRPr lang="en-US" sz="1200" dirty="0"/>
          </a:p>
        </p:txBody>
      </p:sp>
      <p:sp>
        <p:nvSpPr>
          <p:cNvPr id="53" name="Text 51"/>
          <p:cNvSpPr/>
          <p:nvPr/>
        </p:nvSpPr>
        <p:spPr>
          <a:xfrm>
            <a:off x="7969250" y="3864918"/>
            <a:ext cx="35711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The dispatcher app</a:t>
            </a:r>
            <a:endParaRPr lang="en-US" sz="1200" dirty="0"/>
          </a:p>
        </p:txBody>
      </p:sp>
      <p:sp>
        <p:nvSpPr>
          <p:cNvPr id="54" name="Text 52"/>
          <p:cNvSpPr/>
          <p:nvPr/>
        </p:nvSpPr>
        <p:spPr>
          <a:xfrm>
            <a:off x="7969250" y="4141738"/>
            <a:ext cx="35711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Both tests: simulator and chat</a:t>
            </a:r>
            <a:endParaRPr lang="en-US" sz="1200" dirty="0"/>
          </a:p>
        </p:txBody>
      </p:sp>
      <p:sp>
        <p:nvSpPr>
          <p:cNvPr id="55" name="Shape 53"/>
          <p:cNvSpPr/>
          <p:nvPr/>
        </p:nvSpPr>
        <p:spPr>
          <a:xfrm>
            <a:off x="609600" y="6140450"/>
            <a:ext cx="10972800" cy="6350"/>
          </a:xfrm>
          <a:prstGeom prst="rect">
            <a:avLst/>
          </a:prstGeom>
          <a:solidFill>
            <a:srgbClr val="C9D4D2"/>
          </a:solidFill>
          <a:ln/>
        </p:spPr>
      </p:sp>
      <p:sp>
        <p:nvSpPr>
          <p:cNvPr id="56" name="Text 54"/>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57" name="Text 55"/>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06 · RISK ASSESSMENT</a:t>
            </a:r>
            <a:endParaRPr lang="en-US" sz="1200" dirty="0"/>
          </a:p>
        </p:txBody>
      </p:sp>
      <p:sp>
        <p:nvSpPr>
          <p:cNvPr id="3" name="Text 1"/>
          <p:cNvSpPr/>
          <p:nvPr>
            <p:ph type="title"/>
          </p:nvPr>
        </p:nvSpPr>
        <p:spPr>
          <a:xfrm>
            <a:off x="609600" y="734020"/>
            <a:ext cx="11301984"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What could go wrong, and how we handle it</a:t>
            </a:r>
            <a:endParaRPr lang="en-US" sz="2300" dirty="0"/>
          </a:p>
        </p:txBody>
      </p:sp>
      <p:sp>
        <p:nvSpPr>
          <p:cNvPr id="4" name="Text 2"/>
          <p:cNvSpPr/>
          <p:nvPr/>
        </p:nvSpPr>
        <p:spPr>
          <a:xfrm>
            <a:off x="762000" y="1273125"/>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9868D"/>
                </a:solidFill>
                <a:latin typeface="Hanken Grotesk" pitchFamily="34" charset="0"/>
                <a:ea typeface="Hanken Grotesk" pitchFamily="34" charset="-122"/>
                <a:cs typeface="Hanken Grotesk" pitchFamily="34" charset="-120"/>
              </a:rPr>
              <a:t>RISK</a:t>
            </a:r>
            <a:endParaRPr lang="en-US" sz="1200" dirty="0"/>
          </a:p>
        </p:txBody>
      </p:sp>
      <p:sp>
        <p:nvSpPr>
          <p:cNvPr id="5" name="Text 3"/>
          <p:cNvSpPr/>
          <p:nvPr/>
        </p:nvSpPr>
        <p:spPr>
          <a:xfrm>
            <a:off x="5308600" y="1273125"/>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9868D"/>
                </a:solidFill>
                <a:latin typeface="Hanken Grotesk" pitchFamily="34" charset="0"/>
                <a:ea typeface="Hanken Grotesk" pitchFamily="34" charset="-122"/>
                <a:cs typeface="Hanken Grotesk" pitchFamily="34" charset="-120"/>
              </a:rPr>
              <a:t>MITIGATION</a:t>
            </a:r>
            <a:endParaRPr lang="en-US" sz="1200" dirty="0"/>
          </a:p>
        </p:txBody>
      </p:sp>
      <p:sp>
        <p:nvSpPr>
          <p:cNvPr id="6" name="Text 4"/>
          <p:cNvSpPr/>
          <p:nvPr/>
        </p:nvSpPr>
        <p:spPr>
          <a:xfrm>
            <a:off x="9525000" y="1273125"/>
            <a:ext cx="939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Likelihood</a:t>
            </a:r>
            <a:endParaRPr lang="en-US" sz="1200" dirty="0"/>
          </a:p>
        </p:txBody>
      </p:sp>
      <p:sp>
        <p:nvSpPr>
          <p:cNvPr id="7" name="Text 5"/>
          <p:cNvSpPr/>
          <p:nvPr/>
        </p:nvSpPr>
        <p:spPr>
          <a:xfrm>
            <a:off x="10515600" y="1273125"/>
            <a:ext cx="939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Impact</a:t>
            </a:r>
            <a:endParaRPr lang="en-US" sz="1200" dirty="0"/>
          </a:p>
        </p:txBody>
      </p:sp>
      <p:sp>
        <p:nvSpPr>
          <p:cNvPr id="8" name="Shape 6"/>
          <p:cNvSpPr/>
          <p:nvPr/>
        </p:nvSpPr>
        <p:spPr>
          <a:xfrm>
            <a:off x="612775" y="1565821"/>
            <a:ext cx="10966450" cy="473670"/>
          </a:xfrm>
          <a:prstGeom prst="roundRect">
            <a:avLst>
              <a:gd name="adj" fmla="val 20779"/>
            </a:avLst>
          </a:prstGeom>
          <a:solidFill>
            <a:srgbClr val="F7F8F8"/>
          </a:solidFill>
          <a:ln w="6350">
            <a:solidFill>
              <a:srgbClr val="D3DCDA"/>
            </a:solidFill>
            <a:prstDash val="solid"/>
          </a:ln>
        </p:spPr>
      </p:sp>
      <p:sp>
        <p:nvSpPr>
          <p:cNvPr id="9" name="Text 7"/>
          <p:cNvSpPr/>
          <p:nvPr/>
        </p:nvSpPr>
        <p:spPr>
          <a:xfrm>
            <a:off x="768350" y="1687066"/>
            <a:ext cx="45783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The LLM misreads a chat request</a:t>
            </a:r>
            <a:endParaRPr lang="en-US" sz="1300" dirty="0"/>
          </a:p>
        </p:txBody>
      </p:sp>
      <p:sp>
        <p:nvSpPr>
          <p:cNvPr id="10" name="Text 8"/>
          <p:cNvSpPr/>
          <p:nvPr/>
        </p:nvSpPr>
        <p:spPr>
          <a:xfrm>
            <a:off x="5314950" y="1695996"/>
            <a:ext cx="4251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Strict JSON schema; Python re-checks every field</a:t>
            </a:r>
            <a:endParaRPr lang="en-US" sz="1200" dirty="0"/>
          </a:p>
        </p:txBody>
      </p:sp>
      <p:sp>
        <p:nvSpPr>
          <p:cNvPr id="11" name="Text 9"/>
          <p:cNvSpPr/>
          <p:nvPr/>
        </p:nvSpPr>
        <p:spPr>
          <a:xfrm>
            <a:off x="9719915" y="1670596"/>
            <a:ext cx="537220" cy="264120"/>
          </a:xfrm>
          <a:custGeom>
            <a:avLst/>
            <a:gdLst/>
            <a:ahLst/>
            <a:cxnLst/>
            <a:rect l="l" t="t" r="r" b="b"/>
            <a:pathLst>
              <a:path w="537220" h="264120">
                <a:moveTo>
                  <a:pt x="132060" y="0"/>
                </a:moveTo>
                <a:lnTo>
                  <a:pt x="405160" y="0"/>
                </a:lnTo>
                <a:arcTo hR="132060" wR="132060" stAng="16200000" swAng="5400000"/>
                <a:lnTo>
                  <a:pt x="537220" y="132060"/>
                </a:lnTo>
                <a:arcTo hR="132060" wR="132060" stAng="0" swAng="5400000"/>
                <a:lnTo>
                  <a:pt x="132060" y="264120"/>
                </a:lnTo>
                <a:arcTo hR="132060" wR="132060" stAng="5400000" swAng="5400000"/>
                <a:lnTo>
                  <a:pt x="0" y="132060"/>
                </a:lnTo>
                <a:arcTo hR="132060" wR="132060" stAng="10800000" swAng="5400000"/>
                <a:close/>
              </a:path>
            </a:pathLst>
          </a:custGeom>
          <a:solidFill>
            <a:srgbClr val="F2DEDB"/>
          </a:solidFill>
          <a:ln/>
        </p:spPr>
        <p:txBody>
          <a:bodyPr wrap="none" lIns="0" tIns="0" rIns="0" bIns="0" rtlCol="0" anchor="ctr">
            <a:normAutofit/>
          </a:bodyPr>
          <a:lstStyle/>
          <a:p>
            <a:pPr algn="ctr" indent="0" marL="0">
              <a:lnSpc>
                <a:spcPts val="1680"/>
              </a:lnSpc>
              <a:buNone/>
            </a:pPr>
            <a:r>
              <a:rPr lang="en-US" sz="1200" b="1" dirty="0">
                <a:solidFill>
                  <a:srgbClr val="9A3A35"/>
                </a:solidFill>
                <a:latin typeface="Hanken Grotesk" pitchFamily="34" charset="0"/>
                <a:ea typeface="Hanken Grotesk" pitchFamily="34" charset="-122"/>
                <a:cs typeface="Hanken Grotesk" pitchFamily="34" charset="-120"/>
              </a:rPr>
              <a:t>High</a:t>
            </a:r>
            <a:endParaRPr lang="en-US" sz="1200" dirty="0"/>
          </a:p>
        </p:txBody>
      </p:sp>
      <p:sp>
        <p:nvSpPr>
          <p:cNvPr id="12" name="Text 10"/>
          <p:cNvSpPr/>
          <p:nvPr/>
        </p:nvSpPr>
        <p:spPr>
          <a:xfrm>
            <a:off x="10710515" y="1670596"/>
            <a:ext cx="537220" cy="264120"/>
          </a:xfrm>
          <a:custGeom>
            <a:avLst/>
            <a:gdLst/>
            <a:ahLst/>
            <a:cxnLst/>
            <a:rect l="l" t="t" r="r" b="b"/>
            <a:pathLst>
              <a:path w="537220" h="264120">
                <a:moveTo>
                  <a:pt x="132060" y="0"/>
                </a:moveTo>
                <a:lnTo>
                  <a:pt x="405160" y="0"/>
                </a:lnTo>
                <a:arcTo hR="132060" wR="132060" stAng="16200000" swAng="5400000"/>
                <a:lnTo>
                  <a:pt x="537220" y="132060"/>
                </a:lnTo>
                <a:arcTo hR="132060" wR="132060" stAng="0" swAng="5400000"/>
                <a:lnTo>
                  <a:pt x="132060" y="264120"/>
                </a:lnTo>
                <a:arcTo hR="132060" wR="132060" stAng="5400000" swAng="5400000"/>
                <a:lnTo>
                  <a:pt x="0" y="132060"/>
                </a:lnTo>
                <a:arcTo hR="132060" wR="132060" stAng="10800000" swAng="5400000"/>
                <a:close/>
              </a:path>
            </a:pathLst>
          </a:custGeom>
          <a:solidFill>
            <a:srgbClr val="F2DEDB"/>
          </a:solidFill>
          <a:ln/>
        </p:spPr>
        <p:txBody>
          <a:bodyPr wrap="none" lIns="0" tIns="0" rIns="0" bIns="0" rtlCol="0" anchor="ctr">
            <a:normAutofit/>
          </a:bodyPr>
          <a:lstStyle/>
          <a:p>
            <a:pPr algn="ctr" indent="0" marL="0">
              <a:lnSpc>
                <a:spcPts val="1680"/>
              </a:lnSpc>
              <a:buNone/>
            </a:pPr>
            <a:r>
              <a:rPr lang="en-US" sz="1200" b="1" dirty="0">
                <a:solidFill>
                  <a:srgbClr val="9A3A35"/>
                </a:solidFill>
                <a:latin typeface="Hanken Grotesk" pitchFamily="34" charset="0"/>
                <a:ea typeface="Hanken Grotesk" pitchFamily="34" charset="-122"/>
                <a:cs typeface="Hanken Grotesk" pitchFamily="34" charset="-120"/>
              </a:rPr>
              <a:t>High</a:t>
            </a:r>
            <a:endParaRPr lang="en-US" sz="1200" dirty="0"/>
          </a:p>
        </p:txBody>
      </p:sp>
      <p:sp>
        <p:nvSpPr>
          <p:cNvPr id="13" name="Shape 11"/>
          <p:cNvSpPr/>
          <p:nvPr/>
        </p:nvSpPr>
        <p:spPr>
          <a:xfrm>
            <a:off x="612775" y="2122041"/>
            <a:ext cx="10966450" cy="671810"/>
          </a:xfrm>
          <a:prstGeom prst="roundRect">
            <a:avLst>
              <a:gd name="adj" fmla="val 14651"/>
            </a:avLst>
          </a:prstGeom>
          <a:solidFill>
            <a:srgbClr val="F7F8F8"/>
          </a:solidFill>
          <a:ln w="6350">
            <a:solidFill>
              <a:srgbClr val="D3DCDA"/>
            </a:solidFill>
            <a:prstDash val="solid"/>
          </a:ln>
        </p:spPr>
      </p:sp>
      <p:sp>
        <p:nvSpPr>
          <p:cNvPr id="14" name="Text 12"/>
          <p:cNvSpPr/>
          <p:nvPr/>
        </p:nvSpPr>
        <p:spPr>
          <a:xfrm>
            <a:off x="768350" y="2226816"/>
            <a:ext cx="457835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Evaluation is biased: labels written after the system was built</a:t>
            </a:r>
            <a:endParaRPr lang="en-US" sz="1300" dirty="0"/>
          </a:p>
        </p:txBody>
      </p:sp>
      <p:sp>
        <p:nvSpPr>
          <p:cNvPr id="15" name="Text 13"/>
          <p:cNvSpPr/>
          <p:nvPr/>
        </p:nvSpPr>
        <p:spPr>
          <a:xfrm>
            <a:off x="5314950" y="2244626"/>
            <a:ext cx="42513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Two reviewers label from the source data; 10+ unseen requests scored separately</a:t>
            </a:r>
            <a:endParaRPr lang="en-US" sz="1200" dirty="0"/>
          </a:p>
        </p:txBody>
      </p:sp>
      <p:sp>
        <p:nvSpPr>
          <p:cNvPr id="16" name="Text 14"/>
          <p:cNvSpPr/>
          <p:nvPr/>
        </p:nvSpPr>
        <p:spPr>
          <a:xfrm>
            <a:off x="9598025" y="2325886"/>
            <a:ext cx="781000" cy="264120"/>
          </a:xfrm>
          <a:custGeom>
            <a:avLst/>
            <a:gdLst/>
            <a:ahLst/>
            <a:cxnLst/>
            <a:rect l="l" t="t" r="r" b="b"/>
            <a:pathLst>
              <a:path w="781000" h="264120">
                <a:moveTo>
                  <a:pt x="132060" y="0"/>
                </a:moveTo>
                <a:lnTo>
                  <a:pt x="648940" y="0"/>
                </a:lnTo>
                <a:arcTo hR="132060" wR="132060" stAng="16200000" swAng="5400000"/>
                <a:lnTo>
                  <a:pt x="7810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Medium</a:t>
            </a:r>
            <a:endParaRPr lang="en-US" sz="1200" dirty="0"/>
          </a:p>
        </p:txBody>
      </p:sp>
      <p:sp>
        <p:nvSpPr>
          <p:cNvPr id="17" name="Text 15"/>
          <p:cNvSpPr/>
          <p:nvPr/>
        </p:nvSpPr>
        <p:spPr>
          <a:xfrm>
            <a:off x="10710515" y="2325886"/>
            <a:ext cx="537220" cy="264120"/>
          </a:xfrm>
          <a:custGeom>
            <a:avLst/>
            <a:gdLst/>
            <a:ahLst/>
            <a:cxnLst/>
            <a:rect l="l" t="t" r="r" b="b"/>
            <a:pathLst>
              <a:path w="537220" h="264120">
                <a:moveTo>
                  <a:pt x="132060" y="0"/>
                </a:moveTo>
                <a:lnTo>
                  <a:pt x="405160" y="0"/>
                </a:lnTo>
                <a:arcTo hR="132060" wR="132060" stAng="16200000" swAng="5400000"/>
                <a:lnTo>
                  <a:pt x="537220" y="132060"/>
                </a:lnTo>
                <a:arcTo hR="132060" wR="132060" stAng="0" swAng="5400000"/>
                <a:lnTo>
                  <a:pt x="132060" y="264120"/>
                </a:lnTo>
                <a:arcTo hR="132060" wR="132060" stAng="5400000" swAng="5400000"/>
                <a:lnTo>
                  <a:pt x="0" y="132060"/>
                </a:lnTo>
                <a:arcTo hR="132060" wR="132060" stAng="10800000" swAng="5400000"/>
                <a:close/>
              </a:path>
            </a:pathLst>
          </a:custGeom>
          <a:solidFill>
            <a:srgbClr val="F2DEDB"/>
          </a:solidFill>
          <a:ln/>
        </p:spPr>
        <p:txBody>
          <a:bodyPr wrap="none" lIns="0" tIns="0" rIns="0" bIns="0" rtlCol="0" anchor="ctr">
            <a:normAutofit/>
          </a:bodyPr>
          <a:lstStyle/>
          <a:p>
            <a:pPr algn="ctr" indent="0" marL="0">
              <a:lnSpc>
                <a:spcPts val="1680"/>
              </a:lnSpc>
              <a:buNone/>
            </a:pPr>
            <a:r>
              <a:rPr lang="en-US" sz="1200" b="1" dirty="0">
                <a:solidFill>
                  <a:srgbClr val="9A3A35"/>
                </a:solidFill>
                <a:latin typeface="Hanken Grotesk" pitchFamily="34" charset="0"/>
                <a:ea typeface="Hanken Grotesk" pitchFamily="34" charset="-122"/>
                <a:cs typeface="Hanken Grotesk" pitchFamily="34" charset="-120"/>
              </a:rPr>
              <a:t>High</a:t>
            </a:r>
            <a:endParaRPr lang="en-US" sz="1200" dirty="0"/>
          </a:p>
        </p:txBody>
      </p:sp>
      <p:sp>
        <p:nvSpPr>
          <p:cNvPr id="18" name="Shape 16"/>
          <p:cNvSpPr/>
          <p:nvPr/>
        </p:nvSpPr>
        <p:spPr>
          <a:xfrm>
            <a:off x="612775" y="2876401"/>
            <a:ext cx="10966450" cy="636191"/>
          </a:xfrm>
          <a:prstGeom prst="roundRect">
            <a:avLst>
              <a:gd name="adj" fmla="val 15471"/>
            </a:avLst>
          </a:prstGeom>
          <a:solidFill>
            <a:srgbClr val="F7F8F8"/>
          </a:solidFill>
          <a:ln w="6350">
            <a:solidFill>
              <a:srgbClr val="D3DCDA"/>
            </a:solidFill>
            <a:prstDash val="solid"/>
          </a:ln>
        </p:spPr>
      </p:sp>
      <p:sp>
        <p:nvSpPr>
          <p:cNvPr id="19" name="Text 17"/>
          <p:cNvSpPr/>
          <p:nvPr/>
        </p:nvSpPr>
        <p:spPr>
          <a:xfrm>
            <a:off x="768350" y="3078907"/>
            <a:ext cx="45783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An explanation contains an invented number</a:t>
            </a:r>
            <a:endParaRPr lang="en-US" sz="1300" dirty="0"/>
          </a:p>
        </p:txBody>
      </p:sp>
      <p:sp>
        <p:nvSpPr>
          <p:cNvPr id="20" name="Text 18"/>
          <p:cNvSpPr/>
          <p:nvPr/>
        </p:nvSpPr>
        <p:spPr>
          <a:xfrm>
            <a:off x="5314950" y="2981176"/>
            <a:ext cx="42513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Template text; number check blocks any figure not from a tool</a:t>
            </a:r>
            <a:endParaRPr lang="en-US" sz="1200" dirty="0"/>
          </a:p>
        </p:txBody>
      </p:sp>
      <p:sp>
        <p:nvSpPr>
          <p:cNvPr id="21" name="Text 19"/>
          <p:cNvSpPr/>
          <p:nvPr/>
        </p:nvSpPr>
        <p:spPr>
          <a:xfrm>
            <a:off x="9598025" y="3062436"/>
            <a:ext cx="781000" cy="264120"/>
          </a:xfrm>
          <a:custGeom>
            <a:avLst/>
            <a:gdLst/>
            <a:ahLst/>
            <a:cxnLst/>
            <a:rect l="l" t="t" r="r" b="b"/>
            <a:pathLst>
              <a:path w="781000" h="264120">
                <a:moveTo>
                  <a:pt x="132060" y="0"/>
                </a:moveTo>
                <a:lnTo>
                  <a:pt x="648940" y="0"/>
                </a:lnTo>
                <a:arcTo hR="132060" wR="132060" stAng="16200000" swAng="5400000"/>
                <a:lnTo>
                  <a:pt x="7810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Medium</a:t>
            </a:r>
            <a:endParaRPr lang="en-US" sz="1200" dirty="0"/>
          </a:p>
        </p:txBody>
      </p:sp>
      <p:sp>
        <p:nvSpPr>
          <p:cNvPr id="22" name="Text 20"/>
          <p:cNvSpPr/>
          <p:nvPr/>
        </p:nvSpPr>
        <p:spPr>
          <a:xfrm>
            <a:off x="10710515" y="3062436"/>
            <a:ext cx="537220" cy="264120"/>
          </a:xfrm>
          <a:custGeom>
            <a:avLst/>
            <a:gdLst/>
            <a:ahLst/>
            <a:cxnLst/>
            <a:rect l="l" t="t" r="r" b="b"/>
            <a:pathLst>
              <a:path w="537220" h="264120">
                <a:moveTo>
                  <a:pt x="132060" y="0"/>
                </a:moveTo>
                <a:lnTo>
                  <a:pt x="405160" y="0"/>
                </a:lnTo>
                <a:arcTo hR="132060" wR="132060" stAng="16200000" swAng="5400000"/>
                <a:lnTo>
                  <a:pt x="537220" y="132060"/>
                </a:lnTo>
                <a:arcTo hR="132060" wR="132060" stAng="0" swAng="5400000"/>
                <a:lnTo>
                  <a:pt x="132060" y="264120"/>
                </a:lnTo>
                <a:arcTo hR="132060" wR="132060" stAng="5400000" swAng="5400000"/>
                <a:lnTo>
                  <a:pt x="0" y="132060"/>
                </a:lnTo>
                <a:arcTo hR="132060" wR="132060" stAng="10800000" swAng="5400000"/>
                <a:close/>
              </a:path>
            </a:pathLst>
          </a:custGeom>
          <a:solidFill>
            <a:srgbClr val="F2DEDB"/>
          </a:solidFill>
          <a:ln/>
        </p:spPr>
        <p:txBody>
          <a:bodyPr wrap="none" lIns="0" tIns="0" rIns="0" bIns="0" rtlCol="0" anchor="ctr">
            <a:normAutofit/>
          </a:bodyPr>
          <a:lstStyle/>
          <a:p>
            <a:pPr algn="ctr" indent="0" marL="0">
              <a:lnSpc>
                <a:spcPts val="1680"/>
              </a:lnSpc>
              <a:buNone/>
            </a:pPr>
            <a:r>
              <a:rPr lang="en-US" sz="1200" b="1" dirty="0">
                <a:solidFill>
                  <a:srgbClr val="9A3A35"/>
                </a:solidFill>
                <a:latin typeface="Hanken Grotesk" pitchFamily="34" charset="0"/>
                <a:ea typeface="Hanken Grotesk" pitchFamily="34" charset="-122"/>
                <a:cs typeface="Hanken Grotesk" pitchFamily="34" charset="-120"/>
              </a:rPr>
              <a:t>High</a:t>
            </a:r>
            <a:endParaRPr lang="en-US" sz="1200" dirty="0"/>
          </a:p>
        </p:txBody>
      </p:sp>
      <p:sp>
        <p:nvSpPr>
          <p:cNvPr id="23" name="Shape 21"/>
          <p:cNvSpPr/>
          <p:nvPr/>
        </p:nvSpPr>
        <p:spPr>
          <a:xfrm>
            <a:off x="612775" y="3595142"/>
            <a:ext cx="10966450" cy="636191"/>
          </a:xfrm>
          <a:prstGeom prst="roundRect">
            <a:avLst>
              <a:gd name="adj" fmla="val 15471"/>
            </a:avLst>
          </a:prstGeom>
          <a:solidFill>
            <a:srgbClr val="F7F8F8"/>
          </a:solidFill>
          <a:ln w="6350">
            <a:solidFill>
              <a:srgbClr val="D3DCDA"/>
            </a:solidFill>
            <a:prstDash val="solid"/>
          </a:ln>
        </p:spPr>
      </p:sp>
      <p:sp>
        <p:nvSpPr>
          <p:cNvPr id="24" name="Text 22"/>
          <p:cNvSpPr/>
          <p:nvPr/>
        </p:nvSpPr>
        <p:spPr>
          <a:xfrm>
            <a:off x="768350" y="3797647"/>
            <a:ext cx="45783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Simulator assumptions differ from reality</a:t>
            </a:r>
            <a:endParaRPr lang="en-US" sz="1300" dirty="0"/>
          </a:p>
        </p:txBody>
      </p:sp>
      <p:sp>
        <p:nvSpPr>
          <p:cNvPr id="25" name="Text 23"/>
          <p:cNvSpPr/>
          <p:nvPr/>
        </p:nvSpPr>
        <p:spPr>
          <a:xfrm>
            <a:off x="5314950" y="3699917"/>
            <a:ext cx="425132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State each assumption; treat results as a what-if; run the closure test</a:t>
            </a:r>
            <a:endParaRPr lang="en-US" sz="1200" dirty="0"/>
          </a:p>
        </p:txBody>
      </p:sp>
      <p:sp>
        <p:nvSpPr>
          <p:cNvPr id="26" name="Text 24"/>
          <p:cNvSpPr/>
          <p:nvPr/>
        </p:nvSpPr>
        <p:spPr>
          <a:xfrm>
            <a:off x="9598025" y="3781177"/>
            <a:ext cx="781000" cy="264120"/>
          </a:xfrm>
          <a:custGeom>
            <a:avLst/>
            <a:gdLst/>
            <a:ahLst/>
            <a:cxnLst/>
            <a:rect l="l" t="t" r="r" b="b"/>
            <a:pathLst>
              <a:path w="781000" h="264120">
                <a:moveTo>
                  <a:pt x="132060" y="0"/>
                </a:moveTo>
                <a:lnTo>
                  <a:pt x="648940" y="0"/>
                </a:lnTo>
                <a:arcTo hR="132060" wR="132060" stAng="16200000" swAng="5400000"/>
                <a:lnTo>
                  <a:pt x="7810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Medium</a:t>
            </a:r>
            <a:endParaRPr lang="en-US" sz="1200" dirty="0"/>
          </a:p>
        </p:txBody>
      </p:sp>
      <p:sp>
        <p:nvSpPr>
          <p:cNvPr id="27" name="Text 25"/>
          <p:cNvSpPr/>
          <p:nvPr/>
        </p:nvSpPr>
        <p:spPr>
          <a:xfrm>
            <a:off x="10588625" y="3781177"/>
            <a:ext cx="781000" cy="264120"/>
          </a:xfrm>
          <a:custGeom>
            <a:avLst/>
            <a:gdLst/>
            <a:ahLst/>
            <a:cxnLst/>
            <a:rect l="l" t="t" r="r" b="b"/>
            <a:pathLst>
              <a:path w="781000" h="264120">
                <a:moveTo>
                  <a:pt x="132060" y="0"/>
                </a:moveTo>
                <a:lnTo>
                  <a:pt x="648940" y="0"/>
                </a:lnTo>
                <a:arcTo hR="132060" wR="132060" stAng="16200000" swAng="5400000"/>
                <a:lnTo>
                  <a:pt x="7810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Medium</a:t>
            </a:r>
            <a:endParaRPr lang="en-US" sz="1200" dirty="0"/>
          </a:p>
        </p:txBody>
      </p:sp>
      <p:sp>
        <p:nvSpPr>
          <p:cNvPr id="28" name="Shape 26"/>
          <p:cNvSpPr/>
          <p:nvPr/>
        </p:nvSpPr>
        <p:spPr>
          <a:xfrm>
            <a:off x="612775" y="4313882"/>
            <a:ext cx="10966450" cy="473670"/>
          </a:xfrm>
          <a:prstGeom prst="roundRect">
            <a:avLst>
              <a:gd name="adj" fmla="val 20779"/>
            </a:avLst>
          </a:prstGeom>
          <a:solidFill>
            <a:srgbClr val="F7F8F8"/>
          </a:solidFill>
          <a:ln w="6350">
            <a:solidFill>
              <a:srgbClr val="D3DCDA"/>
            </a:solidFill>
            <a:prstDash val="solid"/>
          </a:ln>
        </p:spPr>
      </p:sp>
      <p:sp>
        <p:nvSpPr>
          <p:cNvPr id="29" name="Text 27"/>
          <p:cNvSpPr/>
          <p:nvPr/>
        </p:nvSpPr>
        <p:spPr>
          <a:xfrm>
            <a:off x="768350" y="4435128"/>
            <a:ext cx="45783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A simple rule (earliest finish) does as well as ours</a:t>
            </a:r>
            <a:endParaRPr lang="en-US" sz="1300" dirty="0"/>
          </a:p>
        </p:txBody>
      </p:sp>
      <p:sp>
        <p:nvSpPr>
          <p:cNvPr id="30" name="Text 28"/>
          <p:cNvSpPr/>
          <p:nvPr/>
        </p:nvSpPr>
        <p:spPr>
          <a:xfrm>
            <a:off x="5314950" y="4444057"/>
            <a:ext cx="4251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Compare directly and report where it wins</a:t>
            </a:r>
            <a:endParaRPr lang="en-US" sz="1200" dirty="0"/>
          </a:p>
        </p:txBody>
      </p:sp>
      <p:sp>
        <p:nvSpPr>
          <p:cNvPr id="31" name="Text 29"/>
          <p:cNvSpPr/>
          <p:nvPr/>
        </p:nvSpPr>
        <p:spPr>
          <a:xfrm>
            <a:off x="9598025" y="4418657"/>
            <a:ext cx="781000" cy="264120"/>
          </a:xfrm>
          <a:custGeom>
            <a:avLst/>
            <a:gdLst/>
            <a:ahLst/>
            <a:cxnLst/>
            <a:rect l="l" t="t" r="r" b="b"/>
            <a:pathLst>
              <a:path w="781000" h="264120">
                <a:moveTo>
                  <a:pt x="132060" y="0"/>
                </a:moveTo>
                <a:lnTo>
                  <a:pt x="648940" y="0"/>
                </a:lnTo>
                <a:arcTo hR="132060" wR="132060" stAng="16200000" swAng="5400000"/>
                <a:lnTo>
                  <a:pt x="7810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Medium</a:t>
            </a:r>
            <a:endParaRPr lang="en-US" sz="1200" dirty="0"/>
          </a:p>
        </p:txBody>
      </p:sp>
      <p:sp>
        <p:nvSpPr>
          <p:cNvPr id="32" name="Text 30"/>
          <p:cNvSpPr/>
          <p:nvPr/>
        </p:nvSpPr>
        <p:spPr>
          <a:xfrm>
            <a:off x="10588625" y="4418657"/>
            <a:ext cx="781000" cy="264120"/>
          </a:xfrm>
          <a:custGeom>
            <a:avLst/>
            <a:gdLst/>
            <a:ahLst/>
            <a:cxnLst/>
            <a:rect l="l" t="t" r="r" b="b"/>
            <a:pathLst>
              <a:path w="781000" h="264120">
                <a:moveTo>
                  <a:pt x="132060" y="0"/>
                </a:moveTo>
                <a:lnTo>
                  <a:pt x="648940" y="0"/>
                </a:lnTo>
                <a:arcTo hR="132060" wR="132060" stAng="16200000" swAng="5400000"/>
                <a:lnTo>
                  <a:pt x="7810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Medium</a:t>
            </a:r>
            <a:endParaRPr lang="en-US" sz="1200" dirty="0"/>
          </a:p>
        </p:txBody>
      </p:sp>
      <p:sp>
        <p:nvSpPr>
          <p:cNvPr id="33" name="Shape 31"/>
          <p:cNvSpPr/>
          <p:nvPr/>
        </p:nvSpPr>
        <p:spPr>
          <a:xfrm>
            <a:off x="612775" y="4870103"/>
            <a:ext cx="10966450" cy="473670"/>
          </a:xfrm>
          <a:prstGeom prst="roundRect">
            <a:avLst>
              <a:gd name="adj" fmla="val 20779"/>
            </a:avLst>
          </a:prstGeom>
          <a:solidFill>
            <a:srgbClr val="F7F8F8"/>
          </a:solidFill>
          <a:ln w="6350">
            <a:solidFill>
              <a:srgbClr val="D3DCDA"/>
            </a:solidFill>
            <a:prstDash val="solid"/>
          </a:ln>
        </p:spPr>
      </p:sp>
      <p:sp>
        <p:nvSpPr>
          <p:cNvPr id="34" name="Text 32"/>
          <p:cNvSpPr/>
          <p:nvPr/>
        </p:nvSpPr>
        <p:spPr>
          <a:xfrm>
            <a:off x="768350" y="4991348"/>
            <a:ext cx="45783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Live demo needs an API key</a:t>
            </a:r>
            <a:endParaRPr lang="en-US" sz="1300" dirty="0"/>
          </a:p>
        </p:txBody>
      </p:sp>
      <p:sp>
        <p:nvSpPr>
          <p:cNvPr id="35" name="Text 33"/>
          <p:cNvSpPr/>
          <p:nvPr/>
        </p:nvSpPr>
        <p:spPr>
          <a:xfrm>
            <a:off x="5314950" y="5000278"/>
            <a:ext cx="425132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Deploy early; keep saved replies as a backup</a:t>
            </a:r>
            <a:endParaRPr lang="en-US" sz="1200" dirty="0"/>
          </a:p>
        </p:txBody>
      </p:sp>
      <p:sp>
        <p:nvSpPr>
          <p:cNvPr id="36" name="Text 34"/>
          <p:cNvSpPr/>
          <p:nvPr/>
        </p:nvSpPr>
        <p:spPr>
          <a:xfrm>
            <a:off x="9598025" y="4974878"/>
            <a:ext cx="781000" cy="264120"/>
          </a:xfrm>
          <a:custGeom>
            <a:avLst/>
            <a:gdLst/>
            <a:ahLst/>
            <a:cxnLst/>
            <a:rect l="l" t="t" r="r" b="b"/>
            <a:pathLst>
              <a:path w="781000" h="264120">
                <a:moveTo>
                  <a:pt x="132060" y="0"/>
                </a:moveTo>
                <a:lnTo>
                  <a:pt x="648940" y="0"/>
                </a:lnTo>
                <a:arcTo hR="132060" wR="132060" stAng="16200000" swAng="5400000"/>
                <a:lnTo>
                  <a:pt x="7810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Medium</a:t>
            </a:r>
            <a:endParaRPr lang="en-US" sz="1200" dirty="0"/>
          </a:p>
        </p:txBody>
      </p:sp>
      <p:sp>
        <p:nvSpPr>
          <p:cNvPr id="37" name="Text 35"/>
          <p:cNvSpPr/>
          <p:nvPr/>
        </p:nvSpPr>
        <p:spPr>
          <a:xfrm>
            <a:off x="10588625" y="4974878"/>
            <a:ext cx="781000" cy="264120"/>
          </a:xfrm>
          <a:custGeom>
            <a:avLst/>
            <a:gdLst/>
            <a:ahLst/>
            <a:cxnLst/>
            <a:rect l="l" t="t" r="r" b="b"/>
            <a:pathLst>
              <a:path w="781000" h="264120">
                <a:moveTo>
                  <a:pt x="132060" y="0"/>
                </a:moveTo>
                <a:lnTo>
                  <a:pt x="648940" y="0"/>
                </a:lnTo>
                <a:arcTo hR="132060" wR="132060" stAng="16200000" swAng="5400000"/>
                <a:lnTo>
                  <a:pt x="781000" y="132060"/>
                </a:lnTo>
                <a:arcTo hR="132060" wR="132060" stAng="0" swAng="5400000"/>
                <a:lnTo>
                  <a:pt x="132060" y="264120"/>
                </a:lnTo>
                <a:arcTo hR="132060" wR="132060" stAng="5400000" swAng="5400000"/>
                <a:lnTo>
                  <a:pt x="0" y="132060"/>
                </a:lnTo>
                <a:arcTo hR="132060" wR="132060" stAng="10800000" swAng="5400000"/>
                <a:close/>
              </a:path>
            </a:pathLst>
          </a:custGeom>
          <a:solidFill>
            <a:srgbClr val="F3E7D3"/>
          </a:solidFill>
          <a:ln/>
        </p:spPr>
        <p:txBody>
          <a:bodyPr wrap="none" lIns="0" tIns="0" rIns="0" bIns="0" rtlCol="0" anchor="ctr">
            <a:normAutofit/>
          </a:bodyPr>
          <a:lstStyle/>
          <a:p>
            <a:pPr algn="ctr"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Medium</a:t>
            </a:r>
            <a:endParaRPr lang="en-US" sz="1200" dirty="0"/>
          </a:p>
        </p:txBody>
      </p:sp>
      <p:sp>
        <p:nvSpPr>
          <p:cNvPr id="38" name="Shape 36"/>
          <p:cNvSpPr/>
          <p:nvPr/>
        </p:nvSpPr>
        <p:spPr>
          <a:xfrm>
            <a:off x="609600" y="6140450"/>
            <a:ext cx="10972800" cy="6350"/>
          </a:xfrm>
          <a:prstGeom prst="rect">
            <a:avLst/>
          </a:prstGeom>
          <a:solidFill>
            <a:srgbClr val="C9D4D2"/>
          </a:solidFill>
          <a:ln/>
        </p:spPr>
      </p:sp>
      <p:sp>
        <p:nvSpPr>
          <p:cNvPr id="39" name="Text 37"/>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40" name="Text 38"/>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09 · KEY ASSUMPTIONS</a:t>
            </a:r>
            <a:endParaRPr lang="en-US" sz="1200" dirty="0"/>
          </a:p>
        </p:txBody>
      </p:sp>
      <p:sp>
        <p:nvSpPr>
          <p:cNvPr id="3" name="Text 1"/>
          <p:cNvSpPr/>
          <p:nvPr>
            <p:ph type="title"/>
          </p:nvPr>
        </p:nvSpPr>
        <p:spPr>
          <a:xfrm>
            <a:off x="609600" y="734020"/>
            <a:ext cx="11301984"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Five things we take as given</a:t>
            </a:r>
            <a:endParaRPr lang="en-US" sz="2300" dirty="0"/>
          </a:p>
        </p:txBody>
      </p:sp>
      <p:sp>
        <p:nvSpPr>
          <p:cNvPr id="4" name="Shape 2"/>
          <p:cNvSpPr/>
          <p:nvPr/>
        </p:nvSpPr>
        <p:spPr>
          <a:xfrm>
            <a:off x="612775" y="1327100"/>
            <a:ext cx="2086570" cy="4575225"/>
          </a:xfrm>
          <a:prstGeom prst="roundRect">
            <a:avLst>
              <a:gd name="adj" fmla="val 5934"/>
            </a:avLst>
          </a:prstGeom>
          <a:solidFill>
            <a:srgbClr val="F7F8F8"/>
          </a:solidFill>
          <a:ln w="6350">
            <a:solidFill>
              <a:srgbClr val="D3DCDA"/>
            </a:solidFill>
            <a:prstDash val="solid"/>
          </a:ln>
        </p:spPr>
      </p:sp>
      <p:sp>
        <p:nvSpPr>
          <p:cNvPr id="5" name="Shape 3"/>
          <p:cNvSpPr/>
          <p:nvPr/>
        </p:nvSpPr>
        <p:spPr>
          <a:xfrm>
            <a:off x="781050" y="1508075"/>
            <a:ext cx="406400" cy="406400"/>
          </a:xfrm>
          <a:prstGeom prst="roundRect">
            <a:avLst>
              <a:gd name="adj" fmla="val 50000"/>
            </a:avLst>
          </a:prstGeom>
          <a:gradFill rotWithShape="1">
            <a:gsLst>
              <a:gs pos="0">
                <a:srgbClr val="9BBBB7"/>
              </a:gs>
              <a:gs pos="100000">
                <a:srgbClr val="49868D"/>
              </a:gs>
            </a:gsLst>
            <a:lin ang="2700000" scaled="0"/>
          </a:gradFill>
          <a:ln/>
        </p:spPr>
      </p:sp>
      <p:pic>
        <p:nvPicPr>
          <p:cNvPr id="6" name="Image 0" descr="Database">    </p:cNvPr>
          <p:cNvPicPr>
            <a:picLocks noChangeAspect="1"/>
          </p:cNvPicPr>
          <p:nvPr/>
        </p:nvPicPr>
        <p:blipFill>
          <a:blip r:embed="rId1"/>
          <a:srcRect l="0" r="0" t="0" b="0"/>
          <a:stretch/>
        </p:blipFill>
        <p:spPr>
          <a:xfrm>
            <a:off x="882650" y="1609675"/>
            <a:ext cx="203200" cy="203200"/>
          </a:xfrm>
          <a:prstGeom prst="rect">
            <a:avLst/>
          </a:prstGeom>
        </p:spPr>
      </p:pic>
      <p:sp>
        <p:nvSpPr>
          <p:cNvPr id="7" name="Text 4"/>
          <p:cNvSpPr/>
          <p:nvPr/>
        </p:nvSpPr>
        <p:spPr>
          <a:xfrm>
            <a:off x="781050" y="2003375"/>
            <a:ext cx="1802521"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Workshop data is up to date</a:t>
            </a:r>
            <a:endParaRPr lang="en-US" sz="1500" dirty="0"/>
          </a:p>
        </p:txBody>
      </p:sp>
      <p:sp>
        <p:nvSpPr>
          <p:cNvPr id="8" name="Text 5"/>
          <p:cNvSpPr/>
          <p:nvPr/>
        </p:nvSpPr>
        <p:spPr>
          <a:xfrm>
            <a:off x="781050" y="2549475"/>
            <a:ext cx="1802521"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6B"/>
                </a:solidFill>
                <a:latin typeface="Hanken Grotesk" pitchFamily="34" charset="0"/>
                <a:ea typeface="Hanken Grotesk" pitchFamily="34" charset="-122"/>
                <a:cs typeface="Hanken Grotesk" pitchFamily="34" charset="-120"/>
              </a:rPr>
              <a:t>Capacity, queue, status and defect rate</a:t>
            </a:r>
            <a:endParaRPr lang="en-US" sz="1200" dirty="0"/>
          </a:p>
        </p:txBody>
      </p:sp>
      <p:sp>
        <p:nvSpPr>
          <p:cNvPr id="9" name="Shape 6"/>
          <p:cNvSpPr/>
          <p:nvPr/>
        </p:nvSpPr>
        <p:spPr>
          <a:xfrm>
            <a:off x="781050" y="5177234"/>
            <a:ext cx="1750020" cy="0"/>
          </a:xfrm>
          <a:prstGeom prst="line">
            <a:avLst/>
          </a:prstGeom>
          <a:noFill/>
          <a:ln w="6350">
            <a:solidFill>
              <a:srgbClr val="D3DCDA"/>
            </a:solidFill>
            <a:prstDash val="solid"/>
          </a:ln>
        </p:spPr>
      </p:sp>
      <p:sp>
        <p:nvSpPr>
          <p:cNvPr id="10" name="Text 7"/>
          <p:cNvSpPr/>
          <p:nvPr/>
        </p:nvSpPr>
        <p:spPr>
          <a:xfrm>
            <a:off x="781050" y="5269309"/>
            <a:ext cx="18025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If not</a:t>
            </a:r>
            <a:endParaRPr lang="en-US" sz="1200" dirty="0"/>
          </a:p>
        </p:txBody>
      </p:sp>
      <p:sp>
        <p:nvSpPr>
          <p:cNvPr id="11" name="Text 8"/>
          <p:cNvSpPr/>
          <p:nvPr/>
        </p:nvSpPr>
        <p:spPr>
          <a:xfrm>
            <a:off x="781050" y="5508030"/>
            <a:ext cx="1802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Dates and checks are off</a:t>
            </a:r>
            <a:endParaRPr lang="en-US" sz="1200" dirty="0"/>
          </a:p>
        </p:txBody>
      </p:sp>
      <p:sp>
        <p:nvSpPr>
          <p:cNvPr id="12" name="Shape 9"/>
          <p:cNvSpPr/>
          <p:nvPr/>
        </p:nvSpPr>
        <p:spPr>
          <a:xfrm>
            <a:off x="2832695" y="1327100"/>
            <a:ext cx="2086620" cy="4575225"/>
          </a:xfrm>
          <a:prstGeom prst="roundRect">
            <a:avLst>
              <a:gd name="adj" fmla="val 5934"/>
            </a:avLst>
          </a:prstGeom>
          <a:solidFill>
            <a:srgbClr val="F7F8F8"/>
          </a:solidFill>
          <a:ln w="6350">
            <a:solidFill>
              <a:srgbClr val="D3DCDA"/>
            </a:solidFill>
            <a:prstDash val="solid"/>
          </a:ln>
        </p:spPr>
      </p:sp>
      <p:sp>
        <p:nvSpPr>
          <p:cNvPr id="13" name="Shape 10"/>
          <p:cNvSpPr/>
          <p:nvPr/>
        </p:nvSpPr>
        <p:spPr>
          <a:xfrm>
            <a:off x="3000970" y="1508075"/>
            <a:ext cx="406400" cy="406400"/>
          </a:xfrm>
          <a:prstGeom prst="roundRect">
            <a:avLst>
              <a:gd name="adj" fmla="val 50000"/>
            </a:avLst>
          </a:prstGeom>
          <a:gradFill rotWithShape="1">
            <a:gsLst>
              <a:gs pos="0">
                <a:srgbClr val="9BBBB7"/>
              </a:gs>
              <a:gs pos="100000">
                <a:srgbClr val="49868D"/>
              </a:gs>
            </a:gsLst>
            <a:lin ang="2700000" scaled="0"/>
          </a:gradFill>
          <a:ln/>
        </p:spPr>
      </p:sp>
      <p:pic>
        <p:nvPicPr>
          <p:cNvPr id="14" name="Image 1" descr="Clock">    </p:cNvPr>
          <p:cNvPicPr>
            <a:picLocks noChangeAspect="1"/>
          </p:cNvPicPr>
          <p:nvPr/>
        </p:nvPicPr>
        <p:blipFill>
          <a:blip r:embed="rId2"/>
          <a:srcRect l="0" r="0" t="0" b="0"/>
          <a:stretch/>
        </p:blipFill>
        <p:spPr>
          <a:xfrm>
            <a:off x="3102570" y="1609675"/>
            <a:ext cx="203200" cy="203200"/>
          </a:xfrm>
          <a:prstGeom prst="rect">
            <a:avLst/>
          </a:prstGeom>
        </p:spPr>
      </p:pic>
      <p:sp>
        <p:nvSpPr>
          <p:cNvPr id="15" name="Text 11"/>
          <p:cNvSpPr/>
          <p:nvPr/>
        </p:nvSpPr>
        <p:spPr>
          <a:xfrm>
            <a:off x="3000970" y="2003375"/>
            <a:ext cx="1802572"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Delivery = queue + making + transport</a:t>
            </a:r>
            <a:endParaRPr lang="en-US" sz="1500" dirty="0"/>
          </a:p>
        </p:txBody>
      </p:sp>
      <p:sp>
        <p:nvSpPr>
          <p:cNvPr id="16" name="Text 12"/>
          <p:cNvSpPr/>
          <p:nvPr/>
        </p:nvSpPr>
        <p:spPr>
          <a:xfrm>
            <a:off x="3000970" y="2549475"/>
            <a:ext cx="180257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6B"/>
                </a:solidFill>
                <a:latin typeface="Hanken Grotesk" pitchFamily="34" charset="0"/>
                <a:ea typeface="Hanken Grotesk" pitchFamily="34" charset="-122"/>
                <a:cs typeface="Hanken Grotesk" pitchFamily="34" charset="-120"/>
              </a:rPr>
              <a:t>No other delays</a:t>
            </a:r>
            <a:endParaRPr lang="en-US" sz="1200" dirty="0"/>
          </a:p>
        </p:txBody>
      </p:sp>
      <p:sp>
        <p:nvSpPr>
          <p:cNvPr id="17" name="Shape 13"/>
          <p:cNvSpPr/>
          <p:nvPr/>
        </p:nvSpPr>
        <p:spPr>
          <a:xfrm>
            <a:off x="3000970" y="5177234"/>
            <a:ext cx="1750070" cy="0"/>
          </a:xfrm>
          <a:prstGeom prst="line">
            <a:avLst/>
          </a:prstGeom>
          <a:noFill/>
          <a:ln w="6350">
            <a:solidFill>
              <a:srgbClr val="D3DCDA"/>
            </a:solidFill>
            <a:prstDash val="solid"/>
          </a:ln>
        </p:spPr>
      </p:sp>
      <p:sp>
        <p:nvSpPr>
          <p:cNvPr id="18" name="Text 14"/>
          <p:cNvSpPr/>
          <p:nvPr/>
        </p:nvSpPr>
        <p:spPr>
          <a:xfrm>
            <a:off x="3000970" y="5269309"/>
            <a:ext cx="18025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If not</a:t>
            </a:r>
            <a:endParaRPr lang="en-US" sz="1200" dirty="0"/>
          </a:p>
        </p:txBody>
      </p:sp>
      <p:sp>
        <p:nvSpPr>
          <p:cNvPr id="19" name="Text 15"/>
          <p:cNvSpPr/>
          <p:nvPr/>
        </p:nvSpPr>
        <p:spPr>
          <a:xfrm>
            <a:off x="3000970" y="5508030"/>
            <a:ext cx="1802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Dates are too optimistic</a:t>
            </a:r>
            <a:endParaRPr lang="en-US" sz="1200" dirty="0"/>
          </a:p>
        </p:txBody>
      </p:sp>
      <p:sp>
        <p:nvSpPr>
          <p:cNvPr id="20" name="Shape 16"/>
          <p:cNvSpPr/>
          <p:nvPr/>
        </p:nvSpPr>
        <p:spPr>
          <a:xfrm>
            <a:off x="5052665" y="1327100"/>
            <a:ext cx="2086620" cy="4575225"/>
          </a:xfrm>
          <a:prstGeom prst="roundRect">
            <a:avLst>
              <a:gd name="adj" fmla="val 5934"/>
            </a:avLst>
          </a:prstGeom>
          <a:solidFill>
            <a:srgbClr val="F7F8F8"/>
          </a:solidFill>
          <a:ln w="6350">
            <a:solidFill>
              <a:srgbClr val="D3DCDA"/>
            </a:solidFill>
            <a:prstDash val="solid"/>
          </a:ln>
        </p:spPr>
      </p:sp>
      <p:sp>
        <p:nvSpPr>
          <p:cNvPr id="21" name="Shape 17"/>
          <p:cNvSpPr/>
          <p:nvPr/>
        </p:nvSpPr>
        <p:spPr>
          <a:xfrm>
            <a:off x="5220940" y="1508075"/>
            <a:ext cx="406400" cy="406400"/>
          </a:xfrm>
          <a:prstGeom prst="roundRect">
            <a:avLst>
              <a:gd name="adj" fmla="val 50000"/>
            </a:avLst>
          </a:prstGeom>
          <a:gradFill rotWithShape="1">
            <a:gsLst>
              <a:gs pos="0">
                <a:srgbClr val="9BBBB7"/>
              </a:gs>
              <a:gs pos="100000">
                <a:srgbClr val="49868D"/>
              </a:gs>
            </a:gsLst>
            <a:lin ang="2700000" scaled="0"/>
          </a:gradFill>
          <a:ln/>
        </p:spPr>
      </p:sp>
      <p:pic>
        <p:nvPicPr>
          <p:cNvPr id="22" name="Image 2" descr="Chat">    </p:cNvPr>
          <p:cNvPicPr>
            <a:picLocks noChangeAspect="1"/>
          </p:cNvPicPr>
          <p:nvPr/>
        </p:nvPicPr>
        <p:blipFill>
          <a:blip r:embed="rId3"/>
          <a:srcRect l="0" r="0" t="0" b="0"/>
          <a:stretch/>
        </p:blipFill>
        <p:spPr>
          <a:xfrm>
            <a:off x="5322540" y="1609675"/>
            <a:ext cx="203200" cy="203200"/>
          </a:xfrm>
          <a:prstGeom prst="rect">
            <a:avLst/>
          </a:prstGeom>
        </p:spPr>
      </p:pic>
      <p:sp>
        <p:nvSpPr>
          <p:cNvPr id="23" name="Text 18"/>
          <p:cNvSpPr/>
          <p:nvPr/>
        </p:nvSpPr>
        <p:spPr>
          <a:xfrm>
            <a:off x="5220940" y="2003375"/>
            <a:ext cx="1802572"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The AI reads short chats correctly</a:t>
            </a:r>
            <a:endParaRPr lang="en-US" sz="1500" dirty="0"/>
          </a:p>
        </p:txBody>
      </p:sp>
      <p:sp>
        <p:nvSpPr>
          <p:cNvPr id="24" name="Text 19"/>
          <p:cNvSpPr/>
          <p:nvPr/>
        </p:nvSpPr>
        <p:spPr>
          <a:xfrm>
            <a:off x="5220940" y="2549475"/>
            <a:ext cx="180257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6B"/>
                </a:solidFill>
                <a:latin typeface="Hanken Grotesk" pitchFamily="34" charset="0"/>
                <a:ea typeface="Hanken Grotesk" pitchFamily="34" charset="-122"/>
                <a:cs typeface="Hanken Grotesk" pitchFamily="34" charset="-120"/>
              </a:rPr>
              <a:t>Even informal, hurried ones</a:t>
            </a:r>
            <a:endParaRPr lang="en-US" sz="1200" dirty="0"/>
          </a:p>
        </p:txBody>
      </p:sp>
      <p:sp>
        <p:nvSpPr>
          <p:cNvPr id="25" name="Shape 20"/>
          <p:cNvSpPr/>
          <p:nvPr/>
        </p:nvSpPr>
        <p:spPr>
          <a:xfrm>
            <a:off x="5220940" y="5177234"/>
            <a:ext cx="1750070" cy="0"/>
          </a:xfrm>
          <a:prstGeom prst="line">
            <a:avLst/>
          </a:prstGeom>
          <a:noFill/>
          <a:ln w="6350">
            <a:solidFill>
              <a:srgbClr val="D3DCDA"/>
            </a:solidFill>
            <a:prstDash val="solid"/>
          </a:ln>
        </p:spPr>
      </p:sp>
      <p:sp>
        <p:nvSpPr>
          <p:cNvPr id="26" name="Text 21"/>
          <p:cNvSpPr/>
          <p:nvPr/>
        </p:nvSpPr>
        <p:spPr>
          <a:xfrm>
            <a:off x="5220940" y="5269309"/>
            <a:ext cx="18025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If not</a:t>
            </a:r>
            <a:endParaRPr lang="en-US" sz="1200" dirty="0"/>
          </a:p>
        </p:txBody>
      </p:sp>
      <p:sp>
        <p:nvSpPr>
          <p:cNvPr id="27" name="Text 22"/>
          <p:cNvSpPr/>
          <p:nvPr/>
        </p:nvSpPr>
        <p:spPr>
          <a:xfrm>
            <a:off x="5220940" y="5508030"/>
            <a:ext cx="1802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Python checks catch it</a:t>
            </a:r>
            <a:endParaRPr lang="en-US" sz="1200" dirty="0"/>
          </a:p>
        </p:txBody>
      </p:sp>
      <p:sp>
        <p:nvSpPr>
          <p:cNvPr id="28" name="Shape 23"/>
          <p:cNvSpPr/>
          <p:nvPr/>
        </p:nvSpPr>
        <p:spPr>
          <a:xfrm>
            <a:off x="7272635" y="1327100"/>
            <a:ext cx="2086620" cy="4575225"/>
          </a:xfrm>
          <a:prstGeom prst="roundRect">
            <a:avLst>
              <a:gd name="adj" fmla="val 5934"/>
            </a:avLst>
          </a:prstGeom>
          <a:solidFill>
            <a:srgbClr val="F3E7D3"/>
          </a:solidFill>
          <a:ln w="6350">
            <a:solidFill>
              <a:srgbClr val="E2CDA8"/>
            </a:solidFill>
            <a:prstDash val="solid"/>
          </a:ln>
        </p:spPr>
      </p:sp>
      <p:sp>
        <p:nvSpPr>
          <p:cNvPr id="29" name="Shape 24"/>
          <p:cNvSpPr/>
          <p:nvPr/>
        </p:nvSpPr>
        <p:spPr>
          <a:xfrm>
            <a:off x="7440910" y="1508075"/>
            <a:ext cx="406400" cy="406400"/>
          </a:xfrm>
          <a:prstGeom prst="roundRect">
            <a:avLst>
              <a:gd name="adj" fmla="val 50000"/>
            </a:avLst>
          </a:prstGeom>
          <a:solidFill>
            <a:srgbClr val="8F6118"/>
          </a:solidFill>
          <a:ln/>
        </p:spPr>
      </p:sp>
      <p:pic>
        <p:nvPicPr>
          <p:cNvPr id="30" name="Image 3" descr="Users">    </p:cNvPr>
          <p:cNvPicPr>
            <a:picLocks noChangeAspect="1"/>
          </p:cNvPicPr>
          <p:nvPr/>
        </p:nvPicPr>
        <p:blipFill>
          <a:blip r:embed="rId4"/>
          <a:srcRect l="0" r="0" t="0" b="0"/>
          <a:stretch/>
        </p:blipFill>
        <p:spPr>
          <a:xfrm>
            <a:off x="7542510" y="1609675"/>
            <a:ext cx="203200" cy="203200"/>
          </a:xfrm>
          <a:prstGeom prst="rect">
            <a:avLst/>
          </a:prstGeom>
        </p:spPr>
      </p:pic>
      <p:sp>
        <p:nvSpPr>
          <p:cNvPr id="31" name="Text 25"/>
          <p:cNvSpPr/>
          <p:nvPr/>
        </p:nvSpPr>
        <p:spPr>
          <a:xfrm>
            <a:off x="7440910" y="2003375"/>
            <a:ext cx="1802572"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A person confirms every pick</a:t>
            </a:r>
            <a:endParaRPr lang="en-US" sz="1500" dirty="0"/>
          </a:p>
        </p:txBody>
      </p:sp>
      <p:sp>
        <p:nvSpPr>
          <p:cNvPr id="32" name="Text 26"/>
          <p:cNvSpPr/>
          <p:nvPr/>
        </p:nvSpPr>
        <p:spPr>
          <a:xfrm>
            <a:off x="7440910" y="2549475"/>
            <a:ext cx="180257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6B"/>
                </a:solidFill>
                <a:latin typeface="Hanken Grotesk" pitchFamily="34" charset="0"/>
                <a:ea typeface="Hanken Grotesk" pitchFamily="34" charset="-122"/>
                <a:cs typeface="Hanken Grotesk" pitchFamily="34" charset="-120"/>
              </a:rPr>
              <a:t>Nothing is sent automatically</a:t>
            </a:r>
            <a:endParaRPr lang="en-US" sz="1200" dirty="0"/>
          </a:p>
        </p:txBody>
      </p:sp>
      <p:sp>
        <p:nvSpPr>
          <p:cNvPr id="33" name="Shape 27"/>
          <p:cNvSpPr/>
          <p:nvPr/>
        </p:nvSpPr>
        <p:spPr>
          <a:xfrm>
            <a:off x="7440910" y="5177234"/>
            <a:ext cx="1750070" cy="0"/>
          </a:xfrm>
          <a:prstGeom prst="line">
            <a:avLst/>
          </a:prstGeom>
          <a:noFill/>
          <a:ln w="6350">
            <a:solidFill>
              <a:srgbClr val="E2CDA8"/>
            </a:solidFill>
            <a:prstDash val="solid"/>
          </a:ln>
        </p:spPr>
      </p:sp>
      <p:sp>
        <p:nvSpPr>
          <p:cNvPr id="34" name="Text 28"/>
          <p:cNvSpPr/>
          <p:nvPr/>
        </p:nvSpPr>
        <p:spPr>
          <a:xfrm>
            <a:off x="7440910" y="5269309"/>
            <a:ext cx="18025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If not</a:t>
            </a:r>
            <a:endParaRPr lang="en-US" sz="1200" dirty="0"/>
          </a:p>
        </p:txBody>
      </p:sp>
      <p:sp>
        <p:nvSpPr>
          <p:cNvPr id="35" name="Text 29"/>
          <p:cNvSpPr/>
          <p:nvPr/>
        </p:nvSpPr>
        <p:spPr>
          <a:xfrm>
            <a:off x="7440910" y="5508030"/>
            <a:ext cx="1802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Wrong picks go out</a:t>
            </a:r>
            <a:endParaRPr lang="en-US" sz="1200" dirty="0"/>
          </a:p>
        </p:txBody>
      </p:sp>
      <p:sp>
        <p:nvSpPr>
          <p:cNvPr id="36" name="Shape 30"/>
          <p:cNvSpPr/>
          <p:nvPr/>
        </p:nvSpPr>
        <p:spPr>
          <a:xfrm>
            <a:off x="9492605" y="1327100"/>
            <a:ext cx="2086620" cy="4575225"/>
          </a:xfrm>
          <a:prstGeom prst="roundRect">
            <a:avLst>
              <a:gd name="adj" fmla="val 5934"/>
            </a:avLst>
          </a:prstGeom>
          <a:solidFill>
            <a:srgbClr val="F7F8F8"/>
          </a:solidFill>
          <a:ln w="6350">
            <a:solidFill>
              <a:srgbClr val="D3DCDA"/>
            </a:solidFill>
            <a:prstDash val="solid"/>
          </a:ln>
        </p:spPr>
      </p:sp>
      <p:sp>
        <p:nvSpPr>
          <p:cNvPr id="37" name="Shape 31"/>
          <p:cNvSpPr/>
          <p:nvPr/>
        </p:nvSpPr>
        <p:spPr>
          <a:xfrm>
            <a:off x="9660880" y="1508075"/>
            <a:ext cx="406400" cy="406400"/>
          </a:xfrm>
          <a:prstGeom prst="roundRect">
            <a:avLst>
              <a:gd name="adj" fmla="val 50000"/>
            </a:avLst>
          </a:prstGeom>
          <a:gradFill rotWithShape="1">
            <a:gsLst>
              <a:gs pos="0">
                <a:srgbClr val="9BBBB7"/>
              </a:gs>
              <a:gs pos="100000">
                <a:srgbClr val="49868D"/>
              </a:gs>
            </a:gsLst>
            <a:lin ang="2700000" scaled="0"/>
          </a:gradFill>
          <a:ln/>
        </p:spPr>
      </p:sp>
      <p:pic>
        <p:nvPicPr>
          <p:cNvPr id="38" name="Image 4" descr="Chart">    </p:cNvPr>
          <p:cNvPicPr>
            <a:picLocks noChangeAspect="1"/>
          </p:cNvPicPr>
          <p:nvPr/>
        </p:nvPicPr>
        <p:blipFill>
          <a:blip r:embed="rId5"/>
          <a:srcRect l="0" r="0" t="0" b="0"/>
          <a:stretch/>
        </p:blipFill>
        <p:spPr>
          <a:xfrm>
            <a:off x="9762480" y="1609675"/>
            <a:ext cx="203200" cy="203200"/>
          </a:xfrm>
          <a:prstGeom prst="rect">
            <a:avLst/>
          </a:prstGeom>
        </p:spPr>
      </p:pic>
      <p:sp>
        <p:nvSpPr>
          <p:cNvPr id="39" name="Text 32"/>
          <p:cNvSpPr/>
          <p:nvPr/>
        </p:nvSpPr>
        <p:spPr>
          <a:xfrm>
            <a:off x="9660880" y="2003375"/>
            <a:ext cx="19151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Cost = pieces × rate</a:t>
            </a:r>
            <a:endParaRPr lang="en-US" sz="1500" dirty="0"/>
          </a:p>
        </p:txBody>
      </p:sp>
      <p:sp>
        <p:nvSpPr>
          <p:cNvPr id="40" name="Text 33"/>
          <p:cNvSpPr/>
          <p:nvPr/>
        </p:nvSpPr>
        <p:spPr>
          <a:xfrm>
            <a:off x="9660880" y="2320875"/>
            <a:ext cx="180257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6A6B"/>
                </a:solidFill>
                <a:latin typeface="Hanken Grotesk" pitchFamily="34" charset="0"/>
                <a:ea typeface="Hanken Grotesk" pitchFamily="34" charset="-122"/>
                <a:cs typeface="Hanken Grotesk" pitchFamily="34" charset="-120"/>
              </a:rPr>
              <a:t>No transport or rework fees</a:t>
            </a:r>
            <a:endParaRPr lang="en-US" sz="1200" dirty="0"/>
          </a:p>
        </p:txBody>
      </p:sp>
      <p:sp>
        <p:nvSpPr>
          <p:cNvPr id="41" name="Shape 34"/>
          <p:cNvSpPr/>
          <p:nvPr/>
        </p:nvSpPr>
        <p:spPr>
          <a:xfrm>
            <a:off x="9660880" y="5177234"/>
            <a:ext cx="1750070" cy="0"/>
          </a:xfrm>
          <a:prstGeom prst="line">
            <a:avLst/>
          </a:prstGeom>
          <a:noFill/>
          <a:ln w="6350">
            <a:solidFill>
              <a:srgbClr val="D3DCDA"/>
            </a:solidFill>
            <a:prstDash val="solid"/>
          </a:ln>
        </p:spPr>
      </p:sp>
      <p:sp>
        <p:nvSpPr>
          <p:cNvPr id="42" name="Text 35"/>
          <p:cNvSpPr/>
          <p:nvPr/>
        </p:nvSpPr>
        <p:spPr>
          <a:xfrm>
            <a:off x="9660880" y="5269309"/>
            <a:ext cx="18025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4"/>
                </a:solidFill>
                <a:latin typeface="Hanken Grotesk" pitchFamily="34" charset="0"/>
                <a:ea typeface="Hanken Grotesk" pitchFamily="34" charset="-122"/>
                <a:cs typeface="Hanken Grotesk" pitchFamily="34" charset="-120"/>
              </a:rPr>
              <a:t>If not</a:t>
            </a:r>
            <a:endParaRPr lang="en-US" sz="1200" dirty="0"/>
          </a:p>
        </p:txBody>
      </p:sp>
      <p:sp>
        <p:nvSpPr>
          <p:cNvPr id="43" name="Text 36"/>
          <p:cNvSpPr/>
          <p:nvPr/>
        </p:nvSpPr>
        <p:spPr>
          <a:xfrm>
            <a:off x="9660880" y="5508030"/>
            <a:ext cx="18025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Extra fees are missed</a:t>
            </a:r>
            <a:endParaRPr lang="en-US" sz="1200" dirty="0"/>
          </a:p>
        </p:txBody>
      </p:sp>
      <p:sp>
        <p:nvSpPr>
          <p:cNvPr id="44" name="Shape 37"/>
          <p:cNvSpPr/>
          <p:nvPr/>
        </p:nvSpPr>
        <p:spPr>
          <a:xfrm>
            <a:off x="609600" y="6140450"/>
            <a:ext cx="10972800" cy="6350"/>
          </a:xfrm>
          <a:prstGeom prst="rect">
            <a:avLst/>
          </a:prstGeom>
          <a:solidFill>
            <a:srgbClr val="C9D4D2"/>
          </a:solidFill>
          <a:ln/>
        </p:spPr>
      </p:sp>
      <p:sp>
        <p:nvSpPr>
          <p:cNvPr id="45" name="Text 38"/>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46" name="Text 39"/>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909068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07 · SPRINT 2 DEVELOPMENT ROADMAP</a:t>
            </a:r>
            <a:endParaRPr lang="en-US" sz="1200" dirty="0"/>
          </a:p>
        </p:txBody>
      </p:sp>
      <p:sp>
        <p:nvSpPr>
          <p:cNvPr id="3" name="Text 1"/>
          <p:cNvSpPr/>
          <p:nvPr>
            <p:ph type="title"/>
          </p:nvPr>
        </p:nvSpPr>
        <p:spPr>
          <a:xfrm>
            <a:off x="609600" y="734020"/>
            <a:ext cx="9090682"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Prove the chat side works, then put it online</a:t>
            </a:r>
            <a:endParaRPr lang="en-US" sz="2300" dirty="0"/>
          </a:p>
        </p:txBody>
      </p:sp>
      <p:sp>
        <p:nvSpPr>
          <p:cNvPr id="4" name="Shape 2"/>
          <p:cNvSpPr/>
          <p:nvPr/>
        </p:nvSpPr>
        <p:spPr>
          <a:xfrm>
            <a:off x="9689505" y="906115"/>
            <a:ext cx="114300" cy="114300"/>
          </a:xfrm>
          <a:prstGeom prst="roundRect">
            <a:avLst>
              <a:gd name="adj" fmla="val 50000"/>
            </a:avLst>
          </a:prstGeom>
          <a:solidFill>
            <a:srgbClr val="A3443F"/>
          </a:solidFill>
          <a:ln/>
        </p:spPr>
      </p:sp>
      <p:sp>
        <p:nvSpPr>
          <p:cNvPr id="5" name="Text 3"/>
          <p:cNvSpPr/>
          <p:nvPr/>
        </p:nvSpPr>
        <p:spPr>
          <a:xfrm>
            <a:off x="9854605" y="856605"/>
            <a:ext cx="3593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High</a:t>
            </a:r>
            <a:endParaRPr lang="en-US" sz="1200" dirty="0"/>
          </a:p>
        </p:txBody>
      </p:sp>
      <p:sp>
        <p:nvSpPr>
          <p:cNvPr id="6" name="Shape 4"/>
          <p:cNvSpPr/>
          <p:nvPr/>
        </p:nvSpPr>
        <p:spPr>
          <a:xfrm>
            <a:off x="10293796" y="906115"/>
            <a:ext cx="114300" cy="114300"/>
          </a:xfrm>
          <a:prstGeom prst="roundRect">
            <a:avLst>
              <a:gd name="adj" fmla="val 50000"/>
            </a:avLst>
          </a:prstGeom>
          <a:solidFill>
            <a:srgbClr val="B07A2A"/>
          </a:solidFill>
          <a:ln/>
        </p:spPr>
      </p:sp>
      <p:sp>
        <p:nvSpPr>
          <p:cNvPr id="7" name="Text 5"/>
          <p:cNvSpPr/>
          <p:nvPr/>
        </p:nvSpPr>
        <p:spPr>
          <a:xfrm>
            <a:off x="10458896" y="856605"/>
            <a:ext cx="652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Medium</a:t>
            </a:r>
            <a:endParaRPr lang="en-US" sz="1200" dirty="0"/>
          </a:p>
        </p:txBody>
      </p:sp>
      <p:sp>
        <p:nvSpPr>
          <p:cNvPr id="8" name="Shape 6"/>
          <p:cNvSpPr/>
          <p:nvPr/>
        </p:nvSpPr>
        <p:spPr>
          <a:xfrm>
            <a:off x="11142216" y="906115"/>
            <a:ext cx="114300" cy="114300"/>
          </a:xfrm>
          <a:prstGeom prst="roundRect">
            <a:avLst>
              <a:gd name="adj" fmla="val 50000"/>
            </a:avLst>
          </a:prstGeom>
          <a:solidFill>
            <a:srgbClr val="9BBBB7"/>
          </a:solidFill>
          <a:ln/>
        </p:spPr>
      </p:sp>
      <p:sp>
        <p:nvSpPr>
          <p:cNvPr id="9" name="Text 7"/>
          <p:cNvSpPr/>
          <p:nvPr/>
        </p:nvSpPr>
        <p:spPr>
          <a:xfrm>
            <a:off x="11307316" y="856605"/>
            <a:ext cx="3301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47"/>
                </a:solidFill>
                <a:latin typeface="Hanken Grotesk" pitchFamily="34" charset="0"/>
                <a:ea typeface="Hanken Grotesk" pitchFamily="34" charset="-122"/>
                <a:cs typeface="Hanken Grotesk" pitchFamily="34" charset="-120"/>
              </a:rPr>
              <a:t>Low</a:t>
            </a:r>
            <a:endParaRPr lang="en-US" sz="1200" dirty="0"/>
          </a:p>
        </p:txBody>
      </p:sp>
      <p:sp>
        <p:nvSpPr>
          <p:cNvPr id="10" name="Shape 8"/>
          <p:cNvSpPr/>
          <p:nvPr/>
        </p:nvSpPr>
        <p:spPr>
          <a:xfrm>
            <a:off x="609600" y="1463625"/>
            <a:ext cx="9525000" cy="50800"/>
          </a:xfrm>
          <a:prstGeom prst="roundRect">
            <a:avLst>
              <a:gd name="adj" fmla="val 50000"/>
            </a:avLst>
          </a:prstGeom>
          <a:gradFill rotWithShape="1">
            <a:gsLst>
              <a:gs pos="0">
                <a:srgbClr val="9BBBB7"/>
              </a:gs>
              <a:gs pos="60000">
                <a:srgbClr val="49868D"/>
              </a:gs>
              <a:gs pos="100000">
                <a:srgbClr val="2F6268"/>
              </a:gs>
            </a:gsLst>
            <a:lin ang="0" scaled="0"/>
          </a:gradFill>
          <a:ln/>
        </p:spPr>
      </p:sp>
      <p:pic>
        <p:nvPicPr>
          <p:cNvPr id="11" name="Image 0" descr="arrow-right">    </p:cNvPr>
          <p:cNvPicPr>
            <a:picLocks noChangeAspect="1"/>
          </p:cNvPicPr>
          <p:nvPr/>
        </p:nvPicPr>
        <p:blipFill>
          <a:blip r:embed="rId1"/>
          <a:srcRect l="0" r="0" t="0" b="0"/>
          <a:stretch/>
        </p:blipFill>
        <p:spPr>
          <a:xfrm>
            <a:off x="10071100" y="1362025"/>
            <a:ext cx="254000" cy="254000"/>
          </a:xfrm>
          <a:prstGeom prst="rect">
            <a:avLst/>
          </a:prstGeom>
        </p:spPr>
      </p:pic>
      <p:sp>
        <p:nvSpPr>
          <p:cNvPr id="12" name="Text 9"/>
          <p:cNvSpPr/>
          <p:nvPr/>
        </p:nvSpPr>
        <p:spPr>
          <a:xfrm>
            <a:off x="2057400" y="1323925"/>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2F6268"/>
          </a:solidFill>
          <a:ln/>
        </p:spPr>
        <p:txBody>
          <a:bodyPr wrap="square" lIns="0" tIns="0" rIns="0" bIns="0" rtlCol="0" anchor="t">
            <a:normAutofit/>
          </a:bodyPr>
          <a:lstStyle/>
          <a:p>
            <a:pPr algn="ctr" indent="0" marL="0">
              <a:lnSpc>
                <a:spcPts val="2600"/>
              </a:lnSpc>
              <a:buNone/>
            </a:pPr>
            <a:r>
              <a:rPr lang="en-US" sz="1300" b="1" dirty="0">
                <a:solidFill>
                  <a:srgbClr val="F5F5F5"/>
                </a:solidFill>
                <a:latin typeface="Hanken Grotesk" pitchFamily="34" charset="0"/>
                <a:ea typeface="Hanken Grotesk" pitchFamily="34" charset="-122"/>
                <a:cs typeface="Hanken Grotesk" pitchFamily="34" charset="-120"/>
              </a:rPr>
              <a:t>1</a:t>
            </a:r>
            <a:endParaRPr lang="en-US" sz="1300" dirty="0"/>
          </a:p>
        </p:txBody>
      </p:sp>
      <p:sp>
        <p:nvSpPr>
          <p:cNvPr id="13" name="Text 10"/>
          <p:cNvSpPr/>
          <p:nvPr/>
        </p:nvSpPr>
        <p:spPr>
          <a:xfrm>
            <a:off x="5727700" y="1323925"/>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2F6268"/>
          </a:solidFill>
          <a:ln/>
        </p:spPr>
        <p:txBody>
          <a:bodyPr wrap="square" lIns="0" tIns="0" rIns="0" bIns="0" rtlCol="0" anchor="t">
            <a:normAutofit/>
          </a:bodyPr>
          <a:lstStyle/>
          <a:p>
            <a:pPr algn="ctr" indent="0" marL="0">
              <a:lnSpc>
                <a:spcPts val="2600"/>
              </a:lnSpc>
              <a:buNone/>
            </a:pPr>
            <a:r>
              <a:rPr lang="en-US" sz="1300" b="1" dirty="0">
                <a:solidFill>
                  <a:srgbClr val="F5F5F5"/>
                </a:solidFill>
                <a:latin typeface="Hanken Grotesk" pitchFamily="34" charset="0"/>
                <a:ea typeface="Hanken Grotesk" pitchFamily="34" charset="-122"/>
                <a:cs typeface="Hanken Grotesk" pitchFamily="34" charset="-120"/>
              </a:rPr>
              <a:t>2</a:t>
            </a:r>
            <a:endParaRPr lang="en-US" sz="1300" dirty="0"/>
          </a:p>
        </p:txBody>
      </p:sp>
      <p:sp>
        <p:nvSpPr>
          <p:cNvPr id="14" name="Text 11"/>
          <p:cNvSpPr/>
          <p:nvPr/>
        </p:nvSpPr>
        <p:spPr>
          <a:xfrm>
            <a:off x="9398000" y="1323925"/>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49868D"/>
          </a:solidFill>
          <a:ln/>
        </p:spPr>
        <p:txBody>
          <a:bodyPr wrap="square" lIns="0" tIns="0" rIns="0" bIns="0" rtlCol="0" anchor="t">
            <a:normAutofit/>
          </a:bodyPr>
          <a:lstStyle/>
          <a:p>
            <a:pPr algn="ctr" indent="0" marL="0">
              <a:lnSpc>
                <a:spcPts val="2600"/>
              </a:lnSpc>
              <a:buNone/>
            </a:pPr>
            <a:r>
              <a:rPr lang="en-US" sz="1300" b="1" dirty="0">
                <a:solidFill>
                  <a:srgbClr val="F5F5F5"/>
                </a:solidFill>
                <a:latin typeface="Hanken Grotesk" pitchFamily="34" charset="0"/>
                <a:ea typeface="Hanken Grotesk" pitchFamily="34" charset="-122"/>
                <a:cs typeface="Hanken Grotesk" pitchFamily="34" charset="-120"/>
              </a:rPr>
              <a:t>3</a:t>
            </a:r>
            <a:endParaRPr lang="en-US" sz="1300" dirty="0"/>
          </a:p>
        </p:txBody>
      </p:sp>
      <p:sp>
        <p:nvSpPr>
          <p:cNvPr id="15" name="Shape 12"/>
          <p:cNvSpPr/>
          <p:nvPr/>
        </p:nvSpPr>
        <p:spPr>
          <a:xfrm>
            <a:off x="10439400" y="1298525"/>
            <a:ext cx="1143000" cy="502841"/>
          </a:xfrm>
          <a:prstGeom prst="roundRect">
            <a:avLst>
              <a:gd name="adj" fmla="val 17680"/>
            </a:avLst>
          </a:prstGeom>
          <a:solidFill>
            <a:srgbClr val="2F6268"/>
          </a:solidFill>
          <a:ln/>
        </p:spPr>
      </p:sp>
      <p:sp>
        <p:nvSpPr>
          <p:cNvPr id="16" name="Text 13"/>
          <p:cNvSpPr/>
          <p:nvPr/>
        </p:nvSpPr>
        <p:spPr>
          <a:xfrm>
            <a:off x="10662841" y="1336625"/>
            <a:ext cx="81795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5F5F5"/>
                </a:solidFill>
                <a:latin typeface="Hanken Grotesk" pitchFamily="34" charset="0"/>
                <a:ea typeface="Hanken Grotesk" pitchFamily="34" charset="-122"/>
                <a:cs typeface="Hanken Grotesk" pitchFamily="34" charset="-120"/>
              </a:rPr>
              <a:t>Fri 30 Oct</a:t>
            </a:r>
            <a:endParaRPr lang="en-US" sz="1200" dirty="0"/>
          </a:p>
        </p:txBody>
      </p:sp>
      <p:sp>
        <p:nvSpPr>
          <p:cNvPr id="17" name="Text 14"/>
          <p:cNvSpPr/>
          <p:nvPr/>
        </p:nvSpPr>
        <p:spPr>
          <a:xfrm>
            <a:off x="10487521" y="1549946"/>
            <a:ext cx="99327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DDA"/>
                </a:solidFill>
                <a:latin typeface="Hanken Grotesk" pitchFamily="34" charset="0"/>
                <a:ea typeface="Hanken Grotesk" pitchFamily="34" charset="-122"/>
                <a:cs typeface="Hanken Grotesk" pitchFamily="34" charset="-120"/>
              </a:rPr>
              <a:t>Sprint 2 due</a:t>
            </a:r>
            <a:endParaRPr lang="en-US" sz="1200" dirty="0"/>
          </a:p>
        </p:txBody>
      </p:sp>
      <p:sp>
        <p:nvSpPr>
          <p:cNvPr id="18" name="Text 15"/>
          <p:cNvSpPr/>
          <p:nvPr/>
        </p:nvSpPr>
        <p:spPr>
          <a:xfrm>
            <a:off x="635000" y="1908125"/>
            <a:ext cx="3575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Prove the chat side works</a:t>
            </a:r>
            <a:endParaRPr lang="en-US" sz="1500" dirty="0"/>
          </a:p>
        </p:txBody>
      </p:sp>
      <p:sp>
        <p:nvSpPr>
          <p:cNvPr id="19" name="Text 16"/>
          <p:cNvSpPr/>
          <p:nvPr/>
        </p:nvSpPr>
        <p:spPr>
          <a:xfrm>
            <a:off x="635000" y="2149425"/>
            <a:ext cx="3575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Test it before we polish it</a:t>
            </a:r>
            <a:endParaRPr lang="en-US" sz="1200" dirty="0"/>
          </a:p>
        </p:txBody>
      </p:sp>
      <p:sp>
        <p:nvSpPr>
          <p:cNvPr id="20" name="Shape 17"/>
          <p:cNvSpPr/>
          <p:nvPr/>
        </p:nvSpPr>
        <p:spPr>
          <a:xfrm>
            <a:off x="612775" y="2480221"/>
            <a:ext cx="3515767" cy="628600"/>
          </a:xfrm>
          <a:prstGeom prst="roundRect">
            <a:avLst>
              <a:gd name="adj" fmla="val 13637"/>
            </a:avLst>
          </a:prstGeom>
          <a:solidFill>
            <a:srgbClr val="F7F8F8"/>
          </a:solidFill>
          <a:ln w="6350">
            <a:solidFill>
              <a:srgbClr val="D3DCDA"/>
            </a:solidFill>
            <a:prstDash val="solid"/>
          </a:ln>
        </p:spPr>
      </p:sp>
      <p:pic>
        <p:nvPicPr>
          <p:cNvPr id="21" name="Image 1" descr="Users">    </p:cNvPr>
          <p:cNvPicPr>
            <a:picLocks noChangeAspect="1"/>
          </p:cNvPicPr>
          <p:nvPr/>
        </p:nvPicPr>
        <p:blipFill>
          <a:blip r:embed="rId2"/>
          <a:srcRect l="0" r="0" t="0" b="0"/>
          <a:stretch/>
        </p:blipFill>
        <p:spPr>
          <a:xfrm>
            <a:off x="730250" y="2692896"/>
            <a:ext cx="203200" cy="203200"/>
          </a:xfrm>
          <a:prstGeom prst="rect">
            <a:avLst/>
          </a:prstGeom>
        </p:spPr>
      </p:pic>
      <p:sp>
        <p:nvSpPr>
          <p:cNvPr id="22" name="Text 18"/>
          <p:cNvSpPr/>
          <p:nvPr/>
        </p:nvSpPr>
        <p:spPr>
          <a:xfrm>
            <a:off x="1035050" y="2572296"/>
            <a:ext cx="306529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Label the 30 requests</a:t>
            </a:r>
            <a:endParaRPr lang="en-US" sz="1300" dirty="0"/>
          </a:p>
        </p:txBody>
      </p:sp>
      <p:sp>
        <p:nvSpPr>
          <p:cNvPr id="23" name="Text 19"/>
          <p:cNvSpPr/>
          <p:nvPr/>
        </p:nvSpPr>
        <p:spPr>
          <a:xfrm>
            <a:off x="1035050" y="2803426"/>
            <a:ext cx="3065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Two reviewers, then reconcile</a:t>
            </a:r>
            <a:endParaRPr lang="en-US" sz="1200" dirty="0"/>
          </a:p>
        </p:txBody>
      </p:sp>
      <p:sp>
        <p:nvSpPr>
          <p:cNvPr id="24" name="Shape 20"/>
          <p:cNvSpPr/>
          <p:nvPr/>
        </p:nvSpPr>
        <p:spPr>
          <a:xfrm>
            <a:off x="612775" y="3191371"/>
            <a:ext cx="3515767" cy="628600"/>
          </a:xfrm>
          <a:prstGeom prst="roundRect">
            <a:avLst>
              <a:gd name="adj" fmla="val 13637"/>
            </a:avLst>
          </a:prstGeom>
          <a:solidFill>
            <a:srgbClr val="F7F8F8"/>
          </a:solidFill>
          <a:ln w="6350">
            <a:solidFill>
              <a:srgbClr val="D3DCDA"/>
            </a:solidFill>
            <a:prstDash val="solid"/>
          </a:ln>
        </p:spPr>
      </p:sp>
      <p:pic>
        <p:nvPicPr>
          <p:cNvPr id="25" name="Image 2" descr="Lock">    </p:cNvPr>
          <p:cNvPicPr>
            <a:picLocks noChangeAspect="1"/>
          </p:cNvPicPr>
          <p:nvPr/>
        </p:nvPicPr>
        <p:blipFill>
          <a:blip r:embed="rId3"/>
          <a:srcRect l="0" r="0" t="0" b="0"/>
          <a:stretch/>
        </p:blipFill>
        <p:spPr>
          <a:xfrm>
            <a:off x="730250" y="3404046"/>
            <a:ext cx="203200" cy="203200"/>
          </a:xfrm>
          <a:prstGeom prst="rect">
            <a:avLst/>
          </a:prstGeom>
        </p:spPr>
      </p:pic>
      <p:sp>
        <p:nvSpPr>
          <p:cNvPr id="26" name="Text 21"/>
          <p:cNvSpPr/>
          <p:nvPr/>
        </p:nvSpPr>
        <p:spPr>
          <a:xfrm>
            <a:off x="1035050" y="3283446"/>
            <a:ext cx="306529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Write 10+ unseen requests</a:t>
            </a:r>
            <a:endParaRPr lang="en-US" sz="1300" dirty="0"/>
          </a:p>
        </p:txBody>
      </p:sp>
      <p:sp>
        <p:nvSpPr>
          <p:cNvPr id="27" name="Text 22"/>
          <p:cNvSpPr/>
          <p:nvPr/>
        </p:nvSpPr>
        <p:spPr>
          <a:xfrm>
            <a:off x="1035050" y="3514576"/>
            <a:ext cx="3065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Held out, never tuned on</a:t>
            </a:r>
            <a:endParaRPr lang="en-US" sz="1200" dirty="0"/>
          </a:p>
        </p:txBody>
      </p:sp>
      <p:sp>
        <p:nvSpPr>
          <p:cNvPr id="28" name="Shape 23"/>
          <p:cNvSpPr/>
          <p:nvPr/>
        </p:nvSpPr>
        <p:spPr>
          <a:xfrm>
            <a:off x="612775" y="3902521"/>
            <a:ext cx="3515767" cy="628600"/>
          </a:xfrm>
          <a:prstGeom prst="roundRect">
            <a:avLst>
              <a:gd name="adj" fmla="val 13637"/>
            </a:avLst>
          </a:prstGeom>
          <a:solidFill>
            <a:srgbClr val="F7F8F8"/>
          </a:solidFill>
          <a:ln w="6350">
            <a:solidFill>
              <a:srgbClr val="D3DCDA"/>
            </a:solidFill>
            <a:prstDash val="solid"/>
          </a:ln>
        </p:spPr>
      </p:sp>
      <p:pic>
        <p:nvPicPr>
          <p:cNvPr id="29" name="Image 3" descr="Play">    </p:cNvPr>
          <p:cNvPicPr>
            <a:picLocks noChangeAspect="1"/>
          </p:cNvPicPr>
          <p:nvPr/>
        </p:nvPicPr>
        <p:blipFill>
          <a:blip r:embed="rId4"/>
          <a:srcRect l="0" r="0" t="0" b="0"/>
          <a:stretch/>
        </p:blipFill>
        <p:spPr>
          <a:xfrm>
            <a:off x="730250" y="4115197"/>
            <a:ext cx="203200" cy="203200"/>
          </a:xfrm>
          <a:prstGeom prst="rect">
            <a:avLst/>
          </a:prstGeom>
        </p:spPr>
      </p:pic>
      <p:sp>
        <p:nvSpPr>
          <p:cNvPr id="30" name="Text 24"/>
          <p:cNvSpPr/>
          <p:nvPr/>
        </p:nvSpPr>
        <p:spPr>
          <a:xfrm>
            <a:off x="1035050" y="3994596"/>
            <a:ext cx="306529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Live LLM run on all 30</a:t>
            </a:r>
            <a:endParaRPr lang="en-US" sz="1300" dirty="0"/>
          </a:p>
        </p:txBody>
      </p:sp>
      <p:sp>
        <p:nvSpPr>
          <p:cNvPr id="31" name="Text 25"/>
          <p:cNvSpPr/>
          <p:nvPr/>
        </p:nvSpPr>
        <p:spPr>
          <a:xfrm>
            <a:off x="1035050" y="4225727"/>
            <a:ext cx="3065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Decision and explanation scored apart</a:t>
            </a:r>
            <a:endParaRPr lang="en-US" sz="1200" dirty="0"/>
          </a:p>
        </p:txBody>
      </p:sp>
      <p:sp>
        <p:nvSpPr>
          <p:cNvPr id="32" name="Text 26"/>
          <p:cNvSpPr/>
          <p:nvPr/>
        </p:nvSpPr>
        <p:spPr>
          <a:xfrm>
            <a:off x="4360317" y="1908125"/>
            <a:ext cx="357550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Put it online</a:t>
            </a:r>
            <a:endParaRPr lang="en-US" sz="1500" dirty="0"/>
          </a:p>
        </p:txBody>
      </p:sp>
      <p:sp>
        <p:nvSpPr>
          <p:cNvPr id="33" name="Text 27"/>
          <p:cNvSpPr/>
          <p:nvPr/>
        </p:nvSpPr>
        <p:spPr>
          <a:xfrm>
            <a:off x="4360317" y="2149425"/>
            <a:ext cx="35755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Anyone can open and try it</a:t>
            </a:r>
            <a:endParaRPr lang="en-US" sz="1200" dirty="0"/>
          </a:p>
        </p:txBody>
      </p:sp>
      <p:sp>
        <p:nvSpPr>
          <p:cNvPr id="34" name="Shape 28"/>
          <p:cNvSpPr/>
          <p:nvPr/>
        </p:nvSpPr>
        <p:spPr>
          <a:xfrm>
            <a:off x="4338092" y="2480221"/>
            <a:ext cx="3515816" cy="628600"/>
          </a:xfrm>
          <a:prstGeom prst="roundRect">
            <a:avLst>
              <a:gd name="adj" fmla="val 13637"/>
            </a:avLst>
          </a:prstGeom>
          <a:solidFill>
            <a:srgbClr val="F7F8F8"/>
          </a:solidFill>
          <a:ln w="6350">
            <a:solidFill>
              <a:srgbClr val="D3DCDA"/>
            </a:solidFill>
            <a:prstDash val="solid"/>
          </a:ln>
        </p:spPr>
      </p:sp>
      <p:pic>
        <p:nvPicPr>
          <p:cNvPr id="35" name="Image 4" descr="Globe">    </p:cNvPr>
          <p:cNvPicPr>
            <a:picLocks noChangeAspect="1"/>
          </p:cNvPicPr>
          <p:nvPr/>
        </p:nvPicPr>
        <p:blipFill>
          <a:blip r:embed="rId5"/>
          <a:srcRect l="0" r="0" t="0" b="0"/>
          <a:stretch/>
        </p:blipFill>
        <p:spPr>
          <a:xfrm>
            <a:off x="4455567" y="2692896"/>
            <a:ext cx="203200" cy="203200"/>
          </a:xfrm>
          <a:prstGeom prst="rect">
            <a:avLst/>
          </a:prstGeom>
        </p:spPr>
      </p:pic>
      <p:sp>
        <p:nvSpPr>
          <p:cNvPr id="36" name="Text 29"/>
          <p:cNvSpPr/>
          <p:nvPr/>
        </p:nvSpPr>
        <p:spPr>
          <a:xfrm>
            <a:off x="4760367" y="2572296"/>
            <a:ext cx="30653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Demo online</a:t>
            </a:r>
            <a:endParaRPr lang="en-US" sz="1300" dirty="0"/>
          </a:p>
        </p:txBody>
      </p:sp>
      <p:sp>
        <p:nvSpPr>
          <p:cNvPr id="37" name="Text 30"/>
          <p:cNvSpPr/>
          <p:nvPr/>
        </p:nvSpPr>
        <p:spPr>
          <a:xfrm>
            <a:off x="4760367" y="2803426"/>
            <a:ext cx="30653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Streamlit Cloud + public GitHub</a:t>
            </a:r>
            <a:endParaRPr lang="en-US" sz="1200" dirty="0"/>
          </a:p>
        </p:txBody>
      </p:sp>
      <p:sp>
        <p:nvSpPr>
          <p:cNvPr id="38" name="Shape 31"/>
          <p:cNvSpPr/>
          <p:nvPr/>
        </p:nvSpPr>
        <p:spPr>
          <a:xfrm>
            <a:off x="4338092" y="3191371"/>
            <a:ext cx="3515816" cy="628600"/>
          </a:xfrm>
          <a:prstGeom prst="roundRect">
            <a:avLst>
              <a:gd name="adj" fmla="val 13637"/>
            </a:avLst>
          </a:prstGeom>
          <a:solidFill>
            <a:srgbClr val="F7F8F8"/>
          </a:solidFill>
          <a:ln w="6350">
            <a:solidFill>
              <a:srgbClr val="D3DCDA"/>
            </a:solidFill>
            <a:prstDash val="solid"/>
          </a:ln>
        </p:spPr>
      </p:sp>
      <p:pic>
        <p:nvPicPr>
          <p:cNvPr id="39" name="Image 5" descr="Play">    </p:cNvPr>
          <p:cNvPicPr>
            <a:picLocks noChangeAspect="1"/>
          </p:cNvPicPr>
          <p:nvPr/>
        </p:nvPicPr>
        <p:blipFill>
          <a:blip r:embed="rId6"/>
          <a:srcRect l="0" r="0" t="0" b="0"/>
          <a:stretch/>
        </p:blipFill>
        <p:spPr>
          <a:xfrm>
            <a:off x="4455567" y="3404046"/>
            <a:ext cx="203200" cy="203200"/>
          </a:xfrm>
          <a:prstGeom prst="rect">
            <a:avLst/>
          </a:prstGeom>
        </p:spPr>
      </p:pic>
      <p:sp>
        <p:nvSpPr>
          <p:cNvPr id="40" name="Text 32"/>
          <p:cNvSpPr/>
          <p:nvPr/>
        </p:nvSpPr>
        <p:spPr>
          <a:xfrm>
            <a:off x="4760367" y="3283446"/>
            <a:ext cx="306534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Sprint 2 video</a:t>
            </a:r>
            <a:endParaRPr lang="en-US" sz="1300" dirty="0"/>
          </a:p>
        </p:txBody>
      </p:sp>
      <p:sp>
        <p:nvSpPr>
          <p:cNvPr id="41" name="Text 33"/>
          <p:cNvSpPr/>
          <p:nvPr/>
        </p:nvSpPr>
        <p:spPr>
          <a:xfrm>
            <a:off x="4760367" y="3514576"/>
            <a:ext cx="30653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5 min: objective, tech, live demo</a:t>
            </a:r>
            <a:endParaRPr lang="en-US" sz="1200" dirty="0"/>
          </a:p>
        </p:txBody>
      </p:sp>
      <p:sp>
        <p:nvSpPr>
          <p:cNvPr id="42" name="Text 34"/>
          <p:cNvSpPr/>
          <p:nvPr/>
        </p:nvSpPr>
        <p:spPr>
          <a:xfrm>
            <a:off x="8085683" y="1908125"/>
            <a:ext cx="357545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B1C"/>
                </a:solidFill>
                <a:latin typeface="Hanken Grotesk" pitchFamily="34" charset="0"/>
                <a:ea typeface="Hanken Grotesk" pitchFamily="34" charset="-122"/>
                <a:cs typeface="Hanken Grotesk" pitchFamily="34" charset="-120"/>
              </a:rPr>
              <a:t>Make it easier to use</a:t>
            </a:r>
            <a:endParaRPr lang="en-US" sz="1500" dirty="0"/>
          </a:p>
        </p:txBody>
      </p:sp>
      <p:sp>
        <p:nvSpPr>
          <p:cNvPr id="43" name="Text 35"/>
          <p:cNvSpPr/>
          <p:nvPr/>
        </p:nvSpPr>
        <p:spPr>
          <a:xfrm>
            <a:off x="8085683" y="2149425"/>
            <a:ext cx="3575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Faster for the dispatcher</a:t>
            </a:r>
            <a:endParaRPr lang="en-US" sz="1200" dirty="0"/>
          </a:p>
        </p:txBody>
      </p:sp>
      <p:sp>
        <p:nvSpPr>
          <p:cNvPr id="44" name="Shape 36"/>
          <p:cNvSpPr/>
          <p:nvPr/>
        </p:nvSpPr>
        <p:spPr>
          <a:xfrm>
            <a:off x="8063458" y="2480221"/>
            <a:ext cx="3515767" cy="628600"/>
          </a:xfrm>
          <a:prstGeom prst="roundRect">
            <a:avLst>
              <a:gd name="adj" fmla="val 13637"/>
            </a:avLst>
          </a:prstGeom>
          <a:solidFill>
            <a:srgbClr val="F7F8F8"/>
          </a:solidFill>
          <a:ln w="6350">
            <a:solidFill>
              <a:srgbClr val="D3DCDA"/>
            </a:solidFill>
            <a:prstDash val="solid"/>
          </a:ln>
        </p:spPr>
      </p:sp>
      <p:pic>
        <p:nvPicPr>
          <p:cNvPr id="45" name="Image 6" descr="Star">    </p:cNvPr>
          <p:cNvPicPr>
            <a:picLocks noChangeAspect="1"/>
          </p:cNvPicPr>
          <p:nvPr/>
        </p:nvPicPr>
        <p:blipFill>
          <a:blip r:embed="rId7"/>
          <a:srcRect l="0" r="0" t="0" b="0"/>
          <a:stretch/>
        </p:blipFill>
        <p:spPr>
          <a:xfrm>
            <a:off x="8180933" y="2692896"/>
            <a:ext cx="203200" cy="203200"/>
          </a:xfrm>
          <a:prstGeom prst="rect">
            <a:avLst/>
          </a:prstGeom>
        </p:spPr>
      </p:pic>
      <p:sp>
        <p:nvSpPr>
          <p:cNvPr id="46" name="Text 37"/>
          <p:cNvSpPr/>
          <p:nvPr/>
        </p:nvSpPr>
        <p:spPr>
          <a:xfrm>
            <a:off x="8485733" y="2572296"/>
            <a:ext cx="306529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UI polish</a:t>
            </a:r>
            <a:endParaRPr lang="en-US" sz="1300" dirty="0"/>
          </a:p>
        </p:txBody>
      </p:sp>
      <p:sp>
        <p:nvSpPr>
          <p:cNvPr id="47" name="Text 38"/>
          <p:cNvSpPr/>
          <p:nvPr/>
        </p:nvSpPr>
        <p:spPr>
          <a:xfrm>
            <a:off x="8485733" y="2803426"/>
            <a:ext cx="3065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Key info at a glance</a:t>
            </a:r>
            <a:endParaRPr lang="en-US" sz="1200" dirty="0"/>
          </a:p>
        </p:txBody>
      </p:sp>
      <p:sp>
        <p:nvSpPr>
          <p:cNvPr id="48" name="Shape 39"/>
          <p:cNvSpPr/>
          <p:nvPr/>
        </p:nvSpPr>
        <p:spPr>
          <a:xfrm>
            <a:off x="8063458" y="3191371"/>
            <a:ext cx="3515767" cy="628600"/>
          </a:xfrm>
          <a:prstGeom prst="roundRect">
            <a:avLst>
              <a:gd name="adj" fmla="val 13637"/>
            </a:avLst>
          </a:prstGeom>
          <a:solidFill>
            <a:srgbClr val="F7F8F8"/>
          </a:solidFill>
          <a:ln w="6350">
            <a:solidFill>
              <a:srgbClr val="D3DCDA"/>
            </a:solidFill>
            <a:prstDash val="solid"/>
          </a:ln>
        </p:spPr>
      </p:sp>
      <p:pic>
        <p:nvPicPr>
          <p:cNvPr id="49" name="Image 7" descr="Chat">    </p:cNvPr>
          <p:cNvPicPr>
            <a:picLocks noChangeAspect="1"/>
          </p:cNvPicPr>
          <p:nvPr/>
        </p:nvPicPr>
        <p:blipFill>
          <a:blip r:embed="rId8"/>
          <a:srcRect l="0" r="0" t="0" b="0"/>
          <a:stretch/>
        </p:blipFill>
        <p:spPr>
          <a:xfrm>
            <a:off x="8180933" y="3404046"/>
            <a:ext cx="203200" cy="203200"/>
          </a:xfrm>
          <a:prstGeom prst="rect">
            <a:avLst/>
          </a:prstGeom>
        </p:spPr>
      </p:pic>
      <p:sp>
        <p:nvSpPr>
          <p:cNvPr id="50" name="Text 40"/>
          <p:cNvSpPr/>
          <p:nvPr/>
        </p:nvSpPr>
        <p:spPr>
          <a:xfrm>
            <a:off x="8485733" y="3283446"/>
            <a:ext cx="306529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Remember follow-ups</a:t>
            </a:r>
            <a:endParaRPr lang="en-US" sz="1300" dirty="0"/>
          </a:p>
        </p:txBody>
      </p:sp>
      <p:sp>
        <p:nvSpPr>
          <p:cNvPr id="51" name="Text 41"/>
          <p:cNvSpPr/>
          <p:nvPr/>
        </p:nvSpPr>
        <p:spPr>
          <a:xfrm>
            <a:off x="8485733" y="3514576"/>
            <a:ext cx="3065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Reply joins the first message</a:t>
            </a:r>
            <a:endParaRPr lang="en-US" sz="1200" dirty="0"/>
          </a:p>
        </p:txBody>
      </p:sp>
      <p:sp>
        <p:nvSpPr>
          <p:cNvPr id="52" name="Shape 42"/>
          <p:cNvSpPr/>
          <p:nvPr/>
        </p:nvSpPr>
        <p:spPr>
          <a:xfrm>
            <a:off x="8063458" y="3902521"/>
            <a:ext cx="3515767" cy="628600"/>
          </a:xfrm>
          <a:prstGeom prst="roundRect">
            <a:avLst>
              <a:gd name="adj" fmla="val 13637"/>
            </a:avLst>
          </a:prstGeom>
          <a:solidFill>
            <a:srgbClr val="F7F8F8"/>
          </a:solidFill>
          <a:ln w="6350">
            <a:solidFill>
              <a:srgbClr val="D3DCDA"/>
            </a:solidFill>
            <a:prstDash val="solid"/>
          </a:ln>
        </p:spPr>
      </p:sp>
      <p:pic>
        <p:nvPicPr>
          <p:cNvPr id="53" name="Image 8" descr="Wrench">    </p:cNvPr>
          <p:cNvPicPr>
            <a:picLocks noChangeAspect="1"/>
          </p:cNvPicPr>
          <p:nvPr/>
        </p:nvPicPr>
        <p:blipFill>
          <a:blip r:embed="rId9"/>
          <a:srcRect l="0" r="0" t="0" b="0"/>
          <a:stretch/>
        </p:blipFill>
        <p:spPr>
          <a:xfrm>
            <a:off x="8180933" y="4115197"/>
            <a:ext cx="203200" cy="203200"/>
          </a:xfrm>
          <a:prstGeom prst="rect">
            <a:avLst/>
          </a:prstGeom>
        </p:spPr>
      </p:pic>
      <p:sp>
        <p:nvSpPr>
          <p:cNvPr id="54" name="Text 43"/>
          <p:cNvSpPr/>
          <p:nvPr/>
        </p:nvSpPr>
        <p:spPr>
          <a:xfrm>
            <a:off x="8485733" y="3994596"/>
            <a:ext cx="306529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Dispatcher override</a:t>
            </a:r>
            <a:endParaRPr lang="en-US" sz="1300" dirty="0"/>
          </a:p>
        </p:txBody>
      </p:sp>
      <p:sp>
        <p:nvSpPr>
          <p:cNvPr id="55" name="Text 44"/>
          <p:cNvSpPr/>
          <p:nvPr/>
        </p:nvSpPr>
        <p:spPr>
          <a:xfrm>
            <a:off x="8485733" y="4225727"/>
            <a:ext cx="3065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Reason saved in the log</a:t>
            </a:r>
            <a:endParaRPr lang="en-US" sz="1200" dirty="0"/>
          </a:p>
        </p:txBody>
      </p:sp>
      <p:sp>
        <p:nvSpPr>
          <p:cNvPr id="56" name="Shape 45"/>
          <p:cNvSpPr/>
          <p:nvPr/>
        </p:nvSpPr>
        <p:spPr>
          <a:xfrm>
            <a:off x="8063458" y="4613672"/>
            <a:ext cx="3515767" cy="628600"/>
          </a:xfrm>
          <a:prstGeom prst="roundRect">
            <a:avLst>
              <a:gd name="adj" fmla="val 13637"/>
            </a:avLst>
          </a:prstGeom>
          <a:solidFill>
            <a:srgbClr val="F7F8F8"/>
          </a:solidFill>
          <a:ln w="6350">
            <a:solidFill>
              <a:srgbClr val="D3DCDA"/>
            </a:solidFill>
            <a:prstDash val="solid"/>
          </a:ln>
        </p:spPr>
      </p:sp>
      <p:pic>
        <p:nvPicPr>
          <p:cNvPr id="57" name="Image 9" descr="Clock">    </p:cNvPr>
          <p:cNvPicPr>
            <a:picLocks noChangeAspect="1"/>
          </p:cNvPicPr>
          <p:nvPr/>
        </p:nvPicPr>
        <p:blipFill>
          <a:blip r:embed="rId10"/>
          <a:srcRect l="0" r="0" t="0" b="0"/>
          <a:stretch/>
        </p:blipFill>
        <p:spPr>
          <a:xfrm>
            <a:off x="8180933" y="4826347"/>
            <a:ext cx="203200" cy="203200"/>
          </a:xfrm>
          <a:prstGeom prst="rect">
            <a:avLst/>
          </a:prstGeom>
        </p:spPr>
      </p:pic>
      <p:sp>
        <p:nvSpPr>
          <p:cNvPr id="58" name="Text 46"/>
          <p:cNvSpPr/>
          <p:nvPr/>
        </p:nvSpPr>
        <p:spPr>
          <a:xfrm>
            <a:off x="8485733" y="4705747"/>
            <a:ext cx="306529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Response time</a:t>
            </a:r>
            <a:endParaRPr lang="en-US" sz="1300" dirty="0"/>
          </a:p>
        </p:txBody>
      </p:sp>
      <p:sp>
        <p:nvSpPr>
          <p:cNvPr id="59" name="Text 47"/>
          <p:cNvSpPr/>
          <p:nvPr/>
        </p:nvSpPr>
        <p:spPr>
          <a:xfrm>
            <a:off x="8485733" y="4936877"/>
            <a:ext cx="3065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Message to recommendation</a:t>
            </a:r>
            <a:endParaRPr lang="en-US" sz="1200" dirty="0"/>
          </a:p>
        </p:txBody>
      </p:sp>
      <p:sp>
        <p:nvSpPr>
          <p:cNvPr id="60" name="Shape 48"/>
          <p:cNvSpPr/>
          <p:nvPr/>
        </p:nvSpPr>
        <p:spPr>
          <a:xfrm>
            <a:off x="609600" y="6140450"/>
            <a:ext cx="10972800" cy="6350"/>
          </a:xfrm>
          <a:prstGeom prst="rect">
            <a:avLst/>
          </a:prstGeom>
          <a:solidFill>
            <a:srgbClr val="C9D4D2"/>
          </a:solidFill>
          <a:ln/>
        </p:spPr>
      </p:sp>
      <p:sp>
        <p:nvSpPr>
          <p:cNvPr id="61" name="Text 49"/>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62" name="Text 50"/>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08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08 · SPRINT 2 SUCCESS CRITERIA</a:t>
            </a:r>
            <a:endParaRPr lang="en-US" sz="1200" dirty="0"/>
          </a:p>
        </p:txBody>
      </p:sp>
      <p:sp>
        <p:nvSpPr>
          <p:cNvPr id="3" name="Shape 1"/>
          <p:cNvSpPr/>
          <p:nvPr/>
        </p:nvSpPr>
        <p:spPr>
          <a:xfrm>
            <a:off x="612775" y="851495"/>
            <a:ext cx="5708650" cy="5050830"/>
          </a:xfrm>
          <a:prstGeom prst="roundRect">
            <a:avLst>
              <a:gd name="adj" fmla="val 2452"/>
            </a:avLst>
          </a:prstGeom>
          <a:solidFill>
            <a:srgbClr val="F7F8F8"/>
          </a:solidFill>
          <a:ln w="6350">
            <a:solidFill>
              <a:srgbClr val="D3DCDA"/>
            </a:solidFill>
            <a:prstDash val="solid"/>
          </a:ln>
        </p:spPr>
      </p:sp>
      <p:sp>
        <p:nvSpPr>
          <p:cNvPr id="4" name="Text 2"/>
          <p:cNvSpPr/>
          <p:nvPr/>
        </p:nvSpPr>
        <p:spPr>
          <a:xfrm>
            <a:off x="806450" y="1019770"/>
            <a:ext cx="5480939"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9868D"/>
                </a:solidFill>
                <a:latin typeface="Hanken Grotesk" pitchFamily="34" charset="0"/>
                <a:ea typeface="Hanken Grotesk" pitchFamily="34" charset="-122"/>
                <a:cs typeface="Hanken Grotesk" pitchFamily="34" charset="-120"/>
              </a:rPr>
              <a:t>THE CHAT SIDE WORKS</a:t>
            </a:r>
            <a:endParaRPr lang="en-US" sz="1200" dirty="0"/>
          </a:p>
        </p:txBody>
      </p:sp>
      <p:sp>
        <p:nvSpPr>
          <p:cNvPr id="5" name="Shape 3"/>
          <p:cNvSpPr/>
          <p:nvPr/>
        </p:nvSpPr>
        <p:spPr>
          <a:xfrm>
            <a:off x="806450" y="1334691"/>
            <a:ext cx="5321300" cy="815330"/>
          </a:xfrm>
          <a:prstGeom prst="roundRect">
            <a:avLst>
              <a:gd name="adj" fmla="val 12461"/>
            </a:avLst>
          </a:prstGeom>
          <a:gradFill rotWithShape="1">
            <a:gsLst>
              <a:gs pos="0">
                <a:srgbClr val="2F6268"/>
              </a:gs>
              <a:gs pos="100000">
                <a:srgbClr val="49868D"/>
              </a:gs>
            </a:gsLst>
            <a:lin ang="1800000" scaled="0"/>
          </a:gradFill>
          <a:ln/>
        </p:spPr>
      </p:sp>
      <p:sp>
        <p:nvSpPr>
          <p:cNvPr id="6" name="Text 4"/>
          <p:cNvSpPr/>
          <p:nvPr/>
        </p:nvSpPr>
        <p:spPr>
          <a:xfrm>
            <a:off x="971550" y="1448991"/>
            <a:ext cx="1639044" cy="612130"/>
          </a:xfrm>
          <a:prstGeom prst="rect">
            <a:avLst/>
          </a:prstGeom>
          <a:noFill/>
          <a:ln/>
        </p:spPr>
        <p:txBody>
          <a:bodyPr wrap="square" lIns="0" tIns="0" rIns="0" bIns="0" rtlCol="0" anchor="t">
            <a:normAutofit/>
          </a:bodyPr>
          <a:lstStyle/>
          <a:p>
            <a:pPr algn="l" indent="0" marL="0">
              <a:lnSpc>
                <a:spcPts val="4620"/>
              </a:lnSpc>
              <a:buNone/>
            </a:pPr>
            <a:r>
              <a:rPr lang="en-US" sz="4400" b="1" dirty="0">
                <a:solidFill>
                  <a:srgbClr val="F5F5F5"/>
                </a:solidFill>
                <a:latin typeface="Hanken Grotesk" pitchFamily="34" charset="0"/>
                <a:ea typeface="Hanken Grotesk" pitchFamily="34" charset="-122"/>
                <a:cs typeface="Hanken Grotesk" pitchFamily="34" charset="-120"/>
              </a:rPr>
              <a:t>26/30</a:t>
            </a:r>
            <a:endParaRPr lang="en-US" sz="4400" dirty="0"/>
          </a:p>
        </p:txBody>
      </p:sp>
      <p:sp>
        <p:nvSpPr>
          <p:cNvPr id="7" name="Text 5"/>
          <p:cNvSpPr/>
          <p:nvPr/>
        </p:nvSpPr>
        <p:spPr>
          <a:xfrm>
            <a:off x="2610594" y="1498550"/>
            <a:ext cx="345261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Hanken Grotesk" pitchFamily="34" charset="0"/>
                <a:ea typeface="Hanken Grotesk" pitchFamily="34" charset="-122"/>
                <a:cs typeface="Hanken Grotesk" pitchFamily="34" charset="-120"/>
              </a:rPr>
              <a:t>correct responses or better (85%)</a:t>
            </a:r>
            <a:endParaRPr lang="en-US" sz="1400" dirty="0"/>
          </a:p>
        </p:txBody>
      </p:sp>
      <p:sp>
        <p:nvSpPr>
          <p:cNvPr id="8" name="Text 6"/>
          <p:cNvSpPr/>
          <p:nvPr/>
        </p:nvSpPr>
        <p:spPr>
          <a:xfrm>
            <a:off x="2610594" y="1772841"/>
            <a:ext cx="3452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E7E5"/>
                </a:solidFill>
                <a:latin typeface="Hanken Grotesk" pitchFamily="34" charset="0"/>
                <a:ea typeface="Hanken Grotesk" pitchFamily="34" charset="-122"/>
                <a:cs typeface="Hanken Grotesk" pitchFamily="34" charset="-120"/>
              </a:rPr>
              <a:t>recommend · ask · refuse · can't answer</a:t>
            </a:r>
            <a:endParaRPr lang="en-US" sz="1200" dirty="0"/>
          </a:p>
        </p:txBody>
      </p:sp>
      <p:sp>
        <p:nvSpPr>
          <p:cNvPr id="9" name="Shape 7"/>
          <p:cNvSpPr/>
          <p:nvPr/>
        </p:nvSpPr>
        <p:spPr>
          <a:xfrm>
            <a:off x="806450" y="2251621"/>
            <a:ext cx="1722934" cy="962620"/>
          </a:xfrm>
          <a:prstGeom prst="roundRect">
            <a:avLst>
              <a:gd name="adj" fmla="val 9235"/>
            </a:avLst>
          </a:prstGeom>
          <a:solidFill>
            <a:srgbClr val="ECEFEE"/>
          </a:solidFill>
          <a:ln/>
        </p:spPr>
      </p:sp>
      <p:sp>
        <p:nvSpPr>
          <p:cNvPr id="10" name="Text 8"/>
          <p:cNvSpPr/>
          <p:nvPr/>
        </p:nvSpPr>
        <p:spPr>
          <a:xfrm>
            <a:off x="920750" y="2340521"/>
            <a:ext cx="154513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268"/>
                </a:solidFill>
                <a:latin typeface="Hanken Grotesk" pitchFamily="34" charset="0"/>
                <a:ea typeface="Hanken Grotesk" pitchFamily="34" charset="-122"/>
                <a:cs typeface="Hanken Grotesk" pitchFamily="34" charset="-120"/>
              </a:rPr>
              <a:t>7/7</a:t>
            </a:r>
            <a:endParaRPr lang="en-US" sz="2200" dirty="0"/>
          </a:p>
        </p:txBody>
      </p:sp>
      <p:sp>
        <p:nvSpPr>
          <p:cNvPr id="11" name="Text 9"/>
          <p:cNvSpPr/>
          <p:nvPr/>
        </p:nvSpPr>
        <p:spPr>
          <a:xfrm>
            <a:off x="920750" y="2744341"/>
            <a:ext cx="154513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547"/>
                </a:solidFill>
                <a:latin typeface="Hanken Grotesk" pitchFamily="34" charset="0"/>
                <a:ea typeface="Hanken Grotesk" pitchFamily="34" charset="-122"/>
                <a:cs typeface="Hanken Grotesk" pitchFamily="34" charset="-120"/>
              </a:rPr>
              <a:t>Asks when a request is unclear</a:t>
            </a:r>
            <a:endParaRPr lang="en-US" sz="1200" dirty="0"/>
          </a:p>
        </p:txBody>
      </p:sp>
      <p:sp>
        <p:nvSpPr>
          <p:cNvPr id="12" name="Shape 10"/>
          <p:cNvSpPr/>
          <p:nvPr/>
        </p:nvSpPr>
        <p:spPr>
          <a:xfrm>
            <a:off x="2605584" y="2251621"/>
            <a:ext cx="1722983" cy="962620"/>
          </a:xfrm>
          <a:prstGeom prst="roundRect">
            <a:avLst>
              <a:gd name="adj" fmla="val 9235"/>
            </a:avLst>
          </a:prstGeom>
          <a:solidFill>
            <a:srgbClr val="ECEFEE"/>
          </a:solidFill>
          <a:ln/>
        </p:spPr>
      </p:sp>
      <p:sp>
        <p:nvSpPr>
          <p:cNvPr id="13" name="Text 11"/>
          <p:cNvSpPr/>
          <p:nvPr/>
        </p:nvSpPr>
        <p:spPr>
          <a:xfrm>
            <a:off x="2719884" y="2340521"/>
            <a:ext cx="154518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268"/>
                </a:solidFill>
                <a:latin typeface="Hanken Grotesk" pitchFamily="34" charset="0"/>
                <a:ea typeface="Hanken Grotesk" pitchFamily="34" charset="-122"/>
                <a:cs typeface="Hanken Grotesk" pitchFamily="34" charset="-120"/>
              </a:rPr>
              <a:t>4/4</a:t>
            </a:r>
            <a:endParaRPr lang="en-US" sz="2200" dirty="0"/>
          </a:p>
        </p:txBody>
      </p:sp>
      <p:sp>
        <p:nvSpPr>
          <p:cNvPr id="14" name="Text 12"/>
          <p:cNvSpPr/>
          <p:nvPr/>
        </p:nvSpPr>
        <p:spPr>
          <a:xfrm>
            <a:off x="2719884" y="2744341"/>
            <a:ext cx="154518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547"/>
                </a:solidFill>
                <a:latin typeface="Hanken Grotesk" pitchFamily="34" charset="0"/>
                <a:ea typeface="Hanken Grotesk" pitchFamily="34" charset="-122"/>
                <a:cs typeface="Hanken Grotesk" pitchFamily="34" charset="-120"/>
              </a:rPr>
              <a:t>Refuses with reason + alternative</a:t>
            </a:r>
            <a:endParaRPr lang="en-US" sz="1200" dirty="0"/>
          </a:p>
        </p:txBody>
      </p:sp>
      <p:sp>
        <p:nvSpPr>
          <p:cNvPr id="15" name="Shape 13"/>
          <p:cNvSpPr/>
          <p:nvPr/>
        </p:nvSpPr>
        <p:spPr>
          <a:xfrm>
            <a:off x="4404767" y="2251621"/>
            <a:ext cx="1722983" cy="962620"/>
          </a:xfrm>
          <a:prstGeom prst="roundRect">
            <a:avLst>
              <a:gd name="adj" fmla="val 9235"/>
            </a:avLst>
          </a:prstGeom>
          <a:solidFill>
            <a:srgbClr val="ECEFEE"/>
          </a:solidFill>
          <a:ln/>
        </p:spPr>
      </p:sp>
      <p:sp>
        <p:nvSpPr>
          <p:cNvPr id="16" name="Text 14"/>
          <p:cNvSpPr/>
          <p:nvPr/>
        </p:nvSpPr>
        <p:spPr>
          <a:xfrm>
            <a:off x="4519067" y="2340521"/>
            <a:ext cx="154518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268"/>
                </a:solidFill>
                <a:latin typeface="Hanken Grotesk" pitchFamily="34" charset="0"/>
                <a:ea typeface="Hanken Grotesk" pitchFamily="34" charset="-122"/>
                <a:cs typeface="Hanken Grotesk" pitchFamily="34" charset="-120"/>
              </a:rPr>
              <a:t>3/3</a:t>
            </a:r>
            <a:endParaRPr lang="en-US" sz="2200" dirty="0"/>
          </a:p>
        </p:txBody>
      </p:sp>
      <p:sp>
        <p:nvSpPr>
          <p:cNvPr id="17" name="Text 15"/>
          <p:cNvSpPr/>
          <p:nvPr/>
        </p:nvSpPr>
        <p:spPr>
          <a:xfrm>
            <a:off x="4519067" y="2744341"/>
            <a:ext cx="154518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547"/>
                </a:solidFill>
                <a:latin typeface="Hanken Grotesk" pitchFamily="34" charset="0"/>
                <a:ea typeface="Hanken Grotesk" pitchFamily="34" charset="-122"/>
                <a:cs typeface="Hanken Grotesk" pitchFamily="34" charset="-120"/>
              </a:rPr>
              <a:t>Says when the data can't answer</a:t>
            </a:r>
            <a:endParaRPr lang="en-US" sz="1200" dirty="0"/>
          </a:p>
        </p:txBody>
      </p:sp>
      <p:sp>
        <p:nvSpPr>
          <p:cNvPr id="18" name="Shape 16"/>
          <p:cNvSpPr/>
          <p:nvPr/>
        </p:nvSpPr>
        <p:spPr>
          <a:xfrm>
            <a:off x="806450" y="3290441"/>
            <a:ext cx="1722934" cy="962620"/>
          </a:xfrm>
          <a:prstGeom prst="roundRect">
            <a:avLst>
              <a:gd name="adj" fmla="val 9235"/>
            </a:avLst>
          </a:prstGeom>
          <a:solidFill>
            <a:srgbClr val="ECEFEE"/>
          </a:solidFill>
          <a:ln/>
        </p:spPr>
      </p:sp>
      <p:sp>
        <p:nvSpPr>
          <p:cNvPr id="19" name="Text 17"/>
          <p:cNvSpPr/>
          <p:nvPr/>
        </p:nvSpPr>
        <p:spPr>
          <a:xfrm>
            <a:off x="920750" y="3379341"/>
            <a:ext cx="154513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268"/>
                </a:solidFill>
                <a:latin typeface="Hanken Grotesk" pitchFamily="34" charset="0"/>
                <a:ea typeface="Hanken Grotesk" pitchFamily="34" charset="-122"/>
                <a:cs typeface="Hanken Grotesk" pitchFamily="34" charset="-120"/>
              </a:rPr>
              <a:t>3/3</a:t>
            </a:r>
            <a:endParaRPr lang="en-US" sz="2200" dirty="0"/>
          </a:p>
        </p:txBody>
      </p:sp>
      <p:sp>
        <p:nvSpPr>
          <p:cNvPr id="20" name="Text 18"/>
          <p:cNvSpPr/>
          <p:nvPr/>
        </p:nvSpPr>
        <p:spPr>
          <a:xfrm>
            <a:off x="920750" y="3783161"/>
            <a:ext cx="1545134"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547"/>
                </a:solidFill>
                <a:latin typeface="Hanken Grotesk" pitchFamily="34" charset="0"/>
                <a:ea typeface="Hanken Grotesk" pitchFamily="34" charset="-122"/>
                <a:cs typeface="Hanken Grotesk" pitchFamily="34" charset="-120"/>
              </a:rPr>
              <a:t>Impossible deadline: earliest date</a:t>
            </a:r>
            <a:endParaRPr lang="en-US" sz="1200" dirty="0"/>
          </a:p>
        </p:txBody>
      </p:sp>
      <p:sp>
        <p:nvSpPr>
          <p:cNvPr id="21" name="Shape 19"/>
          <p:cNvSpPr/>
          <p:nvPr/>
        </p:nvSpPr>
        <p:spPr>
          <a:xfrm>
            <a:off x="2605584" y="3290441"/>
            <a:ext cx="1722983" cy="962620"/>
          </a:xfrm>
          <a:prstGeom prst="roundRect">
            <a:avLst>
              <a:gd name="adj" fmla="val 9235"/>
            </a:avLst>
          </a:prstGeom>
          <a:solidFill>
            <a:srgbClr val="ECEFEE"/>
          </a:solidFill>
          <a:ln/>
        </p:spPr>
      </p:sp>
      <p:sp>
        <p:nvSpPr>
          <p:cNvPr id="22" name="Text 20"/>
          <p:cNvSpPr/>
          <p:nvPr/>
        </p:nvSpPr>
        <p:spPr>
          <a:xfrm>
            <a:off x="2719884" y="3379341"/>
            <a:ext cx="154518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268"/>
                </a:solidFill>
                <a:latin typeface="Hanken Grotesk" pitchFamily="34" charset="0"/>
                <a:ea typeface="Hanken Grotesk" pitchFamily="34" charset="-122"/>
                <a:cs typeface="Hanken Grotesk" pitchFamily="34" charset="-120"/>
              </a:rPr>
              <a:t>6/6</a:t>
            </a:r>
            <a:endParaRPr lang="en-US" sz="2200" dirty="0"/>
          </a:p>
        </p:txBody>
      </p:sp>
      <p:sp>
        <p:nvSpPr>
          <p:cNvPr id="23" name="Text 21"/>
          <p:cNvSpPr/>
          <p:nvPr/>
        </p:nvSpPr>
        <p:spPr>
          <a:xfrm>
            <a:off x="2719884" y="3783161"/>
            <a:ext cx="154518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547"/>
                </a:solidFill>
                <a:latin typeface="Hanken Grotesk" pitchFamily="34" charset="0"/>
                <a:ea typeface="Hanken Grotesk" pitchFamily="34" charset="-122"/>
                <a:cs typeface="Hanken Grotesk" pitchFamily="34" charset="-120"/>
              </a:rPr>
              <a:t>Follows and logs instructions</a:t>
            </a:r>
            <a:endParaRPr lang="en-US" sz="1200" dirty="0"/>
          </a:p>
        </p:txBody>
      </p:sp>
      <p:sp>
        <p:nvSpPr>
          <p:cNvPr id="24" name="Shape 22"/>
          <p:cNvSpPr/>
          <p:nvPr/>
        </p:nvSpPr>
        <p:spPr>
          <a:xfrm>
            <a:off x="4404767" y="3290441"/>
            <a:ext cx="1722983" cy="962620"/>
          </a:xfrm>
          <a:prstGeom prst="roundRect">
            <a:avLst>
              <a:gd name="adj" fmla="val 9235"/>
            </a:avLst>
          </a:prstGeom>
          <a:solidFill>
            <a:srgbClr val="ECEFEE"/>
          </a:solidFill>
          <a:ln/>
        </p:spPr>
      </p:sp>
      <p:sp>
        <p:nvSpPr>
          <p:cNvPr id="25" name="Text 23"/>
          <p:cNvSpPr/>
          <p:nvPr/>
        </p:nvSpPr>
        <p:spPr>
          <a:xfrm>
            <a:off x="4519067" y="3379341"/>
            <a:ext cx="154518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268"/>
                </a:solidFill>
                <a:latin typeface="Hanken Grotesk" pitchFamily="34" charset="0"/>
                <a:ea typeface="Hanken Grotesk" pitchFamily="34" charset="-122"/>
                <a:cs typeface="Hanken Grotesk" pitchFamily="34" charset="-120"/>
              </a:rPr>
              <a:t>0</a:t>
            </a:r>
            <a:endParaRPr lang="en-US" sz="2200" dirty="0"/>
          </a:p>
        </p:txBody>
      </p:sp>
      <p:sp>
        <p:nvSpPr>
          <p:cNvPr id="26" name="Text 24"/>
          <p:cNvSpPr/>
          <p:nvPr/>
        </p:nvSpPr>
        <p:spPr>
          <a:xfrm>
            <a:off x="4519067" y="3783161"/>
            <a:ext cx="1545183"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B4547"/>
                </a:solidFill>
                <a:latin typeface="Hanken Grotesk" pitchFamily="34" charset="0"/>
                <a:ea typeface="Hanken Grotesk" pitchFamily="34" charset="-122"/>
                <a:cs typeface="Hanken Grotesk" pitchFamily="34" charset="-120"/>
              </a:rPr>
              <a:t>Invented numbers in any explanation</a:t>
            </a:r>
            <a:endParaRPr lang="en-US" sz="1200" dirty="0"/>
          </a:p>
        </p:txBody>
      </p:sp>
      <p:sp>
        <p:nvSpPr>
          <p:cNvPr id="27" name="Shape 25"/>
          <p:cNvSpPr/>
          <p:nvPr/>
        </p:nvSpPr>
        <p:spPr>
          <a:xfrm>
            <a:off x="806450" y="5180409"/>
            <a:ext cx="2622550" cy="553641"/>
          </a:xfrm>
          <a:prstGeom prst="roundRect">
            <a:avLst>
              <a:gd name="adj" fmla="val 13763"/>
            </a:avLst>
          </a:prstGeom>
          <a:solidFill>
            <a:srgbClr val="DCE6E4"/>
          </a:solidFill>
          <a:ln/>
        </p:spPr>
      </p:sp>
      <p:pic>
        <p:nvPicPr>
          <p:cNvPr id="28" name="Image 0" descr="Users">    </p:cNvPr>
          <p:cNvPicPr>
            <a:picLocks noChangeAspect="1"/>
          </p:cNvPicPr>
          <p:nvPr/>
        </p:nvPicPr>
        <p:blipFill>
          <a:blip r:embed="rId1"/>
          <a:srcRect l="0" r="0" t="0" b="0"/>
          <a:stretch/>
        </p:blipFill>
        <p:spPr>
          <a:xfrm>
            <a:off x="908050" y="5368330"/>
            <a:ext cx="177800" cy="177800"/>
          </a:xfrm>
          <a:prstGeom prst="rect">
            <a:avLst/>
          </a:prstGeom>
        </p:spPr>
      </p:pic>
      <p:sp>
        <p:nvSpPr>
          <p:cNvPr id="29" name="Text 26"/>
          <p:cNvSpPr/>
          <p:nvPr/>
        </p:nvSpPr>
        <p:spPr>
          <a:xfrm>
            <a:off x="1149350" y="5243909"/>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30/30 labelled by 2 reviewers first</a:t>
            </a:r>
            <a:endParaRPr lang="en-US" sz="1200" dirty="0"/>
          </a:p>
        </p:txBody>
      </p:sp>
      <p:sp>
        <p:nvSpPr>
          <p:cNvPr id="30" name="Shape 27"/>
          <p:cNvSpPr/>
          <p:nvPr/>
        </p:nvSpPr>
        <p:spPr>
          <a:xfrm>
            <a:off x="3505200" y="5180409"/>
            <a:ext cx="2622550" cy="553641"/>
          </a:xfrm>
          <a:prstGeom prst="roundRect">
            <a:avLst>
              <a:gd name="adj" fmla="val 13763"/>
            </a:avLst>
          </a:prstGeom>
          <a:solidFill>
            <a:srgbClr val="DCE6E4"/>
          </a:solidFill>
          <a:ln/>
        </p:spPr>
      </p:sp>
      <p:pic>
        <p:nvPicPr>
          <p:cNvPr id="31" name="Image 1" descr="Lock">    </p:cNvPr>
          <p:cNvPicPr>
            <a:picLocks noChangeAspect="1"/>
          </p:cNvPicPr>
          <p:nvPr/>
        </p:nvPicPr>
        <p:blipFill>
          <a:blip r:embed="rId2"/>
          <a:srcRect l="0" r="0" t="0" b="0"/>
          <a:stretch/>
        </p:blipFill>
        <p:spPr>
          <a:xfrm>
            <a:off x="3606800" y="5368330"/>
            <a:ext cx="177800" cy="177800"/>
          </a:xfrm>
          <a:prstGeom prst="rect">
            <a:avLst/>
          </a:prstGeom>
        </p:spPr>
      </p:pic>
      <p:sp>
        <p:nvSpPr>
          <p:cNvPr id="32" name="Text 28"/>
          <p:cNvSpPr/>
          <p:nvPr/>
        </p:nvSpPr>
        <p:spPr>
          <a:xfrm>
            <a:off x="3848100" y="5243909"/>
            <a:ext cx="224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1B1C"/>
                </a:solidFill>
                <a:latin typeface="Hanken Grotesk" pitchFamily="34" charset="0"/>
                <a:ea typeface="Hanken Grotesk" pitchFamily="34" charset="-122"/>
                <a:cs typeface="Hanken Grotesk" pitchFamily="34" charset="-120"/>
              </a:rPr>
              <a:t>10+ held-out, reported separately</a:t>
            </a:r>
            <a:endParaRPr lang="en-US" sz="1200" dirty="0"/>
          </a:p>
        </p:txBody>
      </p:sp>
      <p:sp>
        <p:nvSpPr>
          <p:cNvPr id="33" name="Shape 29"/>
          <p:cNvSpPr/>
          <p:nvPr/>
        </p:nvSpPr>
        <p:spPr>
          <a:xfrm>
            <a:off x="6556375" y="851495"/>
            <a:ext cx="5022850" cy="1997472"/>
          </a:xfrm>
          <a:prstGeom prst="roundRect">
            <a:avLst>
              <a:gd name="adj" fmla="val 6199"/>
            </a:avLst>
          </a:prstGeom>
          <a:solidFill>
            <a:srgbClr val="F7F8F8"/>
          </a:solidFill>
          <a:ln w="6350">
            <a:solidFill>
              <a:srgbClr val="D3DCDA"/>
            </a:solidFill>
            <a:prstDash val="solid"/>
          </a:ln>
        </p:spPr>
      </p:sp>
      <p:sp>
        <p:nvSpPr>
          <p:cNvPr id="34" name="Text 30"/>
          <p:cNvSpPr/>
          <p:nvPr/>
        </p:nvSpPr>
        <p:spPr>
          <a:xfrm>
            <a:off x="6750050" y="1019770"/>
            <a:ext cx="4774565"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9868D"/>
                </a:solidFill>
                <a:latin typeface="Hanken Grotesk" pitchFamily="34" charset="0"/>
                <a:ea typeface="Hanken Grotesk" pitchFamily="34" charset="-122"/>
                <a:cs typeface="Hanken Grotesk" pitchFamily="34" charset="-120"/>
              </a:rPr>
              <a:t>THE APP IS USABLE</a:t>
            </a:r>
            <a:endParaRPr lang="en-US" sz="1200" dirty="0"/>
          </a:p>
        </p:txBody>
      </p:sp>
      <p:pic>
        <p:nvPicPr>
          <p:cNvPr id="35" name="Image 2" descr="Globe">    </p:cNvPr>
          <p:cNvPicPr>
            <a:picLocks noChangeAspect="1"/>
          </p:cNvPicPr>
          <p:nvPr/>
        </p:nvPicPr>
        <p:blipFill>
          <a:blip r:embed="rId3"/>
          <a:srcRect l="0" r="0" t="0" b="0"/>
          <a:stretch/>
        </p:blipFill>
        <p:spPr>
          <a:xfrm>
            <a:off x="6750050" y="1320701"/>
            <a:ext cx="190500" cy="190500"/>
          </a:xfrm>
          <a:prstGeom prst="rect">
            <a:avLst/>
          </a:prstGeom>
        </p:spPr>
      </p:pic>
      <p:sp>
        <p:nvSpPr>
          <p:cNvPr id="36" name="Text 31"/>
          <p:cNvSpPr/>
          <p:nvPr/>
        </p:nvSpPr>
        <p:spPr>
          <a:xfrm>
            <a:off x="7029450" y="1309291"/>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Demo online</a:t>
            </a:r>
            <a:endParaRPr lang="en-US" sz="1200" dirty="0"/>
          </a:p>
        </p:txBody>
      </p:sp>
      <p:sp>
        <p:nvSpPr>
          <p:cNvPr id="37" name="Text 32"/>
          <p:cNvSpPr/>
          <p:nvPr/>
        </p:nvSpPr>
        <p:spPr>
          <a:xfrm>
            <a:off x="8832850" y="1309291"/>
            <a:ext cx="2629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Both links open anywhere</a:t>
            </a:r>
            <a:endParaRPr lang="en-US" sz="1200" dirty="0"/>
          </a:p>
        </p:txBody>
      </p:sp>
      <p:pic>
        <p:nvPicPr>
          <p:cNvPr id="38" name="Image 3" descr="Star">    </p:cNvPr>
          <p:cNvPicPr>
            <a:picLocks noChangeAspect="1"/>
          </p:cNvPicPr>
          <p:nvPr/>
        </p:nvPicPr>
        <p:blipFill>
          <a:blip r:embed="rId4"/>
          <a:srcRect l="0" r="0" t="0" b="0"/>
          <a:stretch/>
        </p:blipFill>
        <p:spPr>
          <a:xfrm>
            <a:off x="6750050" y="1610221"/>
            <a:ext cx="190500" cy="190500"/>
          </a:xfrm>
          <a:prstGeom prst="rect">
            <a:avLst/>
          </a:prstGeom>
        </p:spPr>
      </p:pic>
      <p:sp>
        <p:nvSpPr>
          <p:cNvPr id="39" name="Text 33"/>
          <p:cNvSpPr/>
          <p:nvPr/>
        </p:nvSpPr>
        <p:spPr>
          <a:xfrm>
            <a:off x="7029450" y="1598811"/>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UI polish</a:t>
            </a:r>
            <a:endParaRPr lang="en-US" sz="1200" dirty="0"/>
          </a:p>
        </p:txBody>
      </p:sp>
      <p:sp>
        <p:nvSpPr>
          <p:cNvPr id="40" name="Text 34"/>
          <p:cNvSpPr/>
          <p:nvPr/>
        </p:nvSpPr>
        <p:spPr>
          <a:xfrm>
            <a:off x="8832850" y="1598811"/>
            <a:ext cx="2629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Pick, ETA, cost: no scrolling</a:t>
            </a:r>
            <a:endParaRPr lang="en-US" sz="1200" dirty="0"/>
          </a:p>
        </p:txBody>
      </p:sp>
      <p:pic>
        <p:nvPicPr>
          <p:cNvPr id="41" name="Image 4" descr="Chat">    </p:cNvPr>
          <p:cNvPicPr>
            <a:picLocks noChangeAspect="1"/>
          </p:cNvPicPr>
          <p:nvPr/>
        </p:nvPicPr>
        <p:blipFill>
          <a:blip r:embed="rId5"/>
          <a:srcRect l="0" r="0" t="0" b="0"/>
          <a:stretch/>
        </p:blipFill>
        <p:spPr>
          <a:xfrm>
            <a:off x="6750050" y="1899741"/>
            <a:ext cx="190500" cy="190500"/>
          </a:xfrm>
          <a:prstGeom prst="rect">
            <a:avLst/>
          </a:prstGeom>
        </p:spPr>
      </p:pic>
      <p:sp>
        <p:nvSpPr>
          <p:cNvPr id="42" name="Text 35"/>
          <p:cNvSpPr/>
          <p:nvPr/>
        </p:nvSpPr>
        <p:spPr>
          <a:xfrm>
            <a:off x="7029450" y="1888331"/>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Remember follow-up</a:t>
            </a:r>
            <a:endParaRPr lang="en-US" sz="1200" dirty="0"/>
          </a:p>
        </p:txBody>
      </p:sp>
      <p:sp>
        <p:nvSpPr>
          <p:cNvPr id="43" name="Text 36"/>
          <p:cNvSpPr/>
          <p:nvPr/>
        </p:nvSpPr>
        <p:spPr>
          <a:xfrm>
            <a:off x="8832850" y="1888331"/>
            <a:ext cx="2629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Reply "ORD-020" → a pick</a:t>
            </a:r>
            <a:endParaRPr lang="en-US" sz="1200" dirty="0"/>
          </a:p>
        </p:txBody>
      </p:sp>
      <p:pic>
        <p:nvPicPr>
          <p:cNvPr id="44" name="Image 5" descr="Wrench">    </p:cNvPr>
          <p:cNvPicPr>
            <a:picLocks noChangeAspect="1"/>
          </p:cNvPicPr>
          <p:nvPr/>
        </p:nvPicPr>
        <p:blipFill>
          <a:blip r:embed="rId6"/>
          <a:srcRect l="0" r="0" t="0" b="0"/>
          <a:stretch/>
        </p:blipFill>
        <p:spPr>
          <a:xfrm>
            <a:off x="6750050" y="2189262"/>
            <a:ext cx="190500" cy="190500"/>
          </a:xfrm>
          <a:prstGeom prst="rect">
            <a:avLst/>
          </a:prstGeom>
        </p:spPr>
      </p:pic>
      <p:sp>
        <p:nvSpPr>
          <p:cNvPr id="45" name="Text 37"/>
          <p:cNvSpPr/>
          <p:nvPr/>
        </p:nvSpPr>
        <p:spPr>
          <a:xfrm>
            <a:off x="7029450" y="2177852"/>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Dispatcher override</a:t>
            </a:r>
            <a:endParaRPr lang="en-US" sz="1200" dirty="0"/>
          </a:p>
        </p:txBody>
      </p:sp>
      <p:sp>
        <p:nvSpPr>
          <p:cNvPr id="46" name="Text 38"/>
          <p:cNvSpPr/>
          <p:nvPr/>
        </p:nvSpPr>
        <p:spPr>
          <a:xfrm>
            <a:off x="8832850" y="2177852"/>
            <a:ext cx="2629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Works, reason logged</a:t>
            </a:r>
            <a:endParaRPr lang="en-US" sz="1200" dirty="0"/>
          </a:p>
        </p:txBody>
      </p:sp>
      <p:pic>
        <p:nvPicPr>
          <p:cNvPr id="47" name="Image 6" descr="Clock">    </p:cNvPr>
          <p:cNvPicPr>
            <a:picLocks noChangeAspect="1"/>
          </p:cNvPicPr>
          <p:nvPr/>
        </p:nvPicPr>
        <p:blipFill>
          <a:blip r:embed="rId7"/>
          <a:srcRect l="0" r="0" t="0" b="0"/>
          <a:stretch/>
        </p:blipFill>
        <p:spPr>
          <a:xfrm>
            <a:off x="6750050" y="2478782"/>
            <a:ext cx="190500" cy="190500"/>
          </a:xfrm>
          <a:prstGeom prst="rect">
            <a:avLst/>
          </a:prstGeom>
        </p:spPr>
      </p:pic>
      <p:sp>
        <p:nvSpPr>
          <p:cNvPr id="48" name="Text 39"/>
          <p:cNvSpPr/>
          <p:nvPr/>
        </p:nvSpPr>
        <p:spPr>
          <a:xfrm>
            <a:off x="7029450" y="2467372"/>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Response time</a:t>
            </a:r>
            <a:endParaRPr lang="en-US" sz="1200" dirty="0"/>
          </a:p>
        </p:txBody>
      </p:sp>
      <p:sp>
        <p:nvSpPr>
          <p:cNvPr id="49" name="Text 40"/>
          <p:cNvSpPr/>
          <p:nvPr/>
        </p:nvSpPr>
        <p:spPr>
          <a:xfrm>
            <a:off x="8832850" y="2467372"/>
            <a:ext cx="2629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Under 10 seconds</a:t>
            </a:r>
            <a:endParaRPr lang="en-US" sz="1200" dirty="0"/>
          </a:p>
        </p:txBody>
      </p:sp>
      <p:sp>
        <p:nvSpPr>
          <p:cNvPr id="50" name="Shape 41"/>
          <p:cNvSpPr/>
          <p:nvPr/>
        </p:nvSpPr>
        <p:spPr>
          <a:xfrm>
            <a:off x="6556375" y="2982317"/>
            <a:ext cx="5022850" cy="2920008"/>
          </a:xfrm>
          <a:prstGeom prst="roundRect">
            <a:avLst>
              <a:gd name="adj" fmla="val 4241"/>
            </a:avLst>
          </a:prstGeom>
          <a:solidFill>
            <a:srgbClr val="F7F8F8"/>
          </a:solidFill>
          <a:ln w="6350">
            <a:solidFill>
              <a:srgbClr val="D3DCDA"/>
            </a:solidFill>
            <a:prstDash val="solid"/>
          </a:ln>
        </p:spPr>
      </p:sp>
      <p:sp>
        <p:nvSpPr>
          <p:cNvPr id="51" name="Text 42"/>
          <p:cNvSpPr/>
          <p:nvPr/>
        </p:nvSpPr>
        <p:spPr>
          <a:xfrm>
            <a:off x="6750050" y="3150592"/>
            <a:ext cx="4774565"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49868D"/>
                </a:solidFill>
                <a:latin typeface="Hanken Grotesk" pitchFamily="34" charset="0"/>
                <a:ea typeface="Hanken Grotesk" pitchFamily="34" charset="-122"/>
                <a:cs typeface="Hanken Grotesk" pitchFamily="34" charset="-120"/>
              </a:rPr>
              <a:t>THE SIMULATOR</a:t>
            </a:r>
            <a:endParaRPr lang="en-US" sz="1200" dirty="0"/>
          </a:p>
        </p:txBody>
      </p:sp>
      <p:pic>
        <p:nvPicPr>
          <p:cNvPr id="52" name="Image 7" descr="Chart">    </p:cNvPr>
          <p:cNvPicPr>
            <a:picLocks noChangeAspect="1"/>
          </p:cNvPicPr>
          <p:nvPr/>
        </p:nvPicPr>
        <p:blipFill>
          <a:blip r:embed="rId8"/>
          <a:srcRect l="0" r="0" t="0" b="0"/>
          <a:stretch/>
        </p:blipFill>
        <p:spPr>
          <a:xfrm>
            <a:off x="6750050" y="3451523"/>
            <a:ext cx="190500" cy="190500"/>
          </a:xfrm>
          <a:prstGeom prst="rect">
            <a:avLst/>
          </a:prstGeom>
        </p:spPr>
      </p:pic>
      <p:sp>
        <p:nvSpPr>
          <p:cNvPr id="53" name="Text 43"/>
          <p:cNvSpPr/>
          <p:nvPr/>
        </p:nvSpPr>
        <p:spPr>
          <a:xfrm>
            <a:off x="7029450" y="3440113"/>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Fewer late orders</a:t>
            </a:r>
            <a:endParaRPr lang="en-US" sz="1200" dirty="0"/>
          </a:p>
        </p:txBody>
      </p:sp>
      <p:sp>
        <p:nvSpPr>
          <p:cNvPr id="54" name="Text 44"/>
          <p:cNvSpPr/>
          <p:nvPr/>
        </p:nvSpPr>
        <p:spPr>
          <a:xfrm>
            <a:off x="8832850" y="3440113"/>
            <a:ext cx="2629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Beat all 3 baselines</a:t>
            </a:r>
            <a:endParaRPr lang="en-US" sz="1200" dirty="0"/>
          </a:p>
        </p:txBody>
      </p:sp>
      <p:pic>
        <p:nvPicPr>
          <p:cNvPr id="55" name="Image 8" descr="Activity">    </p:cNvPr>
          <p:cNvPicPr>
            <a:picLocks noChangeAspect="1"/>
          </p:cNvPicPr>
          <p:nvPr/>
        </p:nvPicPr>
        <p:blipFill>
          <a:blip r:embed="rId9"/>
          <a:srcRect l="0" r="0" t="0" b="0"/>
          <a:stretch/>
        </p:blipFill>
        <p:spPr>
          <a:xfrm>
            <a:off x="6750050" y="3741043"/>
            <a:ext cx="190500" cy="190500"/>
          </a:xfrm>
          <a:prstGeom prst="rect">
            <a:avLst/>
          </a:prstGeom>
        </p:spPr>
      </p:pic>
      <p:sp>
        <p:nvSpPr>
          <p:cNvPr id="56" name="Text 45"/>
          <p:cNvSpPr/>
          <p:nvPr/>
        </p:nvSpPr>
        <p:spPr>
          <a:xfrm>
            <a:off x="7029450" y="3729633"/>
            <a:ext cx="17659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1B1C"/>
                </a:solidFill>
                <a:latin typeface="Hanken Grotesk" pitchFamily="34" charset="0"/>
                <a:ea typeface="Hanken Grotesk" pitchFamily="34" charset="-122"/>
                <a:cs typeface="Hanken Grotesk" pitchFamily="34" charset="-120"/>
              </a:rPr>
              <a:t>Robustness, hybrid</a:t>
            </a:r>
            <a:endParaRPr lang="en-US" sz="1200" dirty="0"/>
          </a:p>
        </p:txBody>
      </p:sp>
      <p:sp>
        <p:nvSpPr>
          <p:cNvPr id="57" name="Text 46"/>
          <p:cNvSpPr/>
          <p:nvPr/>
        </p:nvSpPr>
        <p:spPr>
          <a:xfrm>
            <a:off x="8832850" y="3729633"/>
            <a:ext cx="2629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Reported vs baselines</a:t>
            </a:r>
            <a:endParaRPr lang="en-US" sz="1200" dirty="0"/>
          </a:p>
        </p:txBody>
      </p:sp>
      <p:sp>
        <p:nvSpPr>
          <p:cNvPr id="58" name="Shape 47"/>
          <p:cNvSpPr/>
          <p:nvPr/>
        </p:nvSpPr>
        <p:spPr>
          <a:xfrm>
            <a:off x="609600" y="6140450"/>
            <a:ext cx="10972800" cy="6350"/>
          </a:xfrm>
          <a:prstGeom prst="rect">
            <a:avLst/>
          </a:prstGeom>
          <a:solidFill>
            <a:srgbClr val="C9D4D2"/>
          </a:solidFill>
          <a:ln/>
        </p:spPr>
      </p:sp>
      <p:sp>
        <p:nvSpPr>
          <p:cNvPr id="59" name="Text 48"/>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a:t>
            </a:r>
            <a:endParaRPr lang="en-US" sz="1200" dirty="0"/>
          </a:p>
        </p:txBody>
      </p:sp>
      <p:sp>
        <p:nvSpPr>
          <p:cNvPr id="60" name="Text 49"/>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09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FE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5000"/>
          </a:blip>
          <a:srcRect l="-926" r="-926" t="0" b="0"/>
          <a:stretch/>
        </p:blipFill>
        <p:spPr>
          <a:xfrm>
            <a:off x="5207000" y="0"/>
            <a:ext cx="6985000" cy="6858000"/>
          </a:xfrm>
          <a:prstGeom prst="rect">
            <a:avLst/>
          </a:prstGeom>
        </p:spPr>
      </p:pic>
      <p:sp>
        <p:nvSpPr>
          <p:cNvPr id="3" name="Text 0"/>
          <p:cNvSpPr/>
          <p:nvPr/>
        </p:nvSpPr>
        <p:spPr>
          <a:xfrm>
            <a:off x="685800" y="1832620"/>
            <a:ext cx="1114501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61B1C"/>
                </a:solidFill>
                <a:latin typeface="Hanken Grotesk" pitchFamily="34" charset="0"/>
                <a:ea typeface="Hanken Grotesk" pitchFamily="34" charset="-122"/>
                <a:cs typeface="Hanken Grotesk" pitchFamily="34" charset="-120"/>
              </a:rPr>
              <a:t>Quick-Response Subcontracting Desk</a:t>
            </a:r>
            <a:endParaRPr lang="en-US" sz="1800" dirty="0"/>
          </a:p>
        </p:txBody>
      </p:sp>
      <p:sp>
        <p:nvSpPr>
          <p:cNvPr id="4" name="Text 1"/>
          <p:cNvSpPr/>
          <p:nvPr>
            <p:ph type="title"/>
          </p:nvPr>
        </p:nvSpPr>
        <p:spPr>
          <a:xfrm>
            <a:off x="685800" y="2330450"/>
            <a:ext cx="7194550"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49868D"/>
                </a:solidFill>
                <a:latin typeface="Hanken Grotesk" pitchFamily="34" charset="0"/>
                <a:ea typeface="Hanken Grotesk" pitchFamily="34" charset="-122"/>
                <a:cs typeface="Hanken Grotesk" pitchFamily="34" charset="-120"/>
              </a:rPr>
              <a:t>Thank you</a:t>
            </a:r>
            <a:endParaRPr lang="en-US" sz="8000" dirty="0"/>
          </a:p>
        </p:txBody>
      </p:sp>
      <p:sp>
        <p:nvSpPr>
          <p:cNvPr id="5" name="Text 2"/>
          <p:cNvSpPr/>
          <p:nvPr/>
        </p:nvSpPr>
        <p:spPr>
          <a:xfrm>
            <a:off x="685800" y="3524250"/>
            <a:ext cx="11145012"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61B1C"/>
                </a:solidFill>
                <a:latin typeface="Hanken Grotesk" pitchFamily="34" charset="0"/>
                <a:ea typeface="Hanken Grotesk" pitchFamily="34" charset="-122"/>
                <a:cs typeface="Hanken Grotesk" pitchFamily="34" charset="-120"/>
              </a:rPr>
              <a:t>Questions?</a:t>
            </a:r>
            <a:endParaRPr lang="en-US" sz="2400" dirty="0"/>
          </a:p>
        </p:txBody>
      </p:sp>
      <p:pic>
        <p:nvPicPr>
          <p:cNvPr id="6" name="Image 1" descr="Code">    </p:cNvPr>
          <p:cNvPicPr>
            <a:picLocks noChangeAspect="1"/>
          </p:cNvPicPr>
          <p:nvPr/>
        </p:nvPicPr>
        <p:blipFill>
          <a:blip r:embed="rId2"/>
          <a:srcRect l="0" r="0" t="0" b="0"/>
          <a:stretch/>
        </p:blipFill>
        <p:spPr>
          <a:xfrm>
            <a:off x="685800" y="4221411"/>
            <a:ext cx="215900" cy="215900"/>
          </a:xfrm>
          <a:prstGeom prst="rect">
            <a:avLst/>
          </a:prstGeom>
        </p:spPr>
      </p:pic>
      <p:sp>
        <p:nvSpPr>
          <p:cNvPr id="7" name="Text 3"/>
          <p:cNvSpPr/>
          <p:nvPr/>
        </p:nvSpPr>
        <p:spPr>
          <a:xfrm>
            <a:off x="990600" y="4204940"/>
            <a:ext cx="4309219" cy="274290"/>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2F6268"/>
                </a:solidFill>
                <a:latin typeface="Hanken Grotesk" pitchFamily="34" charset="0"/>
                <a:ea typeface="Hanken Grotesk" pitchFamily="34" charset="-122"/>
                <a:cs typeface="Hanken Grotesk"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github.com/apurwakumari16nus/Track2_Dispatcher</a:t>
            </a:r>
            <a:endParaRPr lang="en-US" sz="1400" dirty="0"/>
          </a:p>
        </p:txBody>
      </p:sp>
      <p:sp>
        <p:nvSpPr>
          <p:cNvPr id="8" name="Text 4"/>
          <p:cNvSpPr/>
          <p:nvPr/>
        </p:nvSpPr>
        <p:spPr>
          <a:xfrm>
            <a:off x="6927850" y="431800"/>
            <a:ext cx="45783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DSS5105 Capstone · Track 2</a:t>
            </a:r>
            <a:endParaRPr lang="en-US" sz="1200" dirty="0"/>
          </a:p>
        </p:txBody>
      </p:sp>
      <p:sp>
        <p:nvSpPr>
          <p:cNvPr id="9" name="Shape 5"/>
          <p:cNvSpPr/>
          <p:nvPr/>
        </p:nvSpPr>
        <p:spPr>
          <a:xfrm>
            <a:off x="685800" y="5607050"/>
            <a:ext cx="10820400" cy="6350"/>
          </a:xfrm>
          <a:prstGeom prst="rect">
            <a:avLst/>
          </a:prstGeom>
          <a:solidFill>
            <a:srgbClr val="C9D4D2"/>
          </a:solidFill>
          <a:ln/>
        </p:spPr>
      </p:sp>
      <p:sp>
        <p:nvSpPr>
          <p:cNvPr id="10" name="Text 6"/>
          <p:cNvSpPr/>
          <p:nvPr/>
        </p:nvSpPr>
        <p:spPr>
          <a:xfrm>
            <a:off x="685800" y="584205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Presented by</a:t>
            </a:r>
            <a:endParaRPr lang="en-US" sz="1200" dirty="0"/>
          </a:p>
        </p:txBody>
      </p:sp>
      <p:sp>
        <p:nvSpPr>
          <p:cNvPr id="11" name="Text 7"/>
          <p:cNvSpPr/>
          <p:nvPr/>
        </p:nvSpPr>
        <p:spPr>
          <a:xfrm>
            <a:off x="685800" y="6093470"/>
            <a:ext cx="85026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1B1C"/>
                </a:solidFill>
                <a:latin typeface="Hanken Grotesk" pitchFamily="34" charset="0"/>
                <a:ea typeface="Hanken Grotesk" pitchFamily="34" charset="-122"/>
                <a:cs typeface="Hanken Grotesk" pitchFamily="34" charset="-120"/>
              </a:rPr>
              <a:t>Aditya Vijindra Pandhari · Apurwa Kumari · Vanshika Dhamija · Yin Ning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FEE"/>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F6268"/>
                </a:solidFill>
                <a:latin typeface="Hanken Grotesk" pitchFamily="34" charset="0"/>
                <a:ea typeface="Hanken Grotesk" pitchFamily="34" charset="-122"/>
                <a:cs typeface="Hanken Grotesk" pitchFamily="34" charset="-120"/>
              </a:rPr>
              <a:t>BACKUP · PROGRESS DETAIL</a:t>
            </a:r>
            <a:endParaRPr lang="en-US" sz="1200" dirty="0"/>
          </a:p>
        </p:txBody>
      </p:sp>
      <p:sp>
        <p:nvSpPr>
          <p:cNvPr id="3" name="Text 1"/>
          <p:cNvSpPr/>
          <p:nvPr>
            <p:ph type="title"/>
          </p:nvPr>
        </p:nvSpPr>
        <p:spPr>
          <a:xfrm>
            <a:off x="609600" y="734020"/>
            <a:ext cx="11301984" cy="36130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61B1C"/>
                </a:solidFill>
                <a:latin typeface="Hanken Grotesk" pitchFamily="34" charset="0"/>
                <a:ea typeface="Hanken Grotesk" pitchFamily="34" charset="-122"/>
                <a:cs typeface="Hanken Grotesk" pitchFamily="34" charset="-120"/>
              </a:rPr>
              <a:t>Every subtask behind the progress slide</a:t>
            </a:r>
            <a:endParaRPr lang="en-US" sz="2300" dirty="0"/>
          </a:p>
        </p:txBody>
      </p:sp>
      <p:sp>
        <p:nvSpPr>
          <p:cNvPr id="4" name="Shape 2"/>
          <p:cNvSpPr/>
          <p:nvPr/>
        </p:nvSpPr>
        <p:spPr>
          <a:xfrm>
            <a:off x="612775" y="1250900"/>
            <a:ext cx="2651125" cy="1916162"/>
          </a:xfrm>
          <a:prstGeom prst="roundRect">
            <a:avLst>
              <a:gd name="adj" fmla="val 5137"/>
            </a:avLst>
          </a:prstGeom>
          <a:solidFill>
            <a:srgbClr val="F7F8F8"/>
          </a:solidFill>
          <a:ln w="6350">
            <a:solidFill>
              <a:srgbClr val="D3DCDA"/>
            </a:solidFill>
            <a:prstDash val="solid"/>
          </a:ln>
        </p:spPr>
      </p:sp>
      <p:sp>
        <p:nvSpPr>
          <p:cNvPr id="5" name="Text 3"/>
          <p:cNvSpPr/>
          <p:nvPr/>
        </p:nvSpPr>
        <p:spPr>
          <a:xfrm>
            <a:off x="742950" y="1355675"/>
            <a:ext cx="246249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Plan · 5 of 5</a:t>
            </a:r>
            <a:endParaRPr lang="en-US" sz="1300" dirty="0"/>
          </a:p>
        </p:txBody>
      </p:sp>
      <p:sp>
        <p:nvSpPr>
          <p:cNvPr id="6" name="Text 4"/>
          <p:cNvSpPr/>
          <p:nvPr/>
        </p:nvSpPr>
        <p:spPr>
          <a:xfrm>
            <a:off x="742950" y="159186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Brief, data, simulator</a:t>
            </a:r>
            <a:endParaRPr lang="en-US" sz="1200" dirty="0"/>
          </a:p>
        </p:txBody>
      </p:sp>
      <p:sp>
        <p:nvSpPr>
          <p:cNvPr id="7" name="Text 5"/>
          <p:cNvSpPr/>
          <p:nvPr/>
        </p:nvSpPr>
        <p:spPr>
          <a:xfrm>
            <a:off x="742950" y="184328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Objectives chosen</a:t>
            </a:r>
            <a:endParaRPr lang="en-US" sz="1200" dirty="0"/>
          </a:p>
        </p:txBody>
      </p:sp>
      <p:sp>
        <p:nvSpPr>
          <p:cNvPr id="8" name="Text 6"/>
          <p:cNvSpPr/>
          <p:nvPr/>
        </p:nvSpPr>
        <p:spPr>
          <a:xfrm>
            <a:off x="742950" y="209470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Problem, value, risks</a:t>
            </a:r>
            <a:endParaRPr lang="en-US" sz="1200" dirty="0"/>
          </a:p>
        </p:txBody>
      </p:sp>
      <p:sp>
        <p:nvSpPr>
          <p:cNvPr id="9" name="Text 7"/>
          <p:cNvSpPr/>
          <p:nvPr/>
        </p:nvSpPr>
        <p:spPr>
          <a:xfrm>
            <a:off x="742950" y="2346127"/>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Architecture diagram</a:t>
            </a:r>
            <a:endParaRPr lang="en-US" sz="1200" dirty="0"/>
          </a:p>
        </p:txBody>
      </p:sp>
      <p:sp>
        <p:nvSpPr>
          <p:cNvPr id="10" name="Text 8"/>
          <p:cNvSpPr/>
          <p:nvPr/>
        </p:nvSpPr>
        <p:spPr>
          <a:xfrm>
            <a:off x="742950" y="2597547"/>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Tool specification</a:t>
            </a:r>
            <a:endParaRPr lang="en-US" sz="1200" dirty="0"/>
          </a:p>
        </p:txBody>
      </p:sp>
      <p:sp>
        <p:nvSpPr>
          <p:cNvPr id="11" name="Shape 9"/>
          <p:cNvSpPr/>
          <p:nvPr/>
        </p:nvSpPr>
        <p:spPr>
          <a:xfrm>
            <a:off x="3384550" y="1250900"/>
            <a:ext cx="2651125" cy="1916162"/>
          </a:xfrm>
          <a:prstGeom prst="roundRect">
            <a:avLst>
              <a:gd name="adj" fmla="val 5137"/>
            </a:avLst>
          </a:prstGeom>
          <a:solidFill>
            <a:srgbClr val="F7F8F8"/>
          </a:solidFill>
          <a:ln w="6350">
            <a:solidFill>
              <a:srgbClr val="D3DCDA"/>
            </a:solidFill>
            <a:prstDash val="solid"/>
          </a:ln>
        </p:spPr>
      </p:sp>
      <p:sp>
        <p:nvSpPr>
          <p:cNvPr id="12" name="Text 10"/>
          <p:cNvSpPr/>
          <p:nvPr/>
        </p:nvSpPr>
        <p:spPr>
          <a:xfrm>
            <a:off x="3514725" y="1355675"/>
            <a:ext cx="246249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Tools · 5 of 5</a:t>
            </a:r>
            <a:endParaRPr lang="en-US" sz="1300" dirty="0"/>
          </a:p>
        </p:txBody>
      </p:sp>
      <p:sp>
        <p:nvSpPr>
          <p:cNvPr id="13" name="Text 11"/>
          <p:cNvSpPr/>
          <p:nvPr/>
        </p:nvSpPr>
        <p:spPr>
          <a:xfrm>
            <a:off x="3514725" y="159186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Eligibility, queue, ETA, cost</a:t>
            </a:r>
            <a:endParaRPr lang="en-US" sz="1200" dirty="0"/>
          </a:p>
        </p:txBody>
      </p:sp>
      <p:sp>
        <p:nvSpPr>
          <p:cNvPr id="14" name="Text 12"/>
          <p:cNvSpPr/>
          <p:nvPr/>
        </p:nvSpPr>
        <p:spPr>
          <a:xfrm>
            <a:off x="3514725" y="184328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Candidate list, lookup</a:t>
            </a:r>
            <a:endParaRPr lang="en-US" sz="1200" dirty="0"/>
          </a:p>
        </p:txBody>
      </p:sp>
      <p:sp>
        <p:nvSpPr>
          <p:cNvPr id="15" name="Text 13"/>
          <p:cNvSpPr/>
          <p:nvPr/>
        </p:nvSpPr>
        <p:spPr>
          <a:xfrm>
            <a:off x="3514725" y="209470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Overload, split</a:t>
            </a:r>
            <a:endParaRPr lang="en-US" sz="1200" dirty="0"/>
          </a:p>
        </p:txBody>
      </p:sp>
      <p:sp>
        <p:nvSpPr>
          <p:cNvPr id="16" name="Text 14"/>
          <p:cNvSpPr/>
          <p:nvPr/>
        </p:nvSpPr>
        <p:spPr>
          <a:xfrm>
            <a:off x="3514725" y="2346127"/>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Closure monitor</a:t>
            </a:r>
            <a:endParaRPr lang="en-US" sz="1200" dirty="0"/>
          </a:p>
        </p:txBody>
      </p:sp>
      <p:sp>
        <p:nvSpPr>
          <p:cNvPr id="17" name="Text 15"/>
          <p:cNvSpPr/>
          <p:nvPr/>
        </p:nvSpPr>
        <p:spPr>
          <a:xfrm>
            <a:off x="3514725" y="2597547"/>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Unit tests</a:t>
            </a:r>
            <a:endParaRPr lang="en-US" sz="1200" dirty="0"/>
          </a:p>
        </p:txBody>
      </p:sp>
      <p:sp>
        <p:nvSpPr>
          <p:cNvPr id="18" name="Shape 16"/>
          <p:cNvSpPr/>
          <p:nvPr/>
        </p:nvSpPr>
        <p:spPr>
          <a:xfrm>
            <a:off x="6156325" y="1250900"/>
            <a:ext cx="2651125" cy="1916162"/>
          </a:xfrm>
          <a:prstGeom prst="roundRect">
            <a:avLst>
              <a:gd name="adj" fmla="val 5137"/>
            </a:avLst>
          </a:prstGeom>
          <a:solidFill>
            <a:srgbClr val="F7F8F8"/>
          </a:solidFill>
          <a:ln w="6350">
            <a:solidFill>
              <a:srgbClr val="D3DCDA"/>
            </a:solidFill>
            <a:prstDash val="solid"/>
          </a:ln>
        </p:spPr>
      </p:sp>
      <p:sp>
        <p:nvSpPr>
          <p:cNvPr id="19" name="Text 17"/>
          <p:cNvSpPr/>
          <p:nvPr/>
        </p:nvSpPr>
        <p:spPr>
          <a:xfrm>
            <a:off x="6286500" y="1355675"/>
            <a:ext cx="246249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Allocator · 3 of 4</a:t>
            </a:r>
            <a:endParaRPr lang="en-US" sz="1300" dirty="0"/>
          </a:p>
        </p:txBody>
      </p:sp>
      <p:sp>
        <p:nvSpPr>
          <p:cNvPr id="20" name="Text 18"/>
          <p:cNvSpPr/>
          <p:nvPr/>
        </p:nvSpPr>
        <p:spPr>
          <a:xfrm>
            <a:off x="6286500" y="159186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Scoring + fallback</a:t>
            </a:r>
            <a:endParaRPr lang="en-US" sz="1200" dirty="0"/>
          </a:p>
        </p:txBody>
      </p:sp>
      <p:sp>
        <p:nvSpPr>
          <p:cNvPr id="21" name="Text 19"/>
          <p:cNvSpPr/>
          <p:nvPr/>
        </p:nvSpPr>
        <p:spPr>
          <a:xfrm>
            <a:off x="6286500" y="184328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Objective as YAML</a:t>
            </a:r>
            <a:endParaRPr lang="en-US" sz="1200" dirty="0"/>
          </a:p>
        </p:txBody>
      </p:sp>
      <p:sp>
        <p:nvSpPr>
          <p:cNvPr id="22" name="Text 20"/>
          <p:cNvSpPr/>
          <p:nvPr/>
        </p:nvSpPr>
        <p:spPr>
          <a:xfrm>
            <a:off x="6286500" y="209470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Earliest-finish rule</a:t>
            </a:r>
            <a:endParaRPr lang="en-US" sz="1200" dirty="0"/>
          </a:p>
        </p:txBody>
      </p:sp>
      <p:sp>
        <p:nvSpPr>
          <p:cNvPr id="23" name="Text 21"/>
          <p:cNvSpPr/>
          <p:nvPr/>
        </p:nvSpPr>
        <p:spPr>
          <a:xfrm>
            <a:off x="6286500" y="2346127"/>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Date-safe fairness</a:t>
            </a:r>
            <a:endParaRPr lang="en-US" sz="1200" dirty="0"/>
          </a:p>
        </p:txBody>
      </p:sp>
      <p:sp>
        <p:nvSpPr>
          <p:cNvPr id="24" name="Shape 22"/>
          <p:cNvSpPr/>
          <p:nvPr/>
        </p:nvSpPr>
        <p:spPr>
          <a:xfrm>
            <a:off x="8928100" y="1250900"/>
            <a:ext cx="2651125" cy="1916162"/>
          </a:xfrm>
          <a:prstGeom prst="roundRect">
            <a:avLst>
              <a:gd name="adj" fmla="val 5137"/>
            </a:avLst>
          </a:prstGeom>
          <a:solidFill>
            <a:srgbClr val="F7F8F8"/>
          </a:solidFill>
          <a:ln w="6350">
            <a:solidFill>
              <a:srgbClr val="D3DCDA"/>
            </a:solidFill>
            <a:prstDash val="solid"/>
          </a:ln>
        </p:spPr>
      </p:sp>
      <p:sp>
        <p:nvSpPr>
          <p:cNvPr id="25" name="Text 23"/>
          <p:cNvSpPr/>
          <p:nvPr/>
        </p:nvSpPr>
        <p:spPr>
          <a:xfrm>
            <a:off x="9058275" y="1355675"/>
            <a:ext cx="246249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Chat · 4 of 6</a:t>
            </a:r>
            <a:endParaRPr lang="en-US" sz="1300" dirty="0"/>
          </a:p>
        </p:txBody>
      </p:sp>
      <p:sp>
        <p:nvSpPr>
          <p:cNvPr id="26" name="Text 24"/>
          <p:cNvSpPr/>
          <p:nvPr/>
        </p:nvSpPr>
        <p:spPr>
          <a:xfrm>
            <a:off x="9058275" y="159186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LLM intake (JSON)</a:t>
            </a:r>
            <a:endParaRPr lang="en-US" sz="1200" dirty="0"/>
          </a:p>
        </p:txBody>
      </p:sp>
      <p:sp>
        <p:nvSpPr>
          <p:cNvPr id="27" name="Text 25"/>
          <p:cNvSpPr/>
          <p:nvPr/>
        </p:nvSpPr>
        <p:spPr>
          <a:xfrm>
            <a:off x="9058275" y="184328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Validate, set type</a:t>
            </a:r>
            <a:endParaRPr lang="en-US" sz="1200" dirty="0"/>
          </a:p>
        </p:txBody>
      </p:sp>
      <p:sp>
        <p:nvSpPr>
          <p:cNvPr id="28" name="Text 26"/>
          <p:cNvSpPr/>
          <p:nvPr/>
        </p:nvSpPr>
        <p:spPr>
          <a:xfrm>
            <a:off x="9058275" y="2094706"/>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4 request types</a:t>
            </a:r>
            <a:endParaRPr lang="en-US" sz="1200" dirty="0"/>
          </a:p>
        </p:txBody>
      </p:sp>
      <p:sp>
        <p:nvSpPr>
          <p:cNvPr id="29" name="Text 27"/>
          <p:cNvSpPr/>
          <p:nvPr/>
        </p:nvSpPr>
        <p:spPr>
          <a:xfrm>
            <a:off x="9058275" y="2346127"/>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Templates, number check</a:t>
            </a:r>
            <a:endParaRPr lang="en-US" sz="1200" dirty="0"/>
          </a:p>
        </p:txBody>
      </p:sp>
      <p:sp>
        <p:nvSpPr>
          <p:cNvPr id="30" name="Text 28"/>
          <p:cNvSpPr/>
          <p:nvPr/>
        </p:nvSpPr>
        <p:spPr>
          <a:xfrm>
            <a:off x="9058275" y="2597547"/>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Remember follow-ups</a:t>
            </a:r>
            <a:endParaRPr lang="en-US" sz="1200" dirty="0"/>
          </a:p>
        </p:txBody>
      </p:sp>
      <p:sp>
        <p:nvSpPr>
          <p:cNvPr id="31" name="Text 29"/>
          <p:cNvSpPr/>
          <p:nvPr/>
        </p:nvSpPr>
        <p:spPr>
          <a:xfrm>
            <a:off x="9058275" y="2848967"/>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New orders (future)</a:t>
            </a:r>
            <a:endParaRPr lang="en-US" sz="1200" dirty="0"/>
          </a:p>
        </p:txBody>
      </p:sp>
      <p:sp>
        <p:nvSpPr>
          <p:cNvPr id="32" name="Shape 30"/>
          <p:cNvSpPr/>
          <p:nvPr/>
        </p:nvSpPr>
        <p:spPr>
          <a:xfrm>
            <a:off x="612775" y="3287713"/>
            <a:ext cx="2651125" cy="2167582"/>
          </a:xfrm>
          <a:prstGeom prst="roundRect">
            <a:avLst>
              <a:gd name="adj" fmla="val 4541"/>
            </a:avLst>
          </a:prstGeom>
          <a:solidFill>
            <a:srgbClr val="F7F8F8"/>
          </a:solidFill>
          <a:ln w="6350">
            <a:solidFill>
              <a:srgbClr val="D3DCDA"/>
            </a:solidFill>
            <a:prstDash val="solid"/>
          </a:ln>
        </p:spPr>
      </p:sp>
      <p:sp>
        <p:nvSpPr>
          <p:cNvPr id="33" name="Text 31"/>
          <p:cNvSpPr/>
          <p:nvPr/>
        </p:nvSpPr>
        <p:spPr>
          <a:xfrm>
            <a:off x="742950" y="3392488"/>
            <a:ext cx="246249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App · 0 of 6</a:t>
            </a:r>
            <a:endParaRPr lang="en-US" sz="1300" dirty="0"/>
          </a:p>
        </p:txBody>
      </p:sp>
      <p:sp>
        <p:nvSpPr>
          <p:cNvPr id="34" name="Text 32"/>
          <p:cNvSpPr/>
          <p:nvPr/>
        </p:nvSpPr>
        <p:spPr>
          <a:xfrm>
            <a:off x="742950" y="362867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Dispatch page</a:t>
            </a:r>
            <a:endParaRPr lang="en-US" sz="1200" dirty="0"/>
          </a:p>
        </p:txBody>
      </p:sp>
      <p:sp>
        <p:nvSpPr>
          <p:cNvPr id="35" name="Text 33"/>
          <p:cNvSpPr/>
          <p:nvPr/>
        </p:nvSpPr>
        <p:spPr>
          <a:xfrm>
            <a:off x="742950" y="388009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Confirm + decision log</a:t>
            </a:r>
            <a:endParaRPr lang="en-US" sz="1200" dirty="0"/>
          </a:p>
        </p:txBody>
      </p:sp>
      <p:sp>
        <p:nvSpPr>
          <p:cNvPr id="36" name="Text 34"/>
          <p:cNvSpPr/>
          <p:nvPr/>
        </p:nvSpPr>
        <p:spPr>
          <a:xfrm>
            <a:off x="742950" y="413151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Simulation dashboard</a:t>
            </a:r>
            <a:endParaRPr lang="en-US" sz="1200" dirty="0"/>
          </a:p>
        </p:txBody>
      </p:sp>
      <p:sp>
        <p:nvSpPr>
          <p:cNvPr id="37" name="Text 35"/>
          <p:cNvSpPr/>
          <p:nvPr/>
        </p:nvSpPr>
        <p:spPr>
          <a:xfrm>
            <a:off x="742950" y="438293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UI polish</a:t>
            </a:r>
            <a:endParaRPr lang="en-US" sz="1200" dirty="0"/>
          </a:p>
        </p:txBody>
      </p:sp>
      <p:sp>
        <p:nvSpPr>
          <p:cNvPr id="38" name="Text 36"/>
          <p:cNvSpPr/>
          <p:nvPr/>
        </p:nvSpPr>
        <p:spPr>
          <a:xfrm>
            <a:off x="742950" y="463435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Override with reason</a:t>
            </a:r>
            <a:endParaRPr lang="en-US" sz="1200" dirty="0"/>
          </a:p>
        </p:txBody>
      </p:sp>
      <p:sp>
        <p:nvSpPr>
          <p:cNvPr id="39" name="Text 37"/>
          <p:cNvSpPr/>
          <p:nvPr/>
        </p:nvSpPr>
        <p:spPr>
          <a:xfrm>
            <a:off x="742950" y="488577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Usability test</a:t>
            </a:r>
            <a:endParaRPr lang="en-US" sz="1200" dirty="0"/>
          </a:p>
        </p:txBody>
      </p:sp>
      <p:sp>
        <p:nvSpPr>
          <p:cNvPr id="40" name="Shape 38"/>
          <p:cNvSpPr/>
          <p:nvPr/>
        </p:nvSpPr>
        <p:spPr>
          <a:xfrm>
            <a:off x="3384550" y="3287713"/>
            <a:ext cx="2651125" cy="2167582"/>
          </a:xfrm>
          <a:prstGeom prst="roundRect">
            <a:avLst>
              <a:gd name="adj" fmla="val 4541"/>
            </a:avLst>
          </a:prstGeom>
          <a:solidFill>
            <a:srgbClr val="F7F8F8"/>
          </a:solidFill>
          <a:ln w="6350">
            <a:solidFill>
              <a:srgbClr val="D3DCDA"/>
            </a:solidFill>
            <a:prstDash val="solid"/>
          </a:ln>
        </p:spPr>
      </p:sp>
      <p:sp>
        <p:nvSpPr>
          <p:cNvPr id="41" name="Text 39"/>
          <p:cNvSpPr/>
          <p:nvPr/>
        </p:nvSpPr>
        <p:spPr>
          <a:xfrm>
            <a:off x="3514725" y="3392488"/>
            <a:ext cx="246249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Test A · 0 of 5</a:t>
            </a:r>
            <a:endParaRPr lang="en-US" sz="1300" dirty="0"/>
          </a:p>
        </p:txBody>
      </p:sp>
      <p:sp>
        <p:nvSpPr>
          <p:cNvPr id="42" name="Text 40"/>
          <p:cNvSpPr/>
          <p:nvPr/>
        </p:nvSpPr>
        <p:spPr>
          <a:xfrm>
            <a:off x="3514725" y="362867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Run vs baselines</a:t>
            </a:r>
            <a:endParaRPr lang="en-US" sz="1200" dirty="0"/>
          </a:p>
        </p:txBody>
      </p:sp>
      <p:sp>
        <p:nvSpPr>
          <p:cNvPr id="43" name="Text 41"/>
          <p:cNvSpPr/>
          <p:nvPr/>
        </p:nvSpPr>
        <p:spPr>
          <a:xfrm>
            <a:off x="3514725" y="388009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Closure test, 10 seeds</a:t>
            </a:r>
            <a:endParaRPr lang="en-US" sz="1200" dirty="0"/>
          </a:p>
        </p:txBody>
      </p:sp>
      <p:sp>
        <p:nvSpPr>
          <p:cNvPr id="44" name="Text 42"/>
          <p:cNvSpPr/>
          <p:nvPr/>
        </p:nvSpPr>
        <p:spPr>
          <a:xfrm>
            <a:off x="3514725" y="413151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Other objective, hybrid</a:t>
            </a:r>
            <a:endParaRPr lang="en-US" sz="1200" dirty="0"/>
          </a:p>
        </p:txBody>
      </p:sp>
      <p:sp>
        <p:nvSpPr>
          <p:cNvPr id="45" name="Text 43"/>
          <p:cNvSpPr/>
          <p:nvPr/>
        </p:nvSpPr>
        <p:spPr>
          <a:xfrm>
            <a:off x="3514725" y="438293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Where baselines win</a:t>
            </a:r>
            <a:endParaRPr lang="en-US" sz="1200" dirty="0"/>
          </a:p>
        </p:txBody>
      </p:sp>
      <p:sp>
        <p:nvSpPr>
          <p:cNvPr id="46" name="Text 44"/>
          <p:cNvSpPr/>
          <p:nvPr/>
        </p:nvSpPr>
        <p:spPr>
          <a:xfrm>
            <a:off x="3514725" y="463435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Per-seed analysis</a:t>
            </a:r>
            <a:endParaRPr lang="en-US" sz="1200" dirty="0"/>
          </a:p>
        </p:txBody>
      </p:sp>
      <p:sp>
        <p:nvSpPr>
          <p:cNvPr id="47" name="Shape 45"/>
          <p:cNvSpPr/>
          <p:nvPr/>
        </p:nvSpPr>
        <p:spPr>
          <a:xfrm>
            <a:off x="6156325" y="3287713"/>
            <a:ext cx="2651125" cy="2167582"/>
          </a:xfrm>
          <a:prstGeom prst="roundRect">
            <a:avLst>
              <a:gd name="adj" fmla="val 4541"/>
            </a:avLst>
          </a:prstGeom>
          <a:solidFill>
            <a:srgbClr val="F7F8F8"/>
          </a:solidFill>
          <a:ln w="6350">
            <a:solidFill>
              <a:srgbClr val="D3DCDA"/>
            </a:solidFill>
            <a:prstDash val="solid"/>
          </a:ln>
        </p:spPr>
      </p:sp>
      <p:sp>
        <p:nvSpPr>
          <p:cNvPr id="48" name="Text 46"/>
          <p:cNvSpPr/>
          <p:nvPr/>
        </p:nvSpPr>
        <p:spPr>
          <a:xfrm>
            <a:off x="6286500" y="3392488"/>
            <a:ext cx="246249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Test B · 0 of 7</a:t>
            </a:r>
            <a:endParaRPr lang="en-US" sz="1300" dirty="0"/>
          </a:p>
        </p:txBody>
      </p:sp>
      <p:sp>
        <p:nvSpPr>
          <p:cNvPr id="49" name="Text 47"/>
          <p:cNvSpPr/>
          <p:nvPr/>
        </p:nvSpPr>
        <p:spPr>
          <a:xfrm>
            <a:off x="6286500" y="362867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Label the 30</a:t>
            </a:r>
            <a:endParaRPr lang="en-US" sz="1200" dirty="0"/>
          </a:p>
        </p:txBody>
      </p:sp>
      <p:sp>
        <p:nvSpPr>
          <p:cNvPr id="50" name="Text 48"/>
          <p:cNvSpPr/>
          <p:nvPr/>
        </p:nvSpPr>
        <p:spPr>
          <a:xfrm>
            <a:off x="6286500" y="388009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Live LLM run</a:t>
            </a:r>
            <a:endParaRPr lang="en-US" sz="1200" dirty="0"/>
          </a:p>
        </p:txBody>
      </p:sp>
      <p:sp>
        <p:nvSpPr>
          <p:cNvPr id="51" name="Text 49"/>
          <p:cNvSpPr/>
          <p:nvPr/>
        </p:nvSpPr>
        <p:spPr>
          <a:xfrm>
            <a:off x="6286500" y="413151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Score decision, text</a:t>
            </a:r>
            <a:endParaRPr lang="en-US" sz="1200" dirty="0"/>
          </a:p>
        </p:txBody>
      </p:sp>
      <p:sp>
        <p:nvSpPr>
          <p:cNvPr id="52" name="Text 50"/>
          <p:cNvSpPr/>
          <p:nvPr/>
        </p:nvSpPr>
        <p:spPr>
          <a:xfrm>
            <a:off x="6286500" y="438293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10+ held-out requests</a:t>
            </a:r>
            <a:endParaRPr lang="en-US" sz="1200" dirty="0"/>
          </a:p>
        </p:txBody>
      </p:sp>
      <p:sp>
        <p:nvSpPr>
          <p:cNvPr id="53" name="Text 51"/>
          <p:cNvSpPr/>
          <p:nvPr/>
        </p:nvSpPr>
        <p:spPr>
          <a:xfrm>
            <a:off x="6286500" y="463435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10+ failure cases</a:t>
            </a:r>
            <a:endParaRPr lang="en-US" sz="1200" dirty="0"/>
          </a:p>
        </p:txBody>
      </p:sp>
      <p:sp>
        <p:nvSpPr>
          <p:cNvPr id="54" name="Text 52"/>
          <p:cNvSpPr/>
          <p:nvPr/>
        </p:nvSpPr>
        <p:spPr>
          <a:xfrm>
            <a:off x="6286500" y="488577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Fix and re-run</a:t>
            </a:r>
            <a:endParaRPr lang="en-US" sz="1200" dirty="0"/>
          </a:p>
        </p:txBody>
      </p:sp>
      <p:sp>
        <p:nvSpPr>
          <p:cNvPr id="55" name="Text 53"/>
          <p:cNvSpPr/>
          <p:nvPr/>
        </p:nvSpPr>
        <p:spPr>
          <a:xfrm>
            <a:off x="6286500" y="5137200"/>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Response time</a:t>
            </a:r>
            <a:endParaRPr lang="en-US" sz="1200" dirty="0"/>
          </a:p>
        </p:txBody>
      </p:sp>
      <p:sp>
        <p:nvSpPr>
          <p:cNvPr id="56" name="Shape 54"/>
          <p:cNvSpPr/>
          <p:nvPr/>
        </p:nvSpPr>
        <p:spPr>
          <a:xfrm>
            <a:off x="8928100" y="3287713"/>
            <a:ext cx="2651125" cy="2167582"/>
          </a:xfrm>
          <a:prstGeom prst="roundRect">
            <a:avLst>
              <a:gd name="adj" fmla="val 4541"/>
            </a:avLst>
          </a:prstGeom>
          <a:solidFill>
            <a:srgbClr val="F7F8F8"/>
          </a:solidFill>
          <a:ln w="6350">
            <a:solidFill>
              <a:srgbClr val="D3DCDA"/>
            </a:solidFill>
            <a:prstDash val="solid"/>
          </a:ln>
        </p:spPr>
      </p:sp>
      <p:sp>
        <p:nvSpPr>
          <p:cNvPr id="57" name="Text 55"/>
          <p:cNvSpPr/>
          <p:nvPr/>
        </p:nvSpPr>
        <p:spPr>
          <a:xfrm>
            <a:off x="9058275" y="3392488"/>
            <a:ext cx="246249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61B1C"/>
                </a:solidFill>
                <a:latin typeface="Hanken Grotesk" pitchFamily="34" charset="0"/>
                <a:ea typeface="Hanken Grotesk" pitchFamily="34" charset="-122"/>
                <a:cs typeface="Hanken Grotesk" pitchFamily="34" charset="-120"/>
              </a:rPr>
              <a:t>Deploy · 1 of 4</a:t>
            </a:r>
            <a:endParaRPr lang="en-US" sz="1300" dirty="0"/>
          </a:p>
        </p:txBody>
      </p:sp>
      <p:sp>
        <p:nvSpPr>
          <p:cNvPr id="58" name="Text 56"/>
          <p:cNvSpPr/>
          <p:nvPr/>
        </p:nvSpPr>
        <p:spPr>
          <a:xfrm>
            <a:off x="9058275" y="362867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268"/>
                </a:solidFill>
                <a:latin typeface="Hanken Grotesk" pitchFamily="34" charset="0"/>
                <a:ea typeface="Hanken Grotesk" pitchFamily="34" charset="-122"/>
                <a:cs typeface="Hanken Grotesk" pitchFamily="34" charset="-120"/>
              </a:rPr>
              <a:t>✓</a:t>
            </a:r>
            <a:r>
              <a:rPr lang="en-US" sz="1200" dirty="0">
                <a:solidFill>
                  <a:srgbClr val="161B1C"/>
                </a:solidFill>
                <a:latin typeface="Hanken Grotesk" pitchFamily="34" charset="0"/>
                <a:ea typeface="Hanken Grotesk" pitchFamily="34" charset="-122"/>
                <a:cs typeface="Hanken Grotesk" pitchFamily="34" charset="-120"/>
              </a:rPr>
              <a:t> Clean code, README</a:t>
            </a:r>
            <a:endParaRPr lang="en-US" sz="1200" dirty="0"/>
          </a:p>
        </p:txBody>
      </p:sp>
      <p:sp>
        <p:nvSpPr>
          <p:cNvPr id="59" name="Text 57"/>
          <p:cNvSpPr/>
          <p:nvPr/>
        </p:nvSpPr>
        <p:spPr>
          <a:xfrm>
            <a:off x="9058275" y="388009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Streamlit Cloud</a:t>
            </a:r>
            <a:endParaRPr lang="en-US" sz="1200" dirty="0"/>
          </a:p>
        </p:txBody>
      </p:sp>
      <p:sp>
        <p:nvSpPr>
          <p:cNvPr id="60" name="Text 58"/>
          <p:cNvSpPr/>
          <p:nvPr/>
        </p:nvSpPr>
        <p:spPr>
          <a:xfrm>
            <a:off x="9058275" y="4131518"/>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Public GitHub</a:t>
            </a:r>
            <a:endParaRPr lang="en-US" sz="1200" dirty="0"/>
          </a:p>
        </p:txBody>
      </p:sp>
      <p:sp>
        <p:nvSpPr>
          <p:cNvPr id="61" name="Text 59"/>
          <p:cNvSpPr/>
          <p:nvPr/>
        </p:nvSpPr>
        <p:spPr>
          <a:xfrm>
            <a:off x="9058275" y="4382939"/>
            <a:ext cx="24624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 Clean-checkout test</a:t>
            </a:r>
            <a:endParaRPr lang="en-US" sz="1200" dirty="0"/>
          </a:p>
        </p:txBody>
      </p:sp>
      <p:sp>
        <p:nvSpPr>
          <p:cNvPr id="62" name="Shape 60"/>
          <p:cNvSpPr/>
          <p:nvPr/>
        </p:nvSpPr>
        <p:spPr>
          <a:xfrm>
            <a:off x="609600" y="6140450"/>
            <a:ext cx="10972800" cy="6350"/>
          </a:xfrm>
          <a:prstGeom prst="rect">
            <a:avLst/>
          </a:prstGeom>
          <a:solidFill>
            <a:srgbClr val="C9D4D2"/>
          </a:solidFill>
          <a:ln/>
        </p:spPr>
      </p:sp>
      <p:sp>
        <p:nvSpPr>
          <p:cNvPr id="63" name="Text 61"/>
          <p:cNvSpPr/>
          <p:nvPr/>
        </p:nvSpPr>
        <p:spPr>
          <a:xfrm>
            <a:off x="609600" y="62890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Track 2 · Sprint 1 · backup for Q&amp;A</a:t>
            </a:r>
            <a:endParaRPr lang="en-US" sz="1200" dirty="0"/>
          </a:p>
        </p:txBody>
      </p:sp>
      <p:sp>
        <p:nvSpPr>
          <p:cNvPr id="64" name="Text 62"/>
          <p:cNvSpPr/>
          <p:nvPr/>
        </p:nvSpPr>
        <p:spPr>
          <a:xfrm>
            <a:off x="9620250" y="62890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A6B"/>
                </a:solidFill>
                <a:latin typeface="Hanken Grotesk" pitchFamily="34" charset="0"/>
                <a:ea typeface="Hanken Grotesk" pitchFamily="34" charset="-122"/>
                <a:cs typeface="Hanken Grotesk" pitchFamily="34" charset="-120"/>
              </a:rPr>
              <a:t>Page </a:t>
            </a:r>
            <a:r>
              <a:rPr lang="en-US" sz="1200" b="1" dirty="0">
                <a:solidFill>
                  <a:srgbClr val="161B1C"/>
                </a:solidFill>
                <a:latin typeface="Hanken Grotesk" pitchFamily="34" charset="0"/>
                <a:ea typeface="Hanken Grotesk" pitchFamily="34" charset="-122"/>
                <a:cs typeface="Hanken Grotesk" pitchFamily="34" charset="-120"/>
              </a:rPr>
              <a:t>12</a:t>
            </a:r>
            <a:endParaRPr lang="en-US" sz="1200" dirty="0"/>
          </a:p>
        </p:txBody>
      </p:sp>
    </p:spTree>
  </p:cSld>
  <p:clrMapOvr>
    <a:masterClrMapping/>
  </p:clrMapOvr>
</p:sld>
</file>

<file path=ppt/theme/theme1.xml><?xml version="1.0" encoding="utf-8"?>
<a:theme xmlns:a="http://schemas.openxmlformats.org/drawingml/2006/main" name="Quick-Response Subcontracting Desk · Sprint 1">
  <a:themeElements>
    <a:clrScheme name="Quick-Response Subcontracting Desk · Sprint 1">
      <a:dk1>
        <a:srgbClr val="161B1C"/>
      </a:dk1>
      <a:lt1>
        <a:srgbClr val="ECEFEE"/>
      </a:lt1>
      <a:dk2>
        <a:srgbClr val="4C5051"/>
      </a:dk2>
      <a:lt2>
        <a:srgbClr val="D7DAD9"/>
      </a:lt2>
      <a:accent1>
        <a:srgbClr val="2F6268"/>
      </a:accent1>
      <a:accent2>
        <a:srgbClr val="49868D"/>
      </a:accent2>
      <a:accent3>
        <a:srgbClr val="8A5A14"/>
      </a:accent3>
      <a:accent4>
        <a:srgbClr val="9A3A35"/>
      </a:accent4>
      <a:accent5>
        <a:srgbClr val="8F6118"/>
      </a:accent5>
      <a:accent6>
        <a:srgbClr val="B07A2A"/>
      </a:accent6>
      <a:hlink>
        <a:srgbClr val="0563C1"/>
      </a:hlink>
      <a:folHlink>
        <a:srgbClr val="954F72"/>
      </a:folHlink>
    </a:clrScheme>
    <a:fontScheme name="Quick-Response Subcontracting Desk · Sprint 1">
      <a:majorFont>
        <a:latin typeface="Hanken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anken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Quick-Response Subcontracting Desk · Sprint 1</dc:title>
  <dc:subject/>
  <dc:creator/>
  <cp:lastModifiedBy/>
  <cp:revision>1</cp:revision>
  <dcterms:created xsi:type="dcterms:W3CDTF">2026-10-11T10:22:23Z</dcterms:created>
  <dcterms:modified xsi:type="dcterms:W3CDTF">2026-10-11T10:22:23Z</dcterms:modified>
</cp:coreProperties>
</file>